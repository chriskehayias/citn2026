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850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45 minutes: 38 of content and a live demo, 7 for questions. The promise: you leave able to tell a real agent from a chatbot with a new label, know where one pays off, and know the guardrails to ask for.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claims. Ask the room which ones are agents. Do not answer yet; we come back to these at the close. Keep the claims anonymous, no vendor names.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run of show. Call out that guardrails is the biggest block on purpose.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Everyone is selling the shiny box; we are going to look at what is actually inside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reasons. Tools act. Context is memory: bad data in context produces confident wrong actions, and long tasks drift as context fills. Stopping is the most overlooked part; it is the one to grill vendors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with the worship team example. The model queries people, reads results, realizes it needs schedules, queries again, then decides it has enough and stops. The loop is what separates an agent from a single answer.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what is marketed as an agent is one of the first two. That is fine; they are useful. Just call them what they 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is the line to land. Repeat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loop, different trigger and no finish line. An agent runs when you ask and stops when it decides the task is done. An autonomous agent is started by a clock or an event, keeps memory across runs, and acts while you are offline. Church example: “find lapsed group members” when you ask is an agent; “every Monday at 6 a.m., sweep lapsed members and queue notes for approval” is autonomous. OpenAI Dots and Meta Muse, both launched in September 2026, are autonomous agents sold as products. Autonomy raises the guardrail bar: a daily budget, an approval queue, and a kill switch someone actually owns.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card, ask for hands up if they think it is an agent. Then advance to reveal.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tie each back to the rule: who drew the arrows?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fit test out loud. Then tell one story from the MinistryPlatform MCP work, dedup review or donor reporting: what it did, what a human still checked. Only cite hours saved if the number is real.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campus. The orange zones are multi-step, data-heavy, reviewable work. The gray zones are where trust, money or pastoral relationship is the point, so a human stays in the seat.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Context Protocol: a standard way for a server to expose tools to any compatible AI client. The ChMS pattern: discover the schema, look up columns, then query or write. The key point for church IT: permissions and identity are enforced at the server.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in. Frameworks are how your team or a vendor builds an agent: eve, Claude Agent SDK, OpenAI Agents SDK, Microsoft Agent Framework, Google ADK, LangGraph, Mastra, CrewAI. Products like OpenAI Dots and Meta Muse are autonomous agents you subscribe to; you do not build them, so the Real Agent checklist is your only lever. For church IT, look first for durable runs, built-in approvals and MCP support. Sources: vercel.com/blog/introducing-eve (June 2026); VentureBeat on OpenAI Dots (Sept 2026); TechCrunch on Meta Muse (Sept 29, 2026); firecrawl.dev open-source agent frameworks roundup (June 2026). Landscape moves monthly; re-check the week of the talk.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1: ask the question grouped by group leader. 2: point at the tool calls, that is the loop. 3: if a column name misses, let it recover. 4: draft notes, drafting is a free tier. 5: create follow-up tasks, the write pauses for approval; approve one, decline one. 6: open the MP audit log for the created record, then show step count and token usage, which is where a spend cap lives. Fallback: recorded capture in a second tab; switch at the first sign of Wi-Fi trouble.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guardrails, the biggest block of the session. The road is fine; the guardrails are why you can drive it at night.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on each. Frame every one as: what would you have to explain to your exec pastor if it went wrong?</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Anything that emails members or touches giving needs a named approver, or is simply off. PII: check vendor data retention and training terms; children’s check-in data gets the strictest handling. Spend: the failure story is the runaway loop at 2 a.m. Audit: writes through the ChMS API should land in its own audit log under a real user; keep the transcript.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guardrail in practice is a lifecycle, not a switch. Start read-only with one team, scope before you connect, supervise the writes, audit on a schedule, and expand one step at a time.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question ties the four guardrails together.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 on any of the first three: it is not an agent. A no on any of the last five: it is not ready for your data. Put the QR code for the one-page PDF here once it exists.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to start with autonomy: agents that watch and flag, with no write access to the records they check. The first two are the ones I would build first: duplicate detection only detects, it never merges; contact review checks completeness, email and mobile formats on every new or changed record. Event-triggered ones run when a record changes; scheduled ones sweep daily or weekly. Each output is a task or report for a named staff member, which keeps the approvals, spend and audit story simple. Graduate to drafting, then to writes with approval, only after weeks of clean flags.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cold-open claims and answer them with the room. Seed questions if quiet: Will this replace staff? Is our member data used to train the model?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3"/>
        </a:solidFill>
        <a:effectLst/>
      </p:bgPr>
    </p:bg>
    <p:spTree>
      <p:nvGrpSpPr>
        <p:cNvPr id="1" name=""/>
        <p:cNvGrpSpPr/>
        <p:nvPr/>
      </p:nvGrpSpPr>
      <p:grpSpPr>
        <a:xfrm>
          <a:off x="0" y="0"/>
          <a:ext cx="0" cy="0"/>
          <a:chOff x="0" y="0"/>
          <a:chExt cx="0" cy="0"/>
        </a:xfrm>
      </p:grpSpPr>
      <p:pic>
        <p:nvPicPr>
          <p:cNvPr id="2" name="Image 0" descr="img/hero.jpg"/>
          <p:cNvPicPr>
            <a:picLocks noChangeAspect="1"/>
          </p:cNvPicPr>
          <p:nvPr/>
        </p:nvPicPr>
        <p:blipFill>
          <a:blip r:embed="rId3"/>
          <a:stretch>
            <a:fillRect/>
          </a:stretch>
        </p:blipFill>
        <p:spPr>
          <a:xfrm>
            <a:off x="7619695" y="0"/>
            <a:ext cx="4572000" cy="6858000"/>
          </a:xfrm>
          <a:prstGeom prst="rect">
            <a:avLst/>
          </a:prstGeom>
        </p:spPr>
      </p:pic>
      <p:pic>
        <p:nvPicPr>
          <p:cNvPr id="3" name="Image 1" descr="preencoded.png"/>
          <p:cNvPicPr>
            <a:picLocks noChangeAspect="1"/>
          </p:cNvPicPr>
          <p:nvPr/>
        </p:nvPicPr>
        <p:blipFill>
          <a:blip r:embed="rId4"/>
          <a:stretch>
            <a:fillRect/>
          </a:stretch>
        </p:blipFill>
        <p:spPr>
          <a:xfrm>
            <a:off x="457200" y="457200"/>
            <a:ext cx="1188720" cy="1223682"/>
          </a:xfrm>
          <a:prstGeom prst="rect">
            <a:avLst/>
          </a:prstGeom>
        </p:spPr>
      </p:pic>
      <p:sp>
        <p:nvSpPr>
          <p:cNvPr id="4" name="Shape 0"/>
          <p:cNvSpPr/>
          <p:nvPr/>
        </p:nvSpPr>
        <p:spPr>
          <a:xfrm>
            <a:off x="457200" y="2011680"/>
            <a:ext cx="175564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5" name="Text 1"/>
          <p:cNvSpPr txBox="1"/>
          <p:nvPr/>
        </p:nvSpPr>
        <p:spPr>
          <a:xfrm>
            <a:off x="457200" y="2011680"/>
            <a:ext cx="175564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CITN26 · AGENTS</a:t>
            </a:r>
            <a:endParaRPr lang="en-US" sz="1100" dirty="0"/>
          </a:p>
        </p:txBody>
      </p:sp>
      <p:sp>
        <p:nvSpPr>
          <p:cNvPr id="6" name="Text 2"/>
          <p:cNvSpPr txBox="1"/>
          <p:nvPr/>
        </p:nvSpPr>
        <p:spPr>
          <a:xfrm>
            <a:off x="457200" y="2423160"/>
            <a:ext cx="6858000" cy="822960"/>
          </a:xfrm>
          <a:prstGeom prst="rect">
            <a:avLst/>
          </a:prstGeom>
          <a:noFill/>
          <a:ln/>
        </p:spPr>
        <p:txBody>
          <a:bodyPr wrap="square" lIns="0" tIns="0" rIns="0" bIns="0" rtlCol="0" anchor="b"/>
          <a:lstStyle/>
          <a:p>
            <a:pPr marL="0" indent="0">
              <a:buNone/>
            </a:pPr>
            <a:r>
              <a:rPr lang="en-US" sz="4400" b="1" dirty="0">
                <a:solidFill>
                  <a:srgbClr val="2D2926"/>
                </a:solidFill>
                <a:latin typeface="Arial" pitchFamily="34" charset="0"/>
                <a:ea typeface="Arial" pitchFamily="34" charset="-122"/>
                <a:cs typeface="Arial" pitchFamily="34" charset="-120"/>
              </a:rPr>
              <a:t>All About Agents</a:t>
            </a:r>
            <a:endParaRPr lang="en-US" sz="4400" dirty="0"/>
          </a:p>
        </p:txBody>
      </p:sp>
      <p:sp>
        <p:nvSpPr>
          <p:cNvPr id="7" name="Text 3"/>
          <p:cNvSpPr txBox="1"/>
          <p:nvPr/>
        </p:nvSpPr>
        <p:spPr>
          <a:xfrm>
            <a:off x="457200" y="3291840"/>
            <a:ext cx="6858000" cy="548640"/>
          </a:xfrm>
          <a:prstGeom prst="rect">
            <a:avLst/>
          </a:prstGeom>
          <a:noFill/>
          <a:ln/>
        </p:spPr>
        <p:txBody>
          <a:bodyPr wrap="square" lIns="0" tIns="0" rIns="0" bIns="0" rtlCol="0" anchor="t"/>
          <a:lstStyle/>
          <a:p>
            <a:pPr marL="0" indent="0">
              <a:buNone/>
            </a:pPr>
            <a:r>
              <a:rPr lang="en-US" sz="2600" b="1" dirty="0">
                <a:solidFill>
                  <a:srgbClr val="DC8F2E"/>
                </a:solidFill>
                <a:latin typeface="Arial" pitchFamily="34" charset="0"/>
                <a:ea typeface="Arial" pitchFamily="34" charset="-122"/>
                <a:cs typeface="Arial" pitchFamily="34" charset="-120"/>
              </a:rPr>
              <a:t>A Church IT Reality Check</a:t>
            </a:r>
            <a:endParaRPr lang="en-US" sz="2600" dirty="0"/>
          </a:p>
        </p:txBody>
      </p:sp>
      <p:sp>
        <p:nvSpPr>
          <p:cNvPr id="8" name="Text 4"/>
          <p:cNvSpPr txBox="1"/>
          <p:nvPr/>
        </p:nvSpPr>
        <p:spPr>
          <a:xfrm>
            <a:off x="457200" y="3977640"/>
            <a:ext cx="6583680" cy="914400"/>
          </a:xfrm>
          <a:prstGeom prst="rect">
            <a:avLst/>
          </a:prstGeom>
          <a:noFill/>
          <a:ln/>
        </p:spPr>
        <p:txBody>
          <a:bodyPr wrap="square" lIns="0" tIns="0" rIns="0" bIns="0" rtlCol="0" anchor="t"/>
          <a:lstStyle/>
          <a:p>
            <a:pPr marL="0" indent="0">
              <a:buNone/>
            </a:pPr>
            <a:r>
              <a:rPr lang="en-US" sz="1500" dirty="0">
                <a:solidFill>
                  <a:srgbClr val="5A544F"/>
                </a:solidFill>
                <a:latin typeface="Arial" pitchFamily="34" charset="0"/>
                <a:ea typeface="Arial" pitchFamily="34" charset="-122"/>
                <a:cs typeface="Arial" pitchFamily="34" charset="-120"/>
              </a:rPr>
              <a:t>Everyone’s selling agents. Almost nobody defines one. We’ll open the hood, find where they pay off in ministry operations, and set the guardrails.</a:t>
            </a:r>
            <a:endParaRPr lang="en-US" sz="1500" dirty="0"/>
          </a:p>
        </p:txBody>
      </p:sp>
      <p:sp>
        <p:nvSpPr>
          <p:cNvPr id="9" name="Text 5"/>
          <p:cNvSpPr txBox="1"/>
          <p:nvPr/>
        </p:nvSpPr>
        <p:spPr>
          <a:xfrm>
            <a:off x="457200" y="5897880"/>
            <a:ext cx="5486400" cy="3200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Chris Kehayias</a:t>
            </a:r>
            <a:endParaRPr lang="en-US" sz="1400" dirty="0"/>
          </a:p>
        </p:txBody>
      </p:sp>
      <p:sp>
        <p:nvSpPr>
          <p:cNvPr id="10" name="Text 6"/>
          <p:cNvSpPr txBox="1"/>
          <p:nvPr/>
        </p:nvSpPr>
        <p:spPr>
          <a:xfrm>
            <a:off x="457200" y="6217920"/>
            <a:ext cx="5486400"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SVP Innovation &amp; AI, ACS Technologies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20700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20700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COLD OPEN</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Which of these is an agent?</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2</a:t>
            </a:r>
            <a:endParaRPr lang="en-US" sz="900" dirty="0"/>
          </a:p>
        </p:txBody>
      </p:sp>
      <p:sp>
        <p:nvSpPr>
          <p:cNvPr id="7" name="Shape 5"/>
          <p:cNvSpPr/>
          <p:nvPr/>
        </p:nvSpPr>
        <p:spPr>
          <a:xfrm>
            <a:off x="457200" y="1874520"/>
            <a:ext cx="6309360" cy="1005840"/>
          </a:xfrm>
          <a:prstGeom prst="roundRect">
            <a:avLst>
              <a:gd name="adj" fmla="val 10909"/>
            </a:avLst>
          </a:prstGeom>
          <a:solidFill>
            <a:srgbClr val="E4DED8"/>
          </a:solidFill>
          <a:ln w="12700">
            <a:solidFill>
              <a:srgbClr val="E4DED8"/>
            </a:solidFill>
            <a:prstDash val="solid"/>
          </a:ln>
        </p:spPr>
        <p:txBody>
          <a:bodyPr/>
          <a:lstStyle/>
          <a:p>
            <a:endParaRPr lang="en-US"/>
          </a:p>
        </p:txBody>
      </p:sp>
      <p:sp>
        <p:nvSpPr>
          <p:cNvPr id="8" name="Text 6"/>
          <p:cNvSpPr txBox="1"/>
          <p:nvPr/>
        </p:nvSpPr>
        <p:spPr>
          <a:xfrm>
            <a:off x="731520" y="1984248"/>
            <a:ext cx="548640" cy="822960"/>
          </a:xfrm>
          <a:prstGeom prst="rect">
            <a:avLst/>
          </a:prstGeom>
          <a:noFill/>
          <a:ln/>
        </p:spPr>
        <p:txBody>
          <a:bodyPr wrap="square" lIns="0" tIns="0" rIns="0" bIns="0" rtlCol="0" anchor="t"/>
          <a:lstStyle/>
          <a:p>
            <a:pPr marL="0" indent="0">
              <a:buNone/>
            </a:pPr>
            <a:r>
              <a:rPr lang="en-US" sz="5400" b="1" dirty="0">
                <a:solidFill>
                  <a:srgbClr val="DC8F2E"/>
                </a:solidFill>
                <a:latin typeface="Arial" pitchFamily="34" charset="0"/>
                <a:ea typeface="Arial" pitchFamily="34" charset="-122"/>
                <a:cs typeface="Arial" pitchFamily="34" charset="-120"/>
              </a:rPr>
              <a:t>“</a:t>
            </a:r>
            <a:endParaRPr lang="en-US" sz="5400" dirty="0"/>
          </a:p>
        </p:txBody>
      </p:sp>
      <p:sp>
        <p:nvSpPr>
          <p:cNvPr id="9" name="Text 7"/>
          <p:cNvSpPr txBox="1"/>
          <p:nvPr/>
        </p:nvSpPr>
        <p:spPr>
          <a:xfrm>
            <a:off x="1371600" y="1874520"/>
            <a:ext cx="5212080" cy="1005840"/>
          </a:xfrm>
          <a:prstGeom prst="rect">
            <a:avLst/>
          </a:prstGeom>
          <a:noFill/>
          <a:ln/>
        </p:spPr>
        <p:txBody>
          <a:bodyPr wrap="square" lIns="0" tIns="0" rIns="0" bIns="0" rtlCol="0" anchor="ctr"/>
          <a:lstStyle/>
          <a:p>
            <a:pPr marL="0" indent="0">
              <a:buNone/>
            </a:pPr>
            <a:r>
              <a:rPr lang="en-US" sz="1900" b="1" dirty="0">
                <a:solidFill>
                  <a:srgbClr val="2D2926"/>
                </a:solidFill>
                <a:latin typeface="Arial" pitchFamily="34" charset="0"/>
                <a:ea typeface="Arial" pitchFamily="34" charset="-122"/>
                <a:cs typeface="Arial" pitchFamily="34" charset="-120"/>
              </a:rPr>
              <a:t>An AI agent that answers member questions</a:t>
            </a:r>
            <a:endParaRPr lang="en-US" sz="1900" dirty="0"/>
          </a:p>
        </p:txBody>
      </p:sp>
      <p:sp>
        <p:nvSpPr>
          <p:cNvPr id="10" name="Shape 8"/>
          <p:cNvSpPr/>
          <p:nvPr/>
        </p:nvSpPr>
        <p:spPr>
          <a:xfrm>
            <a:off x="457200" y="3063240"/>
            <a:ext cx="6309360" cy="1005840"/>
          </a:xfrm>
          <a:prstGeom prst="roundRect">
            <a:avLst>
              <a:gd name="adj" fmla="val 10909"/>
            </a:avLst>
          </a:prstGeom>
          <a:solidFill>
            <a:srgbClr val="E4DED8"/>
          </a:solidFill>
          <a:ln w="12700">
            <a:solidFill>
              <a:srgbClr val="E4DED8"/>
            </a:solidFill>
            <a:prstDash val="solid"/>
          </a:ln>
        </p:spPr>
        <p:txBody>
          <a:bodyPr/>
          <a:lstStyle/>
          <a:p>
            <a:endParaRPr lang="en-US"/>
          </a:p>
        </p:txBody>
      </p:sp>
      <p:sp>
        <p:nvSpPr>
          <p:cNvPr id="11" name="Text 9"/>
          <p:cNvSpPr txBox="1"/>
          <p:nvPr/>
        </p:nvSpPr>
        <p:spPr>
          <a:xfrm>
            <a:off x="731520" y="3172968"/>
            <a:ext cx="548640" cy="822960"/>
          </a:xfrm>
          <a:prstGeom prst="rect">
            <a:avLst/>
          </a:prstGeom>
          <a:noFill/>
          <a:ln/>
        </p:spPr>
        <p:txBody>
          <a:bodyPr wrap="square" lIns="0" tIns="0" rIns="0" bIns="0" rtlCol="0" anchor="t"/>
          <a:lstStyle/>
          <a:p>
            <a:pPr marL="0" indent="0">
              <a:buNone/>
            </a:pPr>
            <a:r>
              <a:rPr lang="en-US" sz="5400" b="1" dirty="0">
                <a:solidFill>
                  <a:srgbClr val="DC8F2E"/>
                </a:solidFill>
                <a:latin typeface="Arial" pitchFamily="34" charset="0"/>
                <a:ea typeface="Arial" pitchFamily="34" charset="-122"/>
                <a:cs typeface="Arial" pitchFamily="34" charset="-120"/>
              </a:rPr>
              <a:t>“</a:t>
            </a:r>
            <a:endParaRPr lang="en-US" sz="5400" dirty="0"/>
          </a:p>
        </p:txBody>
      </p:sp>
      <p:sp>
        <p:nvSpPr>
          <p:cNvPr id="12" name="Text 10"/>
          <p:cNvSpPr txBox="1"/>
          <p:nvPr/>
        </p:nvSpPr>
        <p:spPr>
          <a:xfrm>
            <a:off x="1371600" y="3063240"/>
            <a:ext cx="5212080" cy="1005840"/>
          </a:xfrm>
          <a:prstGeom prst="rect">
            <a:avLst/>
          </a:prstGeom>
          <a:noFill/>
          <a:ln/>
        </p:spPr>
        <p:txBody>
          <a:bodyPr wrap="square" lIns="0" tIns="0" rIns="0" bIns="0" rtlCol="0" anchor="ctr"/>
          <a:lstStyle/>
          <a:p>
            <a:pPr marL="0" indent="0">
              <a:buNone/>
            </a:pPr>
            <a:r>
              <a:rPr lang="en-US" sz="1900" b="1" dirty="0">
                <a:solidFill>
                  <a:srgbClr val="2D2926"/>
                </a:solidFill>
                <a:latin typeface="Arial" pitchFamily="34" charset="0"/>
                <a:ea typeface="Arial" pitchFamily="34" charset="-122"/>
                <a:cs typeface="Arial" pitchFamily="34" charset="-120"/>
              </a:rPr>
              <a:t>Agentic giving insights</a:t>
            </a:r>
            <a:endParaRPr lang="en-US" sz="1900" dirty="0"/>
          </a:p>
        </p:txBody>
      </p:sp>
      <p:sp>
        <p:nvSpPr>
          <p:cNvPr id="13" name="Shape 11"/>
          <p:cNvSpPr/>
          <p:nvPr/>
        </p:nvSpPr>
        <p:spPr>
          <a:xfrm>
            <a:off x="457200" y="4251960"/>
            <a:ext cx="6309360" cy="1005840"/>
          </a:xfrm>
          <a:prstGeom prst="roundRect">
            <a:avLst>
              <a:gd name="adj" fmla="val 10909"/>
            </a:avLst>
          </a:prstGeom>
          <a:solidFill>
            <a:srgbClr val="2D2926"/>
          </a:solidFill>
          <a:ln w="12700">
            <a:solidFill>
              <a:srgbClr val="2D2926"/>
            </a:solidFill>
            <a:prstDash val="solid"/>
          </a:ln>
        </p:spPr>
        <p:txBody>
          <a:bodyPr/>
          <a:lstStyle/>
          <a:p>
            <a:endParaRPr lang="en-US"/>
          </a:p>
        </p:txBody>
      </p:sp>
      <p:sp>
        <p:nvSpPr>
          <p:cNvPr id="14" name="Text 12"/>
          <p:cNvSpPr txBox="1"/>
          <p:nvPr/>
        </p:nvSpPr>
        <p:spPr>
          <a:xfrm>
            <a:off x="731520" y="4361688"/>
            <a:ext cx="548640" cy="822960"/>
          </a:xfrm>
          <a:prstGeom prst="rect">
            <a:avLst/>
          </a:prstGeom>
          <a:noFill/>
          <a:ln/>
        </p:spPr>
        <p:txBody>
          <a:bodyPr wrap="square" lIns="0" tIns="0" rIns="0" bIns="0" rtlCol="0" anchor="t"/>
          <a:lstStyle/>
          <a:p>
            <a:pPr marL="0" indent="0">
              <a:buNone/>
            </a:pPr>
            <a:r>
              <a:rPr lang="en-US" sz="5400" b="1" dirty="0">
                <a:solidFill>
                  <a:srgbClr val="DC8F2E"/>
                </a:solidFill>
                <a:latin typeface="Arial" pitchFamily="34" charset="0"/>
                <a:ea typeface="Arial" pitchFamily="34" charset="-122"/>
                <a:cs typeface="Arial" pitchFamily="34" charset="-120"/>
              </a:rPr>
              <a:t>“</a:t>
            </a:r>
            <a:endParaRPr lang="en-US" sz="5400" dirty="0"/>
          </a:p>
        </p:txBody>
      </p:sp>
      <p:sp>
        <p:nvSpPr>
          <p:cNvPr id="15" name="Text 13"/>
          <p:cNvSpPr txBox="1"/>
          <p:nvPr/>
        </p:nvSpPr>
        <p:spPr>
          <a:xfrm>
            <a:off x="1371600" y="4251960"/>
            <a:ext cx="5212080" cy="100584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Autonomous volunteer scheduling</a:t>
            </a:r>
            <a:endParaRPr lang="en-US" sz="1900" dirty="0"/>
          </a:p>
        </p:txBody>
      </p:sp>
      <p:pic>
        <p:nvPicPr>
          <p:cNvPr id="16" name="Image 0" descr="img/boxes.png"/>
          <p:cNvPicPr>
            <a:picLocks noChangeAspect="1"/>
          </p:cNvPicPr>
          <p:nvPr/>
        </p:nvPicPr>
        <p:blipFill>
          <a:blip r:embed="rId3"/>
          <a:stretch>
            <a:fillRect/>
          </a:stretch>
        </p:blipFill>
        <p:spPr>
          <a:xfrm>
            <a:off x="7223760" y="1783080"/>
            <a:ext cx="4480560" cy="4480560"/>
          </a:xfrm>
          <a:prstGeom prst="rect">
            <a:avLst/>
          </a:prstGeom>
        </p:spPr>
      </p:pic>
      <p:sp>
        <p:nvSpPr>
          <p:cNvPr id="17" name="Text 14"/>
          <p:cNvSpPr txBox="1"/>
          <p:nvPr/>
        </p:nvSpPr>
        <p:spPr>
          <a:xfrm>
            <a:off x="457200" y="5532120"/>
            <a:ext cx="6309360" cy="640080"/>
          </a:xfrm>
          <a:prstGeom prst="rect">
            <a:avLst/>
          </a:prstGeom>
          <a:noFill/>
          <a:ln/>
        </p:spPr>
        <p:txBody>
          <a:bodyPr wrap="square" lIns="0" tIns="0" rIns="0" bIns="0" rtlCol="0" anchor="t"/>
          <a:lstStyle/>
          <a:p>
            <a:pPr marL="0" indent="0">
              <a:buNone/>
            </a:pPr>
            <a:r>
              <a:rPr lang="en-US" sz="1400" i="1" dirty="0">
                <a:solidFill>
                  <a:srgbClr val="5A544F"/>
                </a:solidFill>
                <a:latin typeface="Arial" pitchFamily="34" charset="0"/>
                <a:ea typeface="Arial" pitchFamily="34" charset="-122"/>
                <a:cs typeface="Arial" pitchFamily="34" charset="-120"/>
              </a:rPr>
              <a:t>“Agent” is today’s “cloud” circa 2012. By minute 38, you’ll answer this yourself in 30 seconds.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93268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93268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AGENDA</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45 minutes, eight segments</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3</a:t>
            </a:r>
            <a:endParaRPr lang="en-US" sz="900" dirty="0"/>
          </a:p>
        </p:txBody>
      </p:sp>
      <p:sp>
        <p:nvSpPr>
          <p:cNvPr id="7" name="Text 5"/>
          <p:cNvSpPr txBox="1"/>
          <p:nvPr/>
        </p:nvSpPr>
        <p:spPr>
          <a:xfrm>
            <a:off x="457200" y="1965960"/>
            <a:ext cx="129844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0:00</a:t>
            </a:r>
            <a:endParaRPr lang="en-US" sz="1100" dirty="0"/>
          </a:p>
        </p:txBody>
      </p:sp>
      <p:sp>
        <p:nvSpPr>
          <p:cNvPr id="8" name="Shape 6"/>
          <p:cNvSpPr/>
          <p:nvPr/>
        </p:nvSpPr>
        <p:spPr>
          <a:xfrm>
            <a:off x="457200" y="2286000"/>
            <a:ext cx="1298448" cy="1188720"/>
          </a:xfrm>
          <a:prstGeom prst="roundRect">
            <a:avLst>
              <a:gd name="adj" fmla="val 9231"/>
            </a:avLst>
          </a:prstGeom>
          <a:solidFill>
            <a:srgbClr val="E4DED8"/>
          </a:solidFill>
          <a:ln w="12700">
            <a:solidFill>
              <a:srgbClr val="E4DED8"/>
            </a:solidFill>
            <a:prstDash val="solid"/>
          </a:ln>
        </p:spPr>
        <p:txBody>
          <a:bodyPr/>
          <a:lstStyle/>
          <a:p>
            <a:endParaRPr lang="en-US"/>
          </a:p>
        </p:txBody>
      </p:sp>
      <p:sp>
        <p:nvSpPr>
          <p:cNvPr id="9" name="Text 7"/>
          <p:cNvSpPr txBox="1"/>
          <p:nvPr/>
        </p:nvSpPr>
        <p:spPr>
          <a:xfrm>
            <a:off x="457200" y="2377440"/>
            <a:ext cx="1298448" cy="685800"/>
          </a:xfrm>
          <a:prstGeom prst="rect">
            <a:avLst/>
          </a:prstGeom>
          <a:noFill/>
          <a:ln/>
        </p:spPr>
        <p:txBody>
          <a:bodyPr wrap="square" lIns="0" tIns="0" rIns="0" bIns="0" rtlCol="0" anchor="ctr"/>
          <a:lstStyle/>
          <a:p>
            <a:pPr marL="0" indent="0" algn="ctr">
              <a:buNone/>
            </a:pPr>
            <a:r>
              <a:rPr lang="en-US" sz="3200" b="1" dirty="0">
                <a:solidFill>
                  <a:srgbClr val="2D2926"/>
                </a:solidFill>
                <a:latin typeface="Arial" pitchFamily="34" charset="0"/>
                <a:ea typeface="Arial" pitchFamily="34" charset="-122"/>
                <a:cs typeface="Arial" pitchFamily="34" charset="-120"/>
              </a:rPr>
              <a:t>3</a:t>
            </a:r>
            <a:endParaRPr lang="en-US" sz="3200" dirty="0"/>
          </a:p>
        </p:txBody>
      </p:sp>
      <p:sp>
        <p:nvSpPr>
          <p:cNvPr id="10" name="Text 8"/>
          <p:cNvSpPr txBox="1"/>
          <p:nvPr/>
        </p:nvSpPr>
        <p:spPr>
          <a:xfrm>
            <a:off x="457200" y="3063240"/>
            <a:ext cx="1298448" cy="274320"/>
          </a:xfrm>
          <a:prstGeom prst="rect">
            <a:avLst/>
          </a:prstGeom>
          <a:noFill/>
          <a:ln/>
        </p:spPr>
        <p:txBody>
          <a:bodyPr wrap="square" lIns="0" tIns="0" rIns="0" bIns="0" rtlCol="0" anchor="t"/>
          <a:lstStyle/>
          <a:p>
            <a:pPr marL="0" indent="0" algn="ctr">
              <a:buNone/>
            </a:pPr>
            <a:r>
              <a:rPr lang="en-US" sz="1100" dirty="0">
                <a:solidFill>
                  <a:srgbClr val="5A544F"/>
                </a:solidFill>
                <a:latin typeface="Arial" pitchFamily="34" charset="0"/>
                <a:ea typeface="Arial" pitchFamily="34" charset="-122"/>
                <a:cs typeface="Arial" pitchFamily="34" charset="-120"/>
              </a:rPr>
              <a:t>min</a:t>
            </a:r>
            <a:endParaRPr lang="en-US" sz="1100" dirty="0"/>
          </a:p>
        </p:txBody>
      </p:sp>
      <p:sp>
        <p:nvSpPr>
          <p:cNvPr id="11" name="Text 9"/>
          <p:cNvSpPr txBox="1"/>
          <p:nvPr/>
        </p:nvSpPr>
        <p:spPr>
          <a:xfrm>
            <a:off x="457200" y="3611880"/>
            <a:ext cx="1298448" cy="54864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Cold open</a:t>
            </a:r>
            <a:endParaRPr lang="en-US" sz="1250" dirty="0"/>
          </a:p>
        </p:txBody>
      </p:sp>
      <p:sp>
        <p:nvSpPr>
          <p:cNvPr id="12" name="Text 10"/>
          <p:cNvSpPr txBox="1"/>
          <p:nvPr/>
        </p:nvSpPr>
        <p:spPr>
          <a:xfrm>
            <a:off x="1865376" y="1965960"/>
            <a:ext cx="129844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0:03</a:t>
            </a:r>
            <a:endParaRPr lang="en-US" sz="1100" dirty="0"/>
          </a:p>
        </p:txBody>
      </p:sp>
      <p:sp>
        <p:nvSpPr>
          <p:cNvPr id="13" name="Shape 11"/>
          <p:cNvSpPr/>
          <p:nvPr/>
        </p:nvSpPr>
        <p:spPr>
          <a:xfrm>
            <a:off x="1865376" y="2286000"/>
            <a:ext cx="1298448" cy="1188720"/>
          </a:xfrm>
          <a:prstGeom prst="roundRect">
            <a:avLst>
              <a:gd name="adj" fmla="val 9231"/>
            </a:avLst>
          </a:prstGeom>
          <a:solidFill>
            <a:srgbClr val="E4DED8"/>
          </a:solidFill>
          <a:ln w="12700">
            <a:solidFill>
              <a:srgbClr val="E4DED8"/>
            </a:solidFill>
            <a:prstDash val="solid"/>
          </a:ln>
        </p:spPr>
        <p:txBody>
          <a:bodyPr/>
          <a:lstStyle/>
          <a:p>
            <a:endParaRPr lang="en-US"/>
          </a:p>
        </p:txBody>
      </p:sp>
      <p:sp>
        <p:nvSpPr>
          <p:cNvPr id="14" name="Text 12"/>
          <p:cNvSpPr txBox="1"/>
          <p:nvPr/>
        </p:nvSpPr>
        <p:spPr>
          <a:xfrm>
            <a:off x="1865376" y="2377440"/>
            <a:ext cx="1298448" cy="685800"/>
          </a:xfrm>
          <a:prstGeom prst="rect">
            <a:avLst/>
          </a:prstGeom>
          <a:noFill/>
          <a:ln/>
        </p:spPr>
        <p:txBody>
          <a:bodyPr wrap="square" lIns="0" tIns="0" rIns="0" bIns="0" rtlCol="0" anchor="ctr"/>
          <a:lstStyle/>
          <a:p>
            <a:pPr marL="0" indent="0" algn="ctr">
              <a:buNone/>
            </a:pPr>
            <a:r>
              <a:rPr lang="en-US" sz="3200" b="1" dirty="0">
                <a:solidFill>
                  <a:srgbClr val="2D2926"/>
                </a:solidFill>
                <a:latin typeface="Arial" pitchFamily="34" charset="0"/>
                <a:ea typeface="Arial" pitchFamily="34" charset="-122"/>
                <a:cs typeface="Arial" pitchFamily="34" charset="-120"/>
              </a:rPr>
              <a:t>7</a:t>
            </a:r>
            <a:endParaRPr lang="en-US" sz="3200" dirty="0"/>
          </a:p>
        </p:txBody>
      </p:sp>
      <p:sp>
        <p:nvSpPr>
          <p:cNvPr id="15" name="Text 13"/>
          <p:cNvSpPr txBox="1"/>
          <p:nvPr/>
        </p:nvSpPr>
        <p:spPr>
          <a:xfrm>
            <a:off x="1865376" y="3063240"/>
            <a:ext cx="1298448" cy="274320"/>
          </a:xfrm>
          <a:prstGeom prst="rect">
            <a:avLst/>
          </a:prstGeom>
          <a:noFill/>
          <a:ln/>
        </p:spPr>
        <p:txBody>
          <a:bodyPr wrap="square" lIns="0" tIns="0" rIns="0" bIns="0" rtlCol="0" anchor="t"/>
          <a:lstStyle/>
          <a:p>
            <a:pPr marL="0" indent="0" algn="ctr">
              <a:buNone/>
            </a:pPr>
            <a:r>
              <a:rPr lang="en-US" sz="1100" dirty="0">
                <a:solidFill>
                  <a:srgbClr val="5A544F"/>
                </a:solidFill>
                <a:latin typeface="Arial" pitchFamily="34" charset="0"/>
                <a:ea typeface="Arial" pitchFamily="34" charset="-122"/>
                <a:cs typeface="Arial" pitchFamily="34" charset="-120"/>
              </a:rPr>
              <a:t>min</a:t>
            </a:r>
            <a:endParaRPr lang="en-US" sz="1100" dirty="0"/>
          </a:p>
        </p:txBody>
      </p:sp>
      <p:sp>
        <p:nvSpPr>
          <p:cNvPr id="16" name="Text 14"/>
          <p:cNvSpPr txBox="1"/>
          <p:nvPr/>
        </p:nvSpPr>
        <p:spPr>
          <a:xfrm>
            <a:off x="1865376" y="3611880"/>
            <a:ext cx="1298448" cy="54864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Open the hood</a:t>
            </a:r>
            <a:endParaRPr lang="en-US" sz="1250" dirty="0"/>
          </a:p>
        </p:txBody>
      </p:sp>
      <p:sp>
        <p:nvSpPr>
          <p:cNvPr id="17" name="Text 15"/>
          <p:cNvSpPr txBox="1"/>
          <p:nvPr/>
        </p:nvSpPr>
        <p:spPr>
          <a:xfrm>
            <a:off x="3273552" y="1965960"/>
            <a:ext cx="129844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0:10</a:t>
            </a:r>
            <a:endParaRPr lang="en-US" sz="1100" dirty="0"/>
          </a:p>
        </p:txBody>
      </p:sp>
      <p:sp>
        <p:nvSpPr>
          <p:cNvPr id="18" name="Shape 16"/>
          <p:cNvSpPr/>
          <p:nvPr/>
        </p:nvSpPr>
        <p:spPr>
          <a:xfrm>
            <a:off x="3273552" y="2286000"/>
            <a:ext cx="1298448" cy="1188720"/>
          </a:xfrm>
          <a:prstGeom prst="roundRect">
            <a:avLst>
              <a:gd name="adj" fmla="val 9231"/>
            </a:avLst>
          </a:prstGeom>
          <a:solidFill>
            <a:srgbClr val="E4DED8"/>
          </a:solidFill>
          <a:ln w="12700">
            <a:solidFill>
              <a:srgbClr val="E4DED8"/>
            </a:solidFill>
            <a:prstDash val="solid"/>
          </a:ln>
        </p:spPr>
        <p:txBody>
          <a:bodyPr/>
          <a:lstStyle/>
          <a:p>
            <a:endParaRPr lang="en-US"/>
          </a:p>
        </p:txBody>
      </p:sp>
      <p:sp>
        <p:nvSpPr>
          <p:cNvPr id="19" name="Text 17"/>
          <p:cNvSpPr txBox="1"/>
          <p:nvPr/>
        </p:nvSpPr>
        <p:spPr>
          <a:xfrm>
            <a:off x="3273552" y="2377440"/>
            <a:ext cx="1298448" cy="685800"/>
          </a:xfrm>
          <a:prstGeom prst="rect">
            <a:avLst/>
          </a:prstGeom>
          <a:noFill/>
          <a:ln/>
        </p:spPr>
        <p:txBody>
          <a:bodyPr wrap="square" lIns="0" tIns="0" rIns="0" bIns="0" rtlCol="0" anchor="ctr"/>
          <a:lstStyle/>
          <a:p>
            <a:pPr marL="0" indent="0" algn="ctr">
              <a:buNone/>
            </a:pPr>
            <a:r>
              <a:rPr lang="en-US" sz="3200" b="1" dirty="0">
                <a:solidFill>
                  <a:srgbClr val="2D2926"/>
                </a:solidFill>
                <a:latin typeface="Arial" pitchFamily="34" charset="0"/>
                <a:ea typeface="Arial" pitchFamily="34" charset="-122"/>
                <a:cs typeface="Arial" pitchFamily="34" charset="-120"/>
              </a:rPr>
              <a:t>3</a:t>
            </a:r>
            <a:endParaRPr lang="en-US" sz="3200" dirty="0"/>
          </a:p>
        </p:txBody>
      </p:sp>
      <p:sp>
        <p:nvSpPr>
          <p:cNvPr id="20" name="Text 18"/>
          <p:cNvSpPr txBox="1"/>
          <p:nvPr/>
        </p:nvSpPr>
        <p:spPr>
          <a:xfrm>
            <a:off x="3273552" y="3063240"/>
            <a:ext cx="1298448" cy="274320"/>
          </a:xfrm>
          <a:prstGeom prst="rect">
            <a:avLst/>
          </a:prstGeom>
          <a:noFill/>
          <a:ln/>
        </p:spPr>
        <p:txBody>
          <a:bodyPr wrap="square" lIns="0" tIns="0" rIns="0" bIns="0" rtlCol="0" anchor="t"/>
          <a:lstStyle/>
          <a:p>
            <a:pPr marL="0" indent="0" algn="ctr">
              <a:buNone/>
            </a:pPr>
            <a:r>
              <a:rPr lang="en-US" sz="1100" dirty="0">
                <a:solidFill>
                  <a:srgbClr val="5A544F"/>
                </a:solidFill>
                <a:latin typeface="Arial" pitchFamily="34" charset="0"/>
                <a:ea typeface="Arial" pitchFamily="34" charset="-122"/>
                <a:cs typeface="Arial" pitchFamily="34" charset="-120"/>
              </a:rPr>
              <a:t>min</a:t>
            </a:r>
            <a:endParaRPr lang="en-US" sz="1100" dirty="0"/>
          </a:p>
        </p:txBody>
      </p:sp>
      <p:sp>
        <p:nvSpPr>
          <p:cNvPr id="21" name="Text 19"/>
          <p:cNvSpPr txBox="1"/>
          <p:nvPr/>
        </p:nvSpPr>
        <p:spPr>
          <a:xfrm>
            <a:off x="3273552" y="3611880"/>
            <a:ext cx="1298448" cy="54864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Agent or not?</a:t>
            </a:r>
            <a:endParaRPr lang="en-US" sz="1250" dirty="0"/>
          </a:p>
        </p:txBody>
      </p:sp>
      <p:sp>
        <p:nvSpPr>
          <p:cNvPr id="22" name="Text 20"/>
          <p:cNvSpPr txBox="1"/>
          <p:nvPr/>
        </p:nvSpPr>
        <p:spPr>
          <a:xfrm>
            <a:off x="4681728" y="1965960"/>
            <a:ext cx="129844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0:13</a:t>
            </a:r>
            <a:endParaRPr lang="en-US" sz="1100" dirty="0"/>
          </a:p>
        </p:txBody>
      </p:sp>
      <p:sp>
        <p:nvSpPr>
          <p:cNvPr id="23" name="Shape 21"/>
          <p:cNvSpPr/>
          <p:nvPr/>
        </p:nvSpPr>
        <p:spPr>
          <a:xfrm>
            <a:off x="4681728" y="2286000"/>
            <a:ext cx="1298448" cy="1188720"/>
          </a:xfrm>
          <a:prstGeom prst="roundRect">
            <a:avLst>
              <a:gd name="adj" fmla="val 9231"/>
            </a:avLst>
          </a:prstGeom>
          <a:solidFill>
            <a:srgbClr val="E4DED8"/>
          </a:solidFill>
          <a:ln w="12700">
            <a:solidFill>
              <a:srgbClr val="E4DED8"/>
            </a:solidFill>
            <a:prstDash val="solid"/>
          </a:ln>
        </p:spPr>
        <p:txBody>
          <a:bodyPr/>
          <a:lstStyle/>
          <a:p>
            <a:endParaRPr lang="en-US"/>
          </a:p>
        </p:txBody>
      </p:sp>
      <p:sp>
        <p:nvSpPr>
          <p:cNvPr id="24" name="Text 22"/>
          <p:cNvSpPr txBox="1"/>
          <p:nvPr/>
        </p:nvSpPr>
        <p:spPr>
          <a:xfrm>
            <a:off x="4681728" y="2377440"/>
            <a:ext cx="1298448" cy="685800"/>
          </a:xfrm>
          <a:prstGeom prst="rect">
            <a:avLst/>
          </a:prstGeom>
          <a:noFill/>
          <a:ln/>
        </p:spPr>
        <p:txBody>
          <a:bodyPr wrap="square" lIns="0" tIns="0" rIns="0" bIns="0" rtlCol="0" anchor="ctr"/>
          <a:lstStyle/>
          <a:p>
            <a:pPr marL="0" indent="0" algn="ctr">
              <a:buNone/>
            </a:pPr>
            <a:r>
              <a:rPr lang="en-US" sz="3200" b="1" dirty="0">
                <a:solidFill>
                  <a:srgbClr val="2D2926"/>
                </a:solidFill>
                <a:latin typeface="Arial" pitchFamily="34" charset="0"/>
                <a:ea typeface="Arial" pitchFamily="34" charset="-122"/>
                <a:cs typeface="Arial" pitchFamily="34" charset="-120"/>
              </a:rPr>
              <a:t>7</a:t>
            </a:r>
            <a:endParaRPr lang="en-US" sz="3200" dirty="0"/>
          </a:p>
        </p:txBody>
      </p:sp>
      <p:sp>
        <p:nvSpPr>
          <p:cNvPr id="25" name="Text 23"/>
          <p:cNvSpPr txBox="1"/>
          <p:nvPr/>
        </p:nvSpPr>
        <p:spPr>
          <a:xfrm>
            <a:off x="4681728" y="3063240"/>
            <a:ext cx="1298448" cy="274320"/>
          </a:xfrm>
          <a:prstGeom prst="rect">
            <a:avLst/>
          </a:prstGeom>
          <a:noFill/>
          <a:ln/>
        </p:spPr>
        <p:txBody>
          <a:bodyPr wrap="square" lIns="0" tIns="0" rIns="0" bIns="0" rtlCol="0" anchor="t"/>
          <a:lstStyle/>
          <a:p>
            <a:pPr marL="0" indent="0" algn="ctr">
              <a:buNone/>
            </a:pPr>
            <a:r>
              <a:rPr lang="en-US" sz="1100" dirty="0">
                <a:solidFill>
                  <a:srgbClr val="5A544F"/>
                </a:solidFill>
                <a:latin typeface="Arial" pitchFamily="34" charset="0"/>
                <a:ea typeface="Arial" pitchFamily="34" charset="-122"/>
                <a:cs typeface="Arial" pitchFamily="34" charset="-120"/>
              </a:rPr>
              <a:t>min</a:t>
            </a:r>
            <a:endParaRPr lang="en-US" sz="1100" dirty="0"/>
          </a:p>
        </p:txBody>
      </p:sp>
      <p:sp>
        <p:nvSpPr>
          <p:cNvPr id="26" name="Text 24"/>
          <p:cNvSpPr txBox="1"/>
          <p:nvPr/>
        </p:nvSpPr>
        <p:spPr>
          <a:xfrm>
            <a:off x="4681728" y="3611880"/>
            <a:ext cx="1298448" cy="54864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Where they pay off</a:t>
            </a:r>
            <a:endParaRPr lang="en-US" sz="1250" dirty="0"/>
          </a:p>
        </p:txBody>
      </p:sp>
      <p:sp>
        <p:nvSpPr>
          <p:cNvPr id="27" name="Text 25"/>
          <p:cNvSpPr txBox="1"/>
          <p:nvPr/>
        </p:nvSpPr>
        <p:spPr>
          <a:xfrm>
            <a:off x="6089904" y="1965960"/>
            <a:ext cx="129844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0:20</a:t>
            </a:r>
            <a:endParaRPr lang="en-US" sz="1100" dirty="0"/>
          </a:p>
        </p:txBody>
      </p:sp>
      <p:sp>
        <p:nvSpPr>
          <p:cNvPr id="28" name="Shape 26"/>
          <p:cNvSpPr/>
          <p:nvPr/>
        </p:nvSpPr>
        <p:spPr>
          <a:xfrm>
            <a:off x="6089904" y="2286000"/>
            <a:ext cx="1298448" cy="1188720"/>
          </a:xfrm>
          <a:prstGeom prst="roundRect">
            <a:avLst>
              <a:gd name="adj" fmla="val 9231"/>
            </a:avLst>
          </a:prstGeom>
          <a:solidFill>
            <a:srgbClr val="E4DED8"/>
          </a:solidFill>
          <a:ln w="12700">
            <a:solidFill>
              <a:srgbClr val="E4DED8"/>
            </a:solidFill>
            <a:prstDash val="solid"/>
          </a:ln>
        </p:spPr>
        <p:txBody>
          <a:bodyPr/>
          <a:lstStyle/>
          <a:p>
            <a:endParaRPr lang="en-US"/>
          </a:p>
        </p:txBody>
      </p:sp>
      <p:sp>
        <p:nvSpPr>
          <p:cNvPr id="29" name="Text 27"/>
          <p:cNvSpPr txBox="1"/>
          <p:nvPr/>
        </p:nvSpPr>
        <p:spPr>
          <a:xfrm>
            <a:off x="6089904" y="2377440"/>
            <a:ext cx="1298448" cy="685800"/>
          </a:xfrm>
          <a:prstGeom prst="rect">
            <a:avLst/>
          </a:prstGeom>
          <a:noFill/>
          <a:ln/>
        </p:spPr>
        <p:txBody>
          <a:bodyPr wrap="square" lIns="0" tIns="0" rIns="0" bIns="0" rtlCol="0" anchor="ctr"/>
          <a:lstStyle/>
          <a:p>
            <a:pPr marL="0" indent="0" algn="ctr">
              <a:buNone/>
            </a:pPr>
            <a:r>
              <a:rPr lang="en-US" sz="3200" b="1" dirty="0">
                <a:solidFill>
                  <a:srgbClr val="2D2926"/>
                </a:solidFill>
                <a:latin typeface="Arial" pitchFamily="34" charset="0"/>
                <a:ea typeface="Arial" pitchFamily="34" charset="-122"/>
                <a:cs typeface="Arial" pitchFamily="34" charset="-120"/>
              </a:rPr>
              <a:t>8</a:t>
            </a:r>
            <a:endParaRPr lang="en-US" sz="3200" dirty="0"/>
          </a:p>
        </p:txBody>
      </p:sp>
      <p:sp>
        <p:nvSpPr>
          <p:cNvPr id="30" name="Text 28"/>
          <p:cNvSpPr txBox="1"/>
          <p:nvPr/>
        </p:nvSpPr>
        <p:spPr>
          <a:xfrm>
            <a:off x="6089904" y="3063240"/>
            <a:ext cx="1298448" cy="274320"/>
          </a:xfrm>
          <a:prstGeom prst="rect">
            <a:avLst/>
          </a:prstGeom>
          <a:noFill/>
          <a:ln/>
        </p:spPr>
        <p:txBody>
          <a:bodyPr wrap="square" lIns="0" tIns="0" rIns="0" bIns="0" rtlCol="0" anchor="t"/>
          <a:lstStyle/>
          <a:p>
            <a:pPr marL="0" indent="0" algn="ctr">
              <a:buNone/>
            </a:pPr>
            <a:r>
              <a:rPr lang="en-US" sz="1100" dirty="0">
                <a:solidFill>
                  <a:srgbClr val="5A544F"/>
                </a:solidFill>
                <a:latin typeface="Arial" pitchFamily="34" charset="0"/>
                <a:ea typeface="Arial" pitchFamily="34" charset="-122"/>
                <a:cs typeface="Arial" pitchFamily="34" charset="-120"/>
              </a:rPr>
              <a:t>min</a:t>
            </a:r>
            <a:endParaRPr lang="en-US" sz="1100" dirty="0"/>
          </a:p>
        </p:txBody>
      </p:sp>
      <p:sp>
        <p:nvSpPr>
          <p:cNvPr id="31" name="Text 29"/>
          <p:cNvSpPr txBox="1"/>
          <p:nvPr/>
        </p:nvSpPr>
        <p:spPr>
          <a:xfrm>
            <a:off x="6089904" y="3611880"/>
            <a:ext cx="1298448" cy="54864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MCP + live demo</a:t>
            </a:r>
            <a:endParaRPr lang="en-US" sz="1250" dirty="0"/>
          </a:p>
        </p:txBody>
      </p:sp>
      <p:sp>
        <p:nvSpPr>
          <p:cNvPr id="32" name="Text 30"/>
          <p:cNvSpPr txBox="1"/>
          <p:nvPr/>
        </p:nvSpPr>
        <p:spPr>
          <a:xfrm>
            <a:off x="7498080" y="1965960"/>
            <a:ext cx="129844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0:28</a:t>
            </a:r>
            <a:endParaRPr lang="en-US" sz="1100" dirty="0"/>
          </a:p>
        </p:txBody>
      </p:sp>
      <p:sp>
        <p:nvSpPr>
          <p:cNvPr id="33" name="Shape 31"/>
          <p:cNvSpPr/>
          <p:nvPr/>
        </p:nvSpPr>
        <p:spPr>
          <a:xfrm>
            <a:off x="7498080" y="2286000"/>
            <a:ext cx="1298448" cy="1188720"/>
          </a:xfrm>
          <a:prstGeom prst="roundRect">
            <a:avLst>
              <a:gd name="adj" fmla="val 9231"/>
            </a:avLst>
          </a:prstGeom>
          <a:solidFill>
            <a:srgbClr val="F6921E"/>
          </a:solidFill>
          <a:ln w="12700">
            <a:solidFill>
              <a:srgbClr val="F6921E"/>
            </a:solidFill>
            <a:prstDash val="solid"/>
          </a:ln>
        </p:spPr>
        <p:txBody>
          <a:bodyPr/>
          <a:lstStyle/>
          <a:p>
            <a:endParaRPr lang="en-US"/>
          </a:p>
        </p:txBody>
      </p:sp>
      <p:sp>
        <p:nvSpPr>
          <p:cNvPr id="34" name="Text 32"/>
          <p:cNvSpPr txBox="1"/>
          <p:nvPr/>
        </p:nvSpPr>
        <p:spPr>
          <a:xfrm>
            <a:off x="7498080" y="2377440"/>
            <a:ext cx="1298448" cy="685800"/>
          </a:xfrm>
          <a:prstGeom prst="rect">
            <a:avLst/>
          </a:prstGeom>
          <a:noFill/>
          <a:ln/>
        </p:spPr>
        <p:txBody>
          <a:bodyPr wrap="square" lIns="0" tIns="0" rIns="0" bIns="0" rtlCol="0" anchor="ctr"/>
          <a:lstStyle/>
          <a:p>
            <a:pPr marL="0" indent="0" algn="ctr">
              <a:buNone/>
            </a:pPr>
            <a:r>
              <a:rPr lang="en-US" sz="3200" b="1" dirty="0">
                <a:solidFill>
                  <a:srgbClr val="2D2926"/>
                </a:solidFill>
                <a:latin typeface="Arial" pitchFamily="34" charset="0"/>
                <a:ea typeface="Arial" pitchFamily="34" charset="-122"/>
                <a:cs typeface="Arial" pitchFamily="34" charset="-120"/>
              </a:rPr>
              <a:t>8</a:t>
            </a:r>
            <a:endParaRPr lang="en-US" sz="3200" dirty="0"/>
          </a:p>
        </p:txBody>
      </p:sp>
      <p:sp>
        <p:nvSpPr>
          <p:cNvPr id="35" name="Text 33"/>
          <p:cNvSpPr txBox="1"/>
          <p:nvPr/>
        </p:nvSpPr>
        <p:spPr>
          <a:xfrm>
            <a:off x="7498080" y="3063240"/>
            <a:ext cx="1298448" cy="274320"/>
          </a:xfrm>
          <a:prstGeom prst="rect">
            <a:avLst/>
          </a:prstGeom>
          <a:noFill/>
          <a:ln/>
        </p:spPr>
        <p:txBody>
          <a:bodyPr wrap="square" lIns="0" tIns="0" rIns="0" bIns="0" rtlCol="0" anchor="t"/>
          <a:lstStyle/>
          <a:p>
            <a:pPr marL="0" indent="0" algn="ctr">
              <a:buNone/>
            </a:pPr>
            <a:r>
              <a:rPr lang="en-US" sz="1100" dirty="0">
                <a:solidFill>
                  <a:srgbClr val="2D2926"/>
                </a:solidFill>
                <a:latin typeface="Arial" pitchFamily="34" charset="0"/>
                <a:ea typeface="Arial" pitchFamily="34" charset="-122"/>
                <a:cs typeface="Arial" pitchFamily="34" charset="-120"/>
              </a:rPr>
              <a:t>min</a:t>
            </a:r>
            <a:endParaRPr lang="en-US" sz="1100" dirty="0"/>
          </a:p>
        </p:txBody>
      </p:sp>
      <p:sp>
        <p:nvSpPr>
          <p:cNvPr id="36" name="Text 34"/>
          <p:cNvSpPr txBox="1"/>
          <p:nvPr/>
        </p:nvSpPr>
        <p:spPr>
          <a:xfrm>
            <a:off x="7498080" y="3611880"/>
            <a:ext cx="1298448" cy="548640"/>
          </a:xfrm>
          <a:prstGeom prst="rect">
            <a:avLst/>
          </a:prstGeom>
          <a:noFill/>
          <a:ln/>
        </p:spPr>
        <p:txBody>
          <a:bodyPr wrap="square" lIns="0" tIns="0" rIns="0" bIns="0" rtlCol="0" anchor="t"/>
          <a:lstStyle/>
          <a:p>
            <a:pPr marL="0" indent="0">
              <a:buNone/>
            </a:pPr>
            <a:r>
              <a:rPr lang="en-US" sz="1250" b="1" dirty="0">
                <a:solidFill>
                  <a:srgbClr val="2D2926"/>
                </a:solidFill>
                <a:latin typeface="Arial" pitchFamily="34" charset="0"/>
                <a:ea typeface="Arial" pitchFamily="34" charset="-122"/>
                <a:cs typeface="Arial" pitchFamily="34" charset="-120"/>
              </a:rPr>
              <a:t>Guardrails</a:t>
            </a:r>
            <a:endParaRPr lang="en-US" sz="1250" dirty="0"/>
          </a:p>
        </p:txBody>
      </p:sp>
      <p:sp>
        <p:nvSpPr>
          <p:cNvPr id="37" name="Text 35"/>
          <p:cNvSpPr txBox="1"/>
          <p:nvPr/>
        </p:nvSpPr>
        <p:spPr>
          <a:xfrm>
            <a:off x="8906256" y="1965960"/>
            <a:ext cx="129844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0:36</a:t>
            </a:r>
            <a:endParaRPr lang="en-US" sz="1100" dirty="0"/>
          </a:p>
        </p:txBody>
      </p:sp>
      <p:sp>
        <p:nvSpPr>
          <p:cNvPr id="38" name="Shape 36"/>
          <p:cNvSpPr/>
          <p:nvPr/>
        </p:nvSpPr>
        <p:spPr>
          <a:xfrm>
            <a:off x="8906256" y="2286000"/>
            <a:ext cx="1298448" cy="1188720"/>
          </a:xfrm>
          <a:prstGeom prst="roundRect">
            <a:avLst>
              <a:gd name="adj" fmla="val 9231"/>
            </a:avLst>
          </a:prstGeom>
          <a:solidFill>
            <a:srgbClr val="E4DED8"/>
          </a:solidFill>
          <a:ln w="12700">
            <a:solidFill>
              <a:srgbClr val="E4DED8"/>
            </a:solidFill>
            <a:prstDash val="solid"/>
          </a:ln>
        </p:spPr>
        <p:txBody>
          <a:bodyPr/>
          <a:lstStyle/>
          <a:p>
            <a:endParaRPr lang="en-US"/>
          </a:p>
        </p:txBody>
      </p:sp>
      <p:sp>
        <p:nvSpPr>
          <p:cNvPr id="39" name="Text 37"/>
          <p:cNvSpPr txBox="1"/>
          <p:nvPr/>
        </p:nvSpPr>
        <p:spPr>
          <a:xfrm>
            <a:off x="8906256" y="2377440"/>
            <a:ext cx="1298448" cy="685800"/>
          </a:xfrm>
          <a:prstGeom prst="rect">
            <a:avLst/>
          </a:prstGeom>
          <a:noFill/>
          <a:ln/>
        </p:spPr>
        <p:txBody>
          <a:bodyPr wrap="square" lIns="0" tIns="0" rIns="0" bIns="0" rtlCol="0" anchor="ctr"/>
          <a:lstStyle/>
          <a:p>
            <a:pPr marL="0" indent="0" algn="ctr">
              <a:buNone/>
            </a:pPr>
            <a:r>
              <a:rPr lang="en-US" sz="3200" b="1" dirty="0">
                <a:solidFill>
                  <a:srgbClr val="2D2926"/>
                </a:solidFill>
                <a:latin typeface="Arial" pitchFamily="34" charset="0"/>
                <a:ea typeface="Arial" pitchFamily="34" charset="-122"/>
                <a:cs typeface="Arial" pitchFamily="34" charset="-120"/>
              </a:rPr>
              <a:t>2</a:t>
            </a:r>
            <a:endParaRPr lang="en-US" sz="3200" dirty="0"/>
          </a:p>
        </p:txBody>
      </p:sp>
      <p:sp>
        <p:nvSpPr>
          <p:cNvPr id="40" name="Text 38"/>
          <p:cNvSpPr txBox="1"/>
          <p:nvPr/>
        </p:nvSpPr>
        <p:spPr>
          <a:xfrm>
            <a:off x="8906256" y="3063240"/>
            <a:ext cx="1298448" cy="274320"/>
          </a:xfrm>
          <a:prstGeom prst="rect">
            <a:avLst/>
          </a:prstGeom>
          <a:noFill/>
          <a:ln/>
        </p:spPr>
        <p:txBody>
          <a:bodyPr wrap="square" lIns="0" tIns="0" rIns="0" bIns="0" rtlCol="0" anchor="t"/>
          <a:lstStyle/>
          <a:p>
            <a:pPr marL="0" indent="0" algn="ctr">
              <a:buNone/>
            </a:pPr>
            <a:r>
              <a:rPr lang="en-US" sz="1100" dirty="0">
                <a:solidFill>
                  <a:srgbClr val="5A544F"/>
                </a:solidFill>
                <a:latin typeface="Arial" pitchFamily="34" charset="0"/>
                <a:ea typeface="Arial" pitchFamily="34" charset="-122"/>
                <a:cs typeface="Arial" pitchFamily="34" charset="-120"/>
              </a:rPr>
              <a:t>min</a:t>
            </a:r>
            <a:endParaRPr lang="en-US" sz="1100" dirty="0"/>
          </a:p>
        </p:txBody>
      </p:sp>
      <p:sp>
        <p:nvSpPr>
          <p:cNvPr id="41" name="Text 39"/>
          <p:cNvSpPr txBox="1"/>
          <p:nvPr/>
        </p:nvSpPr>
        <p:spPr>
          <a:xfrm>
            <a:off x="8906256" y="3611880"/>
            <a:ext cx="1298448" cy="54864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Spot a real agent</a:t>
            </a:r>
            <a:endParaRPr lang="en-US" sz="1250" dirty="0"/>
          </a:p>
        </p:txBody>
      </p:sp>
      <p:sp>
        <p:nvSpPr>
          <p:cNvPr id="42" name="Text 40"/>
          <p:cNvSpPr txBox="1"/>
          <p:nvPr/>
        </p:nvSpPr>
        <p:spPr>
          <a:xfrm>
            <a:off x="10314432" y="1965960"/>
            <a:ext cx="1298448"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0:38</a:t>
            </a:r>
            <a:endParaRPr lang="en-US" sz="1100" dirty="0"/>
          </a:p>
        </p:txBody>
      </p:sp>
      <p:sp>
        <p:nvSpPr>
          <p:cNvPr id="43" name="Shape 41"/>
          <p:cNvSpPr/>
          <p:nvPr/>
        </p:nvSpPr>
        <p:spPr>
          <a:xfrm>
            <a:off x="10314432" y="2286000"/>
            <a:ext cx="1298448" cy="1188720"/>
          </a:xfrm>
          <a:prstGeom prst="roundRect">
            <a:avLst>
              <a:gd name="adj" fmla="val 9231"/>
            </a:avLst>
          </a:prstGeom>
          <a:solidFill>
            <a:srgbClr val="E4DED8"/>
          </a:solidFill>
          <a:ln w="12700">
            <a:solidFill>
              <a:srgbClr val="E4DED8"/>
            </a:solidFill>
            <a:prstDash val="solid"/>
          </a:ln>
        </p:spPr>
        <p:txBody>
          <a:bodyPr/>
          <a:lstStyle/>
          <a:p>
            <a:endParaRPr lang="en-US"/>
          </a:p>
        </p:txBody>
      </p:sp>
      <p:sp>
        <p:nvSpPr>
          <p:cNvPr id="44" name="Text 42"/>
          <p:cNvSpPr txBox="1"/>
          <p:nvPr/>
        </p:nvSpPr>
        <p:spPr>
          <a:xfrm>
            <a:off x="10314432" y="2377440"/>
            <a:ext cx="1298448" cy="685800"/>
          </a:xfrm>
          <a:prstGeom prst="rect">
            <a:avLst/>
          </a:prstGeom>
          <a:noFill/>
          <a:ln/>
        </p:spPr>
        <p:txBody>
          <a:bodyPr wrap="square" lIns="0" tIns="0" rIns="0" bIns="0" rtlCol="0" anchor="ctr"/>
          <a:lstStyle/>
          <a:p>
            <a:pPr marL="0" indent="0" algn="ctr">
              <a:buNone/>
            </a:pPr>
            <a:r>
              <a:rPr lang="en-US" sz="3200" b="1" dirty="0">
                <a:solidFill>
                  <a:srgbClr val="2D2926"/>
                </a:solidFill>
                <a:latin typeface="Arial" pitchFamily="34" charset="0"/>
                <a:ea typeface="Arial" pitchFamily="34" charset="-122"/>
                <a:cs typeface="Arial" pitchFamily="34" charset="-120"/>
              </a:rPr>
              <a:t>7</a:t>
            </a:r>
            <a:endParaRPr lang="en-US" sz="3200" dirty="0"/>
          </a:p>
        </p:txBody>
      </p:sp>
      <p:sp>
        <p:nvSpPr>
          <p:cNvPr id="45" name="Text 43"/>
          <p:cNvSpPr txBox="1"/>
          <p:nvPr/>
        </p:nvSpPr>
        <p:spPr>
          <a:xfrm>
            <a:off x="10314432" y="3063240"/>
            <a:ext cx="1298448" cy="274320"/>
          </a:xfrm>
          <a:prstGeom prst="rect">
            <a:avLst/>
          </a:prstGeom>
          <a:noFill/>
          <a:ln/>
        </p:spPr>
        <p:txBody>
          <a:bodyPr wrap="square" lIns="0" tIns="0" rIns="0" bIns="0" rtlCol="0" anchor="t"/>
          <a:lstStyle/>
          <a:p>
            <a:pPr marL="0" indent="0" algn="ctr">
              <a:buNone/>
            </a:pPr>
            <a:r>
              <a:rPr lang="en-US" sz="1100" dirty="0">
                <a:solidFill>
                  <a:srgbClr val="5A544F"/>
                </a:solidFill>
                <a:latin typeface="Arial" pitchFamily="34" charset="0"/>
                <a:ea typeface="Arial" pitchFamily="34" charset="-122"/>
                <a:cs typeface="Arial" pitchFamily="34" charset="-120"/>
              </a:rPr>
              <a:t>min</a:t>
            </a:r>
            <a:endParaRPr lang="en-US" sz="1100" dirty="0"/>
          </a:p>
        </p:txBody>
      </p:sp>
      <p:sp>
        <p:nvSpPr>
          <p:cNvPr id="46" name="Text 44"/>
          <p:cNvSpPr txBox="1"/>
          <p:nvPr/>
        </p:nvSpPr>
        <p:spPr>
          <a:xfrm>
            <a:off x="10314432" y="3611880"/>
            <a:ext cx="1298448" cy="54864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Q&amp;A</a:t>
            </a:r>
            <a:endParaRPr lang="en-US" sz="1250" dirty="0"/>
          </a:p>
        </p:txBody>
      </p:sp>
      <p:sp>
        <p:nvSpPr>
          <p:cNvPr id="47" name="Text 45"/>
          <p:cNvSpPr txBox="1"/>
          <p:nvPr/>
        </p:nvSpPr>
        <p:spPr>
          <a:xfrm>
            <a:off x="457200" y="4663440"/>
            <a:ext cx="10789920" cy="640080"/>
          </a:xfrm>
          <a:prstGeom prst="rect">
            <a:avLst/>
          </a:prstGeom>
          <a:noFill/>
          <a:ln/>
        </p:spPr>
        <p:txBody>
          <a:bodyPr wrap="square" lIns="0" tIns="0" rIns="0" bIns="0" rtlCol="0" anchor="t"/>
          <a:lstStyle/>
          <a:p>
            <a:pPr marL="0" indent="0">
              <a:buNone/>
            </a:pPr>
            <a:r>
              <a:rPr lang="en-US" sz="1400" i="1" dirty="0">
                <a:solidFill>
                  <a:srgbClr val="5A544F"/>
                </a:solidFill>
                <a:latin typeface="Arial" pitchFamily="34" charset="0"/>
                <a:ea typeface="Arial" pitchFamily="34" charset="-122"/>
                <a:cs typeface="Arial" pitchFamily="34" charset="-120"/>
              </a:rPr>
              <a:t>Guardrails get the most time, because that’s what your exec pastor will ask about. Running long? Trim “where they pay off,” never guardrails.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D2926"/>
        </a:solidFill>
        <a:effectLst/>
      </p:bgPr>
    </p:bg>
    <p:spTree>
      <p:nvGrpSpPr>
        <p:cNvPr id="1" name=""/>
        <p:cNvGrpSpPr/>
        <p:nvPr/>
      </p:nvGrpSpPr>
      <p:grpSpPr>
        <a:xfrm>
          <a:off x="0" y="0"/>
          <a:ext cx="0" cy="0"/>
          <a:chOff x="0" y="0"/>
          <a:chExt cx="0" cy="0"/>
        </a:xfrm>
      </p:grpSpPr>
      <p:pic>
        <p:nvPicPr>
          <p:cNvPr id="2" name="Image 0" descr="img/hood.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457200" y="411480"/>
            <a:ext cx="157276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4" name="Text 1"/>
          <p:cNvSpPr txBox="1"/>
          <p:nvPr/>
        </p:nvSpPr>
        <p:spPr>
          <a:xfrm>
            <a:off x="457200" y="411480"/>
            <a:ext cx="157276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OPEN THE HOOD</a:t>
            </a:r>
            <a:endParaRPr lang="en-US" sz="1100" dirty="0"/>
          </a:p>
        </p:txBody>
      </p:sp>
      <p:sp>
        <p:nvSpPr>
          <p:cNvPr id="5" name="Text 2"/>
          <p:cNvSpPr txBox="1"/>
          <p:nvPr/>
        </p:nvSpPr>
        <p:spPr>
          <a:xfrm>
            <a:off x="457200" y="2103120"/>
            <a:ext cx="5669280" cy="822960"/>
          </a:xfrm>
          <a:prstGeom prst="rect">
            <a:avLst/>
          </a:prstGeom>
          <a:noFill/>
          <a:ln/>
        </p:spPr>
        <p:txBody>
          <a:bodyPr wrap="square" lIns="0" tIns="0" rIns="0" bIns="0" rtlCol="0" anchor="b"/>
          <a:lstStyle/>
          <a:p>
            <a:pPr marL="0" indent="0">
              <a:buNone/>
            </a:pPr>
            <a:r>
              <a:rPr lang="en-US" sz="4000" b="1" dirty="0">
                <a:solidFill>
                  <a:srgbClr val="FFFFFF"/>
                </a:solidFill>
                <a:latin typeface="Arial" pitchFamily="34" charset="0"/>
                <a:ea typeface="Arial" pitchFamily="34" charset="-122"/>
                <a:cs typeface="Arial" pitchFamily="34" charset="-120"/>
              </a:rPr>
              <a:t>Let’s open</a:t>
            </a:r>
            <a:endParaRPr lang="en-US" sz="4000" dirty="0"/>
          </a:p>
        </p:txBody>
      </p:sp>
      <p:sp>
        <p:nvSpPr>
          <p:cNvPr id="6" name="Text 3"/>
          <p:cNvSpPr txBox="1"/>
          <p:nvPr/>
        </p:nvSpPr>
        <p:spPr>
          <a:xfrm>
            <a:off x="457200" y="2926080"/>
            <a:ext cx="5669280" cy="822960"/>
          </a:xfrm>
          <a:prstGeom prst="rect">
            <a:avLst/>
          </a:prstGeom>
          <a:noFill/>
          <a:ln/>
        </p:spPr>
        <p:txBody>
          <a:bodyPr wrap="square" lIns="0" tIns="0" rIns="0" bIns="0" rtlCol="0" anchor="t"/>
          <a:lstStyle/>
          <a:p>
            <a:pPr marL="0" indent="0">
              <a:buNone/>
            </a:pPr>
            <a:r>
              <a:rPr lang="en-US" sz="4000" b="1" dirty="0">
                <a:solidFill>
                  <a:srgbClr val="F6921E"/>
                </a:solidFill>
                <a:latin typeface="Arial" pitchFamily="34" charset="0"/>
                <a:ea typeface="Arial" pitchFamily="34" charset="-122"/>
                <a:cs typeface="Arial" pitchFamily="34" charset="-120"/>
              </a:rPr>
              <a:t>the hood.</a:t>
            </a:r>
            <a:endParaRPr lang="en-US" sz="4000" dirty="0"/>
          </a:p>
        </p:txBody>
      </p:sp>
      <p:sp>
        <p:nvSpPr>
          <p:cNvPr id="7" name="Text 4"/>
          <p:cNvSpPr txBox="1"/>
          <p:nvPr/>
        </p:nvSpPr>
        <p:spPr>
          <a:xfrm>
            <a:off x="457200" y="3977640"/>
            <a:ext cx="4114800" cy="1097280"/>
          </a:xfrm>
          <a:prstGeom prst="rect">
            <a:avLst/>
          </a:prstGeom>
          <a:noFill/>
          <a:ln/>
        </p:spPr>
        <p:txBody>
          <a:bodyPr wrap="square" lIns="0" tIns="0" rIns="0" bIns="0" rtlCol="0" anchor="t"/>
          <a:lstStyle/>
          <a:p>
            <a:pPr marL="0" indent="0">
              <a:buNone/>
            </a:pPr>
            <a:r>
              <a:rPr lang="en-US" sz="1600" dirty="0">
                <a:solidFill>
                  <a:srgbClr val="E4DED8"/>
                </a:solidFill>
                <a:latin typeface="Arial" pitchFamily="34" charset="0"/>
                <a:ea typeface="Arial" pitchFamily="34" charset="-122"/>
                <a:cs typeface="Arial" pitchFamily="34" charset="-120"/>
              </a:rPr>
              <a:t>Four parts, one loop, and one decision about when to stop.</a:t>
            </a:r>
            <a:endParaRPr lang="en-US" sz="1600" dirty="0"/>
          </a:p>
        </p:txBody>
      </p:sp>
      <p:sp>
        <p:nvSpPr>
          <p:cNvPr id="8" name="Text 5"/>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BFB8B1"/>
                </a:solidFill>
                <a:latin typeface="Arial" pitchFamily="34" charset="0"/>
                <a:ea typeface="Arial" pitchFamily="34" charset="-122"/>
                <a:cs typeface="Arial" pitchFamily="34" charset="-120"/>
              </a:rPr>
              <a:t>All About Agents: A Church IT Reality Check   ·   CITN26</a:t>
            </a:r>
            <a:endParaRPr lang="en-US" sz="900" dirty="0"/>
          </a:p>
        </p:txBody>
      </p:sp>
      <p:sp>
        <p:nvSpPr>
          <p:cNvPr id="9" name="Text 6"/>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B8B1"/>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57276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57276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OPEN THE HOOD</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Every agent has four parts</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5</a:t>
            </a:r>
            <a:endParaRPr lang="en-US" sz="900" dirty="0"/>
          </a:p>
        </p:txBody>
      </p:sp>
      <p:sp>
        <p:nvSpPr>
          <p:cNvPr id="7" name="Shape 5"/>
          <p:cNvSpPr/>
          <p:nvPr/>
        </p:nvSpPr>
        <p:spPr>
          <a:xfrm>
            <a:off x="457200" y="1965960"/>
            <a:ext cx="2560320" cy="3383280"/>
          </a:xfrm>
          <a:prstGeom prst="roundRect">
            <a:avLst>
              <a:gd name="adj" fmla="val 4286"/>
            </a:avLst>
          </a:prstGeom>
          <a:solidFill>
            <a:srgbClr val="E4DED8"/>
          </a:solidFill>
          <a:ln w="12700">
            <a:solidFill>
              <a:srgbClr val="E4DED8"/>
            </a:solidFill>
            <a:prstDash val="solid"/>
          </a:ln>
        </p:spPr>
        <p:txBody>
          <a:bodyPr/>
          <a:lstStyle/>
          <a:p>
            <a:endParaRPr lang="en-US"/>
          </a:p>
        </p:txBody>
      </p:sp>
      <p:sp>
        <p:nvSpPr>
          <p:cNvPr id="8" name="Shape 6"/>
          <p:cNvSpPr/>
          <p:nvPr/>
        </p:nvSpPr>
        <p:spPr>
          <a:xfrm>
            <a:off x="1280160" y="2286000"/>
            <a:ext cx="914400" cy="914400"/>
          </a:xfrm>
          <a:prstGeom prst="ellipse">
            <a:avLst/>
          </a:prstGeom>
          <a:solidFill>
            <a:srgbClr val="F6921E"/>
          </a:solidFill>
          <a:ln w="12700">
            <a:solidFill>
              <a:srgbClr val="F6921E"/>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499616" y="2505456"/>
            <a:ext cx="475488" cy="475488"/>
          </a:xfrm>
          <a:prstGeom prst="rect">
            <a:avLst/>
          </a:prstGeom>
        </p:spPr>
      </p:pic>
      <p:sp>
        <p:nvSpPr>
          <p:cNvPr id="10" name="Text 7"/>
          <p:cNvSpPr txBox="1"/>
          <p:nvPr/>
        </p:nvSpPr>
        <p:spPr>
          <a:xfrm>
            <a:off x="685800" y="3429000"/>
            <a:ext cx="2103120" cy="365760"/>
          </a:xfrm>
          <a:prstGeom prst="rect">
            <a:avLst/>
          </a:prstGeom>
          <a:noFill/>
          <a:ln/>
        </p:spPr>
        <p:txBody>
          <a:bodyPr wrap="square" lIns="0" tIns="0" rIns="0" bIns="0" rtlCol="0" anchor="t"/>
          <a:lstStyle/>
          <a:p>
            <a:pPr marL="0" indent="0" algn="ctr">
              <a:buNone/>
            </a:pPr>
            <a:r>
              <a:rPr lang="en-US" sz="1700" b="1" dirty="0">
                <a:solidFill>
                  <a:srgbClr val="2D2926"/>
                </a:solidFill>
                <a:latin typeface="Arial" pitchFamily="34" charset="0"/>
                <a:ea typeface="Arial" pitchFamily="34" charset="-122"/>
                <a:cs typeface="Arial" pitchFamily="34" charset="-120"/>
              </a:rPr>
              <a:t>The model</a:t>
            </a:r>
            <a:endParaRPr lang="en-US" sz="1700" dirty="0"/>
          </a:p>
        </p:txBody>
      </p:sp>
      <p:sp>
        <p:nvSpPr>
          <p:cNvPr id="11" name="Text 8"/>
          <p:cNvSpPr txBox="1"/>
          <p:nvPr/>
        </p:nvSpPr>
        <p:spPr>
          <a:xfrm>
            <a:off x="685800" y="3886200"/>
            <a:ext cx="2103120" cy="1325880"/>
          </a:xfrm>
          <a:prstGeom prst="rect">
            <a:avLst/>
          </a:prstGeom>
          <a:noFill/>
          <a:ln/>
        </p:spPr>
        <p:txBody>
          <a:bodyPr wrap="square" lIns="0" tIns="0" rIns="0" bIns="0" rtlCol="0" anchor="t"/>
          <a:lstStyle/>
          <a:p>
            <a:pPr marL="0" indent="0" algn="ctr">
              <a:buNone/>
            </a:pPr>
            <a:r>
              <a:rPr lang="en-US" sz="1250" dirty="0">
                <a:solidFill>
                  <a:srgbClr val="5A544F"/>
                </a:solidFill>
                <a:latin typeface="Arial" pitchFamily="34" charset="0"/>
                <a:ea typeface="Arial" pitchFamily="34" charset="-122"/>
                <a:cs typeface="Arial" pitchFamily="34" charset="-120"/>
              </a:rPr>
              <a:t>Does the reasoning. Picks the next step based on the goal and what it has seen so far.</a:t>
            </a:r>
            <a:endParaRPr lang="en-US" sz="1250" dirty="0"/>
          </a:p>
        </p:txBody>
      </p:sp>
      <p:sp>
        <p:nvSpPr>
          <p:cNvPr id="12" name="Shape 9"/>
          <p:cNvSpPr/>
          <p:nvPr/>
        </p:nvSpPr>
        <p:spPr>
          <a:xfrm>
            <a:off x="3319272" y="1965960"/>
            <a:ext cx="2560320" cy="3383280"/>
          </a:xfrm>
          <a:prstGeom prst="roundRect">
            <a:avLst>
              <a:gd name="adj" fmla="val 4286"/>
            </a:avLst>
          </a:prstGeom>
          <a:solidFill>
            <a:srgbClr val="E4DED8"/>
          </a:solidFill>
          <a:ln w="12700">
            <a:solidFill>
              <a:srgbClr val="E4DED8"/>
            </a:solidFill>
            <a:prstDash val="solid"/>
          </a:ln>
        </p:spPr>
        <p:txBody>
          <a:bodyPr/>
          <a:lstStyle/>
          <a:p>
            <a:endParaRPr lang="en-US"/>
          </a:p>
        </p:txBody>
      </p:sp>
      <p:sp>
        <p:nvSpPr>
          <p:cNvPr id="13" name="Shape 10"/>
          <p:cNvSpPr/>
          <p:nvPr/>
        </p:nvSpPr>
        <p:spPr>
          <a:xfrm>
            <a:off x="4142232" y="2286000"/>
            <a:ext cx="914400" cy="914400"/>
          </a:xfrm>
          <a:prstGeom prst="ellipse">
            <a:avLst/>
          </a:prstGeom>
          <a:solidFill>
            <a:srgbClr val="F6921E"/>
          </a:solidFill>
          <a:ln w="12700">
            <a:solidFill>
              <a:srgbClr val="F6921E"/>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361688" y="2505456"/>
            <a:ext cx="475488" cy="475488"/>
          </a:xfrm>
          <a:prstGeom prst="rect">
            <a:avLst/>
          </a:prstGeom>
        </p:spPr>
      </p:pic>
      <p:sp>
        <p:nvSpPr>
          <p:cNvPr id="15" name="Text 11"/>
          <p:cNvSpPr txBox="1"/>
          <p:nvPr/>
        </p:nvSpPr>
        <p:spPr>
          <a:xfrm>
            <a:off x="3547872" y="3429000"/>
            <a:ext cx="2103120" cy="365760"/>
          </a:xfrm>
          <a:prstGeom prst="rect">
            <a:avLst/>
          </a:prstGeom>
          <a:noFill/>
          <a:ln/>
        </p:spPr>
        <p:txBody>
          <a:bodyPr wrap="square" lIns="0" tIns="0" rIns="0" bIns="0" rtlCol="0" anchor="t"/>
          <a:lstStyle/>
          <a:p>
            <a:pPr marL="0" indent="0" algn="ctr">
              <a:buNone/>
            </a:pPr>
            <a:r>
              <a:rPr lang="en-US" sz="1700" b="1" dirty="0">
                <a:solidFill>
                  <a:srgbClr val="2D2926"/>
                </a:solidFill>
                <a:latin typeface="Arial" pitchFamily="34" charset="0"/>
                <a:ea typeface="Arial" pitchFamily="34" charset="-122"/>
                <a:cs typeface="Arial" pitchFamily="34" charset="-120"/>
              </a:rPr>
              <a:t>Tools</a:t>
            </a:r>
            <a:endParaRPr lang="en-US" sz="1700" dirty="0"/>
          </a:p>
        </p:txBody>
      </p:sp>
      <p:sp>
        <p:nvSpPr>
          <p:cNvPr id="16" name="Text 12"/>
          <p:cNvSpPr txBox="1"/>
          <p:nvPr/>
        </p:nvSpPr>
        <p:spPr>
          <a:xfrm>
            <a:off x="3547872" y="3886200"/>
            <a:ext cx="2103120" cy="1325880"/>
          </a:xfrm>
          <a:prstGeom prst="rect">
            <a:avLst/>
          </a:prstGeom>
          <a:noFill/>
          <a:ln/>
        </p:spPr>
        <p:txBody>
          <a:bodyPr wrap="square" lIns="0" tIns="0" rIns="0" bIns="0" rtlCol="0" anchor="t"/>
          <a:lstStyle/>
          <a:p>
            <a:pPr marL="0" indent="0" algn="ctr">
              <a:buNone/>
            </a:pPr>
            <a:r>
              <a:rPr lang="en-US" sz="1250" dirty="0">
                <a:solidFill>
                  <a:srgbClr val="5A544F"/>
                </a:solidFill>
                <a:latin typeface="Arial" pitchFamily="34" charset="0"/>
                <a:ea typeface="Arial" pitchFamily="34" charset="-122"/>
                <a:cs typeface="Arial" pitchFamily="34" charset="-120"/>
              </a:rPr>
              <a:t>What it can do: query a table, send an email, create a record. No tools, no agent.</a:t>
            </a:r>
            <a:endParaRPr lang="en-US" sz="1250" dirty="0"/>
          </a:p>
        </p:txBody>
      </p:sp>
      <p:sp>
        <p:nvSpPr>
          <p:cNvPr id="17" name="Shape 13"/>
          <p:cNvSpPr/>
          <p:nvPr/>
        </p:nvSpPr>
        <p:spPr>
          <a:xfrm>
            <a:off x="6181344" y="1965960"/>
            <a:ext cx="2560320" cy="3383280"/>
          </a:xfrm>
          <a:prstGeom prst="roundRect">
            <a:avLst>
              <a:gd name="adj" fmla="val 4286"/>
            </a:avLst>
          </a:prstGeom>
          <a:solidFill>
            <a:srgbClr val="E4DED8"/>
          </a:solidFill>
          <a:ln w="12700">
            <a:solidFill>
              <a:srgbClr val="E4DED8"/>
            </a:solidFill>
            <a:prstDash val="solid"/>
          </a:ln>
        </p:spPr>
        <p:txBody>
          <a:bodyPr/>
          <a:lstStyle/>
          <a:p>
            <a:endParaRPr lang="en-US"/>
          </a:p>
        </p:txBody>
      </p:sp>
      <p:sp>
        <p:nvSpPr>
          <p:cNvPr id="18" name="Shape 14"/>
          <p:cNvSpPr/>
          <p:nvPr/>
        </p:nvSpPr>
        <p:spPr>
          <a:xfrm>
            <a:off x="7004304" y="2286000"/>
            <a:ext cx="914400" cy="914400"/>
          </a:xfrm>
          <a:prstGeom prst="ellipse">
            <a:avLst/>
          </a:prstGeom>
          <a:solidFill>
            <a:srgbClr val="F6921E"/>
          </a:solidFill>
          <a:ln w="12700">
            <a:solidFill>
              <a:srgbClr val="F6921E"/>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7223760" y="2505456"/>
            <a:ext cx="475488" cy="475488"/>
          </a:xfrm>
          <a:prstGeom prst="rect">
            <a:avLst/>
          </a:prstGeom>
        </p:spPr>
      </p:pic>
      <p:sp>
        <p:nvSpPr>
          <p:cNvPr id="20" name="Text 15"/>
          <p:cNvSpPr txBox="1"/>
          <p:nvPr/>
        </p:nvSpPr>
        <p:spPr>
          <a:xfrm>
            <a:off x="6409944" y="3429000"/>
            <a:ext cx="2103120" cy="365760"/>
          </a:xfrm>
          <a:prstGeom prst="rect">
            <a:avLst/>
          </a:prstGeom>
          <a:noFill/>
          <a:ln/>
        </p:spPr>
        <p:txBody>
          <a:bodyPr wrap="square" lIns="0" tIns="0" rIns="0" bIns="0" rtlCol="0" anchor="t"/>
          <a:lstStyle/>
          <a:p>
            <a:pPr marL="0" indent="0" algn="ctr">
              <a:buNone/>
            </a:pPr>
            <a:r>
              <a:rPr lang="en-US" sz="1700" b="1" dirty="0">
                <a:solidFill>
                  <a:srgbClr val="2D2926"/>
                </a:solidFill>
                <a:latin typeface="Arial" pitchFamily="34" charset="0"/>
                <a:ea typeface="Arial" pitchFamily="34" charset="-122"/>
                <a:cs typeface="Arial" pitchFamily="34" charset="-120"/>
              </a:rPr>
              <a:t>Context</a:t>
            </a:r>
            <a:endParaRPr lang="en-US" sz="1700" dirty="0"/>
          </a:p>
        </p:txBody>
      </p:sp>
      <p:sp>
        <p:nvSpPr>
          <p:cNvPr id="21" name="Text 16"/>
          <p:cNvSpPr txBox="1"/>
          <p:nvPr/>
        </p:nvSpPr>
        <p:spPr>
          <a:xfrm>
            <a:off x="6409944" y="3886200"/>
            <a:ext cx="2103120" cy="1325880"/>
          </a:xfrm>
          <a:prstGeom prst="rect">
            <a:avLst/>
          </a:prstGeom>
          <a:noFill/>
          <a:ln/>
        </p:spPr>
        <p:txBody>
          <a:bodyPr wrap="square" lIns="0" tIns="0" rIns="0" bIns="0" rtlCol="0" anchor="t"/>
          <a:lstStyle/>
          <a:p>
            <a:pPr marL="0" indent="0" algn="ctr">
              <a:buNone/>
            </a:pPr>
            <a:r>
              <a:rPr lang="en-US" sz="1250" dirty="0">
                <a:solidFill>
                  <a:srgbClr val="5A544F"/>
                </a:solidFill>
                <a:latin typeface="Arial" pitchFamily="34" charset="0"/>
                <a:ea typeface="Arial" pitchFamily="34" charset="-122"/>
                <a:cs typeface="Arial" pitchFamily="34" charset="-120"/>
              </a:rPr>
              <a:t>Everything it can see. It is the agent’s whole memory for the task, and its real limit.</a:t>
            </a:r>
            <a:endParaRPr lang="en-US" sz="1250" dirty="0"/>
          </a:p>
        </p:txBody>
      </p:sp>
      <p:sp>
        <p:nvSpPr>
          <p:cNvPr id="22" name="Shape 17"/>
          <p:cNvSpPr/>
          <p:nvPr/>
        </p:nvSpPr>
        <p:spPr>
          <a:xfrm>
            <a:off x="9043416" y="1965960"/>
            <a:ext cx="2560320" cy="3383280"/>
          </a:xfrm>
          <a:prstGeom prst="roundRect">
            <a:avLst>
              <a:gd name="adj" fmla="val 4286"/>
            </a:avLst>
          </a:prstGeom>
          <a:solidFill>
            <a:srgbClr val="2D2926"/>
          </a:solidFill>
          <a:ln w="12700">
            <a:solidFill>
              <a:srgbClr val="2D2926"/>
            </a:solidFill>
            <a:prstDash val="solid"/>
          </a:ln>
        </p:spPr>
        <p:txBody>
          <a:bodyPr/>
          <a:lstStyle/>
          <a:p>
            <a:endParaRPr lang="en-US"/>
          </a:p>
        </p:txBody>
      </p:sp>
      <p:sp>
        <p:nvSpPr>
          <p:cNvPr id="23" name="Shape 18"/>
          <p:cNvSpPr/>
          <p:nvPr/>
        </p:nvSpPr>
        <p:spPr>
          <a:xfrm>
            <a:off x="9866376" y="2286000"/>
            <a:ext cx="914400" cy="914400"/>
          </a:xfrm>
          <a:prstGeom prst="ellipse">
            <a:avLst/>
          </a:prstGeom>
          <a:solidFill>
            <a:srgbClr val="F6921E"/>
          </a:solidFill>
          <a:ln w="12700">
            <a:solidFill>
              <a:srgbClr val="F6921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10085832" y="2505456"/>
            <a:ext cx="475488" cy="475488"/>
          </a:xfrm>
          <a:prstGeom prst="rect">
            <a:avLst/>
          </a:prstGeom>
        </p:spPr>
      </p:pic>
      <p:sp>
        <p:nvSpPr>
          <p:cNvPr id="25" name="Text 19"/>
          <p:cNvSpPr txBox="1"/>
          <p:nvPr/>
        </p:nvSpPr>
        <p:spPr>
          <a:xfrm>
            <a:off x="9272016" y="3429000"/>
            <a:ext cx="2103120" cy="365760"/>
          </a:xfrm>
          <a:prstGeom prst="rect">
            <a:avLst/>
          </a:prstGeom>
          <a:noFill/>
          <a:ln/>
        </p:spPr>
        <p:txBody>
          <a:bodyPr wrap="square" lIns="0" tIns="0" rIns="0" bIns="0" rtlCol="0" anchor="t"/>
          <a:lstStyle/>
          <a:p>
            <a:pPr marL="0" indent="0" algn="ctr">
              <a:buNone/>
            </a:pPr>
            <a:r>
              <a:rPr lang="en-US" sz="1700" b="1" dirty="0">
                <a:solidFill>
                  <a:srgbClr val="FFFFFF"/>
                </a:solidFill>
                <a:latin typeface="Arial" pitchFamily="34" charset="0"/>
                <a:ea typeface="Arial" pitchFamily="34" charset="-122"/>
                <a:cs typeface="Arial" pitchFamily="34" charset="-120"/>
              </a:rPr>
              <a:t>Stopping condition</a:t>
            </a:r>
            <a:endParaRPr lang="en-US" sz="1700" dirty="0"/>
          </a:p>
        </p:txBody>
      </p:sp>
      <p:sp>
        <p:nvSpPr>
          <p:cNvPr id="26" name="Text 20"/>
          <p:cNvSpPr txBox="1"/>
          <p:nvPr/>
        </p:nvSpPr>
        <p:spPr>
          <a:xfrm>
            <a:off x="9272016" y="3886200"/>
            <a:ext cx="2103120" cy="1325880"/>
          </a:xfrm>
          <a:prstGeom prst="rect">
            <a:avLst/>
          </a:prstGeom>
          <a:noFill/>
          <a:ln/>
        </p:spPr>
        <p:txBody>
          <a:bodyPr wrap="square" lIns="0" tIns="0" rIns="0" bIns="0" rtlCol="0" anchor="t"/>
          <a:lstStyle/>
          <a:p>
            <a:pPr marL="0" indent="0" algn="ctr">
              <a:buNone/>
            </a:pPr>
            <a:r>
              <a:rPr lang="en-US" sz="1250" dirty="0">
                <a:solidFill>
                  <a:srgbClr val="E4DED8"/>
                </a:solidFill>
                <a:latin typeface="Arial" pitchFamily="34" charset="0"/>
                <a:ea typeface="Arial" pitchFamily="34" charset="-122"/>
                <a:cs typeface="Arial" pitchFamily="34" charset="-120"/>
              </a:rPr>
              <a:t>How it knows it’s done: goal met, budget hit, or a human is needed.</a:t>
            </a:r>
            <a:endParaRPr lang="en-US" sz="1250" dirty="0"/>
          </a:p>
        </p:txBody>
      </p:sp>
      <p:sp>
        <p:nvSpPr>
          <p:cNvPr id="27" name="Text 21"/>
          <p:cNvSpPr txBox="1"/>
          <p:nvPr/>
        </p:nvSpPr>
        <p:spPr>
          <a:xfrm>
            <a:off x="457200" y="5669280"/>
            <a:ext cx="10789920" cy="411480"/>
          </a:xfrm>
          <a:prstGeom prst="rect">
            <a:avLst/>
          </a:prstGeom>
          <a:noFill/>
          <a:ln/>
        </p:spPr>
        <p:txBody>
          <a:bodyPr wrap="square" lIns="0" tIns="0" rIns="0" bIns="0" rtlCol="0" anchor="t"/>
          <a:lstStyle/>
          <a:p>
            <a:pPr marL="0" indent="0">
              <a:buNone/>
            </a:pPr>
            <a:r>
              <a:rPr lang="en-US" sz="1400" i="1" dirty="0">
                <a:solidFill>
                  <a:srgbClr val="5A544F"/>
                </a:solidFill>
                <a:latin typeface="Arial" pitchFamily="34" charset="0"/>
                <a:ea typeface="Arial" pitchFamily="34" charset="-122"/>
                <a:cs typeface="Arial" pitchFamily="34" charset="-120"/>
              </a:rPr>
              <a:t>The best vendor question in the room: “How does it know it’s done?”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11556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11556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THE LOOP</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An agent is a loop that decides when to stop</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6</a:t>
            </a:r>
            <a:endParaRPr lang="en-US" sz="900" dirty="0"/>
          </a:p>
        </p:txBody>
      </p:sp>
      <p:sp>
        <p:nvSpPr>
          <p:cNvPr id="7" name="Text 5"/>
          <p:cNvSpPr txBox="1"/>
          <p:nvPr/>
        </p:nvSpPr>
        <p:spPr>
          <a:xfrm>
            <a:off x="457200" y="1874520"/>
            <a:ext cx="2286000" cy="274320"/>
          </a:xfrm>
          <a:prstGeom prst="rect">
            <a:avLst/>
          </a:prstGeom>
          <a:noFill/>
          <a:ln/>
        </p:spPr>
        <p:txBody>
          <a:bodyPr wrap="square" lIns="0" tIns="0" rIns="0" bIns="0" rtlCol="0" anchor="t"/>
          <a:lstStyle/>
          <a:p>
            <a:pPr marL="0" indent="0" algn="ctr">
              <a:buNone/>
            </a:pPr>
            <a:r>
              <a:rPr lang="en-US" sz="1150" dirty="0">
                <a:solidFill>
                  <a:srgbClr val="5A544F"/>
                </a:solidFill>
                <a:latin typeface="Arial" pitchFamily="34" charset="0"/>
                <a:ea typeface="Arial" pitchFamily="34" charset="-122"/>
                <a:cs typeface="Arial" pitchFamily="34" charset="-120"/>
              </a:rPr>
              <a:t>prompt, history, files</a:t>
            </a:r>
            <a:endParaRPr lang="en-US" sz="1150" dirty="0"/>
          </a:p>
        </p:txBody>
      </p:sp>
      <p:sp>
        <p:nvSpPr>
          <p:cNvPr id="8" name="Shape 6"/>
          <p:cNvSpPr/>
          <p:nvPr/>
        </p:nvSpPr>
        <p:spPr>
          <a:xfrm>
            <a:off x="457200" y="2240280"/>
            <a:ext cx="2286000" cy="822960"/>
          </a:xfrm>
          <a:prstGeom prst="roundRect">
            <a:avLst>
              <a:gd name="adj" fmla="val 13333"/>
            </a:avLst>
          </a:prstGeom>
          <a:solidFill>
            <a:srgbClr val="FFFFFF"/>
          </a:solidFill>
          <a:ln w="15875">
            <a:solidFill>
              <a:srgbClr val="5A544F"/>
            </a:solidFill>
            <a:prstDash val="solid"/>
          </a:ln>
        </p:spPr>
        <p:txBody>
          <a:bodyPr/>
          <a:lstStyle/>
          <a:p>
            <a:endParaRPr lang="en-US"/>
          </a:p>
        </p:txBody>
      </p:sp>
      <p:sp>
        <p:nvSpPr>
          <p:cNvPr id="9" name="Text 7"/>
          <p:cNvSpPr txBox="1"/>
          <p:nvPr/>
        </p:nvSpPr>
        <p:spPr>
          <a:xfrm>
            <a:off x="457200" y="2240280"/>
            <a:ext cx="2286000" cy="82296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Goal + context</a:t>
            </a:r>
            <a:endParaRPr lang="en-US" sz="1500" dirty="0"/>
          </a:p>
        </p:txBody>
      </p:sp>
      <p:sp>
        <p:nvSpPr>
          <p:cNvPr id="10" name="Shape 8"/>
          <p:cNvSpPr/>
          <p:nvPr/>
        </p:nvSpPr>
        <p:spPr>
          <a:xfrm>
            <a:off x="2788920" y="2651760"/>
            <a:ext cx="365760" cy="0"/>
          </a:xfrm>
          <a:prstGeom prst="line">
            <a:avLst/>
          </a:prstGeom>
          <a:noFill/>
          <a:ln w="19050">
            <a:solidFill>
              <a:srgbClr val="5A544F"/>
            </a:solidFill>
            <a:prstDash val="solid"/>
            <a:tailEnd type="triangle"/>
          </a:ln>
        </p:spPr>
        <p:txBody>
          <a:bodyPr/>
          <a:lstStyle/>
          <a:p>
            <a:endParaRPr lang="en-US"/>
          </a:p>
        </p:txBody>
      </p:sp>
      <p:sp>
        <p:nvSpPr>
          <p:cNvPr id="11" name="Text 9"/>
          <p:cNvSpPr txBox="1"/>
          <p:nvPr/>
        </p:nvSpPr>
        <p:spPr>
          <a:xfrm>
            <a:off x="3200400" y="1874520"/>
            <a:ext cx="2286000" cy="274320"/>
          </a:xfrm>
          <a:prstGeom prst="rect">
            <a:avLst/>
          </a:prstGeom>
          <a:noFill/>
          <a:ln/>
        </p:spPr>
        <p:txBody>
          <a:bodyPr wrap="square" lIns="0" tIns="0" rIns="0" bIns="0" rtlCol="0" anchor="t"/>
          <a:lstStyle/>
          <a:p>
            <a:pPr marL="0" indent="0" algn="ctr">
              <a:buNone/>
            </a:pPr>
            <a:r>
              <a:rPr lang="en-US" sz="1150" dirty="0">
                <a:solidFill>
                  <a:srgbClr val="5A544F"/>
                </a:solidFill>
                <a:latin typeface="Arial" pitchFamily="34" charset="0"/>
                <a:ea typeface="Arial" pitchFamily="34" charset="-122"/>
                <a:cs typeface="Arial" pitchFamily="34" charset="-120"/>
              </a:rPr>
              <a:t>the reasoning step</a:t>
            </a:r>
            <a:endParaRPr lang="en-US" sz="1150" dirty="0"/>
          </a:p>
        </p:txBody>
      </p:sp>
      <p:sp>
        <p:nvSpPr>
          <p:cNvPr id="12" name="Shape 10"/>
          <p:cNvSpPr/>
          <p:nvPr/>
        </p:nvSpPr>
        <p:spPr>
          <a:xfrm>
            <a:off x="3200400" y="2240280"/>
            <a:ext cx="2286000" cy="822960"/>
          </a:xfrm>
          <a:prstGeom prst="roundRect">
            <a:avLst>
              <a:gd name="adj" fmla="val 13333"/>
            </a:avLst>
          </a:prstGeom>
          <a:solidFill>
            <a:srgbClr val="FFFFFF"/>
          </a:solidFill>
          <a:ln w="15875">
            <a:solidFill>
              <a:srgbClr val="5A544F"/>
            </a:solidFill>
            <a:prstDash val="solid"/>
          </a:ln>
        </p:spPr>
        <p:txBody>
          <a:bodyPr/>
          <a:lstStyle/>
          <a:p>
            <a:endParaRPr lang="en-US"/>
          </a:p>
        </p:txBody>
      </p:sp>
      <p:sp>
        <p:nvSpPr>
          <p:cNvPr id="13" name="Text 11"/>
          <p:cNvSpPr txBox="1"/>
          <p:nvPr/>
        </p:nvSpPr>
        <p:spPr>
          <a:xfrm>
            <a:off x="3200400" y="2240280"/>
            <a:ext cx="2286000" cy="82296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Model picks a step</a:t>
            </a:r>
            <a:endParaRPr lang="en-US" sz="1500" dirty="0"/>
          </a:p>
        </p:txBody>
      </p:sp>
      <p:sp>
        <p:nvSpPr>
          <p:cNvPr id="14" name="Shape 12"/>
          <p:cNvSpPr/>
          <p:nvPr/>
        </p:nvSpPr>
        <p:spPr>
          <a:xfrm>
            <a:off x="5532120" y="2651760"/>
            <a:ext cx="365760" cy="0"/>
          </a:xfrm>
          <a:prstGeom prst="line">
            <a:avLst/>
          </a:prstGeom>
          <a:noFill/>
          <a:ln w="19050">
            <a:solidFill>
              <a:srgbClr val="5A544F"/>
            </a:solidFill>
            <a:prstDash val="solid"/>
            <a:tailEnd type="triangle"/>
          </a:ln>
        </p:spPr>
        <p:txBody>
          <a:bodyPr/>
          <a:lstStyle/>
          <a:p>
            <a:endParaRPr lang="en-US"/>
          </a:p>
        </p:txBody>
      </p:sp>
      <p:sp>
        <p:nvSpPr>
          <p:cNvPr id="15" name="Text 13"/>
          <p:cNvSpPr txBox="1"/>
          <p:nvPr/>
        </p:nvSpPr>
        <p:spPr>
          <a:xfrm>
            <a:off x="5943600" y="1874520"/>
            <a:ext cx="2286000" cy="274320"/>
          </a:xfrm>
          <a:prstGeom prst="rect">
            <a:avLst/>
          </a:prstGeom>
          <a:noFill/>
          <a:ln/>
        </p:spPr>
        <p:txBody>
          <a:bodyPr wrap="square" lIns="0" tIns="0" rIns="0" bIns="0" rtlCol="0" anchor="t"/>
          <a:lstStyle/>
          <a:p>
            <a:pPr marL="0" indent="0" algn="ctr">
              <a:buNone/>
            </a:pPr>
            <a:r>
              <a:rPr lang="en-US" sz="1150" dirty="0">
                <a:solidFill>
                  <a:srgbClr val="5A544F"/>
                </a:solidFill>
                <a:latin typeface="Arial" pitchFamily="34" charset="0"/>
                <a:ea typeface="Arial" pitchFamily="34" charset="-122"/>
                <a:cs typeface="Arial" pitchFamily="34" charset="-120"/>
              </a:rPr>
              <a:t>MCP, APIs, search</a:t>
            </a:r>
            <a:endParaRPr lang="en-US" sz="1150" dirty="0"/>
          </a:p>
        </p:txBody>
      </p:sp>
      <p:sp>
        <p:nvSpPr>
          <p:cNvPr id="16" name="Shape 14"/>
          <p:cNvSpPr/>
          <p:nvPr/>
        </p:nvSpPr>
        <p:spPr>
          <a:xfrm>
            <a:off x="5943600" y="2240280"/>
            <a:ext cx="2286000" cy="822960"/>
          </a:xfrm>
          <a:prstGeom prst="roundRect">
            <a:avLst>
              <a:gd name="adj" fmla="val 13333"/>
            </a:avLst>
          </a:prstGeom>
          <a:solidFill>
            <a:srgbClr val="FFFFFF"/>
          </a:solidFill>
          <a:ln w="15875">
            <a:solidFill>
              <a:srgbClr val="5A544F"/>
            </a:solidFill>
            <a:prstDash val="solid"/>
          </a:ln>
        </p:spPr>
        <p:txBody>
          <a:bodyPr/>
          <a:lstStyle/>
          <a:p>
            <a:endParaRPr lang="en-US"/>
          </a:p>
        </p:txBody>
      </p:sp>
      <p:sp>
        <p:nvSpPr>
          <p:cNvPr id="17" name="Text 15"/>
          <p:cNvSpPr txBox="1"/>
          <p:nvPr/>
        </p:nvSpPr>
        <p:spPr>
          <a:xfrm>
            <a:off x="5943600" y="2240280"/>
            <a:ext cx="2286000" cy="82296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Calls a tool</a:t>
            </a:r>
            <a:endParaRPr lang="en-US" sz="1500" dirty="0"/>
          </a:p>
        </p:txBody>
      </p:sp>
      <p:sp>
        <p:nvSpPr>
          <p:cNvPr id="18" name="Shape 16"/>
          <p:cNvSpPr/>
          <p:nvPr/>
        </p:nvSpPr>
        <p:spPr>
          <a:xfrm>
            <a:off x="8275320" y="2651760"/>
            <a:ext cx="365760" cy="0"/>
          </a:xfrm>
          <a:prstGeom prst="line">
            <a:avLst/>
          </a:prstGeom>
          <a:noFill/>
          <a:ln w="19050">
            <a:solidFill>
              <a:srgbClr val="5A544F"/>
            </a:solidFill>
            <a:prstDash val="solid"/>
            <a:tailEnd type="triangle"/>
          </a:ln>
        </p:spPr>
        <p:txBody>
          <a:bodyPr/>
          <a:lstStyle/>
          <a:p>
            <a:endParaRPr lang="en-US"/>
          </a:p>
        </p:txBody>
      </p:sp>
      <p:sp>
        <p:nvSpPr>
          <p:cNvPr id="19" name="Text 17"/>
          <p:cNvSpPr txBox="1"/>
          <p:nvPr/>
        </p:nvSpPr>
        <p:spPr>
          <a:xfrm>
            <a:off x="8686800" y="1874520"/>
            <a:ext cx="2286000" cy="274320"/>
          </a:xfrm>
          <a:prstGeom prst="rect">
            <a:avLst/>
          </a:prstGeom>
          <a:noFill/>
          <a:ln/>
        </p:spPr>
        <p:txBody>
          <a:bodyPr wrap="square" lIns="0" tIns="0" rIns="0" bIns="0" rtlCol="0" anchor="t"/>
          <a:lstStyle/>
          <a:p>
            <a:pPr marL="0" indent="0" algn="ctr">
              <a:buNone/>
            </a:pPr>
            <a:r>
              <a:rPr lang="en-US" sz="1150" dirty="0">
                <a:solidFill>
                  <a:srgbClr val="5A544F"/>
                </a:solidFill>
                <a:latin typeface="Arial" pitchFamily="34" charset="0"/>
                <a:ea typeface="Arial" pitchFamily="34" charset="-122"/>
                <a:cs typeface="Arial" pitchFamily="34" charset="-120"/>
              </a:rPr>
              <a:t>fed back into context</a:t>
            </a:r>
            <a:endParaRPr lang="en-US" sz="1150" dirty="0"/>
          </a:p>
        </p:txBody>
      </p:sp>
      <p:sp>
        <p:nvSpPr>
          <p:cNvPr id="20" name="Shape 18"/>
          <p:cNvSpPr/>
          <p:nvPr/>
        </p:nvSpPr>
        <p:spPr>
          <a:xfrm>
            <a:off x="8686800" y="2240280"/>
            <a:ext cx="2286000" cy="822960"/>
          </a:xfrm>
          <a:prstGeom prst="roundRect">
            <a:avLst>
              <a:gd name="adj" fmla="val 13333"/>
            </a:avLst>
          </a:prstGeom>
          <a:solidFill>
            <a:srgbClr val="FFFFFF"/>
          </a:solidFill>
          <a:ln w="15875">
            <a:solidFill>
              <a:srgbClr val="5A544F"/>
            </a:solidFill>
            <a:prstDash val="solid"/>
          </a:ln>
        </p:spPr>
        <p:txBody>
          <a:bodyPr/>
          <a:lstStyle/>
          <a:p>
            <a:endParaRPr lang="en-US"/>
          </a:p>
        </p:txBody>
      </p:sp>
      <p:sp>
        <p:nvSpPr>
          <p:cNvPr id="21" name="Text 19"/>
          <p:cNvSpPr txBox="1"/>
          <p:nvPr/>
        </p:nvSpPr>
        <p:spPr>
          <a:xfrm>
            <a:off x="8686800" y="2240280"/>
            <a:ext cx="2286000" cy="82296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Reads the result</a:t>
            </a:r>
            <a:endParaRPr lang="en-US" sz="1500" dirty="0"/>
          </a:p>
        </p:txBody>
      </p:sp>
      <p:sp>
        <p:nvSpPr>
          <p:cNvPr id="22" name="Shape 20"/>
          <p:cNvSpPr/>
          <p:nvPr/>
        </p:nvSpPr>
        <p:spPr>
          <a:xfrm>
            <a:off x="9829800" y="3063240"/>
            <a:ext cx="0" cy="457200"/>
          </a:xfrm>
          <a:prstGeom prst="line">
            <a:avLst/>
          </a:prstGeom>
          <a:noFill/>
          <a:ln w="19050">
            <a:solidFill>
              <a:srgbClr val="5A544F"/>
            </a:solidFill>
            <a:prstDash val="solid"/>
            <a:tailEnd type="triangle"/>
          </a:ln>
        </p:spPr>
        <p:txBody>
          <a:bodyPr/>
          <a:lstStyle/>
          <a:p>
            <a:endParaRPr lang="en-US"/>
          </a:p>
        </p:txBody>
      </p:sp>
      <p:sp>
        <p:nvSpPr>
          <p:cNvPr id="23" name="Shape 21"/>
          <p:cNvSpPr/>
          <p:nvPr/>
        </p:nvSpPr>
        <p:spPr>
          <a:xfrm>
            <a:off x="8686800" y="3520440"/>
            <a:ext cx="2286000" cy="1188720"/>
          </a:xfrm>
          <a:prstGeom prst="diamond">
            <a:avLst/>
          </a:prstGeom>
          <a:solidFill>
            <a:srgbClr val="FFFFFF"/>
          </a:solidFill>
          <a:ln w="15875">
            <a:solidFill>
              <a:srgbClr val="5A544F"/>
            </a:solidFill>
            <a:prstDash val="solid"/>
          </a:ln>
        </p:spPr>
        <p:txBody>
          <a:bodyPr/>
          <a:lstStyle/>
          <a:p>
            <a:endParaRPr lang="en-US"/>
          </a:p>
        </p:txBody>
      </p:sp>
      <p:sp>
        <p:nvSpPr>
          <p:cNvPr id="24" name="Text 22"/>
          <p:cNvSpPr txBox="1"/>
          <p:nvPr/>
        </p:nvSpPr>
        <p:spPr>
          <a:xfrm>
            <a:off x="8961120" y="3520440"/>
            <a:ext cx="1737360" cy="1188720"/>
          </a:xfrm>
          <a:prstGeom prst="rect">
            <a:avLst/>
          </a:prstGeom>
          <a:noFill/>
          <a:ln/>
        </p:spPr>
        <p:txBody>
          <a:bodyPr wrap="square" lIns="0" tIns="0" rIns="0" bIns="0" rtlCol="0" anchor="ctr"/>
          <a:lstStyle/>
          <a:p>
            <a:pPr marL="0" indent="0" algn="ctr">
              <a:buNone/>
            </a:pPr>
            <a:r>
              <a:rPr lang="en-US" sz="1250" b="1" dirty="0">
                <a:solidFill>
                  <a:srgbClr val="2D2926"/>
                </a:solidFill>
                <a:latin typeface="Arial" pitchFamily="34" charset="0"/>
                <a:ea typeface="Arial" pitchFamily="34" charset="-122"/>
                <a:cs typeface="Arial" pitchFamily="34" charset="-120"/>
              </a:rPr>
              <a:t>Goal met or budget hit?</a:t>
            </a:r>
            <a:endParaRPr lang="en-US" sz="1250" dirty="0"/>
          </a:p>
        </p:txBody>
      </p:sp>
      <p:sp>
        <p:nvSpPr>
          <p:cNvPr id="25" name="Shape 23"/>
          <p:cNvSpPr/>
          <p:nvPr/>
        </p:nvSpPr>
        <p:spPr>
          <a:xfrm>
            <a:off x="4343400" y="4114800"/>
            <a:ext cx="4343400" cy="0"/>
          </a:xfrm>
          <a:prstGeom prst="line">
            <a:avLst/>
          </a:prstGeom>
          <a:noFill/>
          <a:ln w="19050">
            <a:solidFill>
              <a:srgbClr val="5A544F"/>
            </a:solidFill>
            <a:prstDash val="solid"/>
          </a:ln>
        </p:spPr>
        <p:txBody>
          <a:bodyPr/>
          <a:lstStyle/>
          <a:p>
            <a:endParaRPr lang="en-US"/>
          </a:p>
        </p:txBody>
      </p:sp>
      <p:sp>
        <p:nvSpPr>
          <p:cNvPr id="26" name="Shape 24"/>
          <p:cNvSpPr/>
          <p:nvPr/>
        </p:nvSpPr>
        <p:spPr>
          <a:xfrm>
            <a:off x="4343400" y="3063240"/>
            <a:ext cx="0" cy="1051560"/>
          </a:xfrm>
          <a:prstGeom prst="line">
            <a:avLst/>
          </a:prstGeom>
          <a:noFill/>
          <a:ln w="19050">
            <a:solidFill>
              <a:srgbClr val="5A544F"/>
            </a:solidFill>
            <a:prstDash val="solid"/>
            <a:headEnd type="triangle"/>
          </a:ln>
        </p:spPr>
        <p:txBody>
          <a:bodyPr/>
          <a:lstStyle/>
          <a:p>
            <a:endParaRPr lang="en-US"/>
          </a:p>
        </p:txBody>
      </p:sp>
      <p:sp>
        <p:nvSpPr>
          <p:cNvPr id="27" name="Text 25"/>
          <p:cNvSpPr txBox="1"/>
          <p:nvPr/>
        </p:nvSpPr>
        <p:spPr>
          <a:xfrm>
            <a:off x="4754880" y="3749040"/>
            <a:ext cx="2377440" cy="27432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no: loop again</a:t>
            </a:r>
            <a:endParaRPr lang="en-US" sz="1200" dirty="0"/>
          </a:p>
        </p:txBody>
      </p:sp>
      <p:sp>
        <p:nvSpPr>
          <p:cNvPr id="28" name="Shape 26"/>
          <p:cNvSpPr/>
          <p:nvPr/>
        </p:nvSpPr>
        <p:spPr>
          <a:xfrm>
            <a:off x="9829800" y="4709160"/>
            <a:ext cx="0" cy="411480"/>
          </a:xfrm>
          <a:prstGeom prst="line">
            <a:avLst/>
          </a:prstGeom>
          <a:noFill/>
          <a:ln w="19050">
            <a:solidFill>
              <a:srgbClr val="5A544F"/>
            </a:solidFill>
            <a:prstDash val="solid"/>
            <a:tailEnd type="triangle"/>
          </a:ln>
        </p:spPr>
        <p:txBody>
          <a:bodyPr/>
          <a:lstStyle/>
          <a:p>
            <a:endParaRPr lang="en-US"/>
          </a:p>
        </p:txBody>
      </p:sp>
      <p:sp>
        <p:nvSpPr>
          <p:cNvPr id="29" name="Shape 27"/>
          <p:cNvSpPr/>
          <p:nvPr/>
        </p:nvSpPr>
        <p:spPr>
          <a:xfrm>
            <a:off x="8686800" y="5120640"/>
            <a:ext cx="2286000" cy="731520"/>
          </a:xfrm>
          <a:prstGeom prst="roundRect">
            <a:avLst>
              <a:gd name="adj" fmla="val 15000"/>
            </a:avLst>
          </a:prstGeom>
          <a:solidFill>
            <a:srgbClr val="F6921E"/>
          </a:solidFill>
          <a:ln w="12700">
            <a:solidFill>
              <a:srgbClr val="F6921E"/>
            </a:solidFill>
            <a:prstDash val="solid"/>
          </a:ln>
        </p:spPr>
        <p:txBody>
          <a:bodyPr/>
          <a:lstStyle/>
          <a:p>
            <a:endParaRPr lang="en-US"/>
          </a:p>
        </p:txBody>
      </p:sp>
      <p:sp>
        <p:nvSpPr>
          <p:cNvPr id="30" name="Text 28"/>
          <p:cNvSpPr txBox="1"/>
          <p:nvPr/>
        </p:nvSpPr>
        <p:spPr>
          <a:xfrm>
            <a:off x="8686800" y="5120640"/>
            <a:ext cx="2286000" cy="731520"/>
          </a:xfrm>
          <a:prstGeom prst="rect">
            <a:avLst/>
          </a:prstGeom>
          <a:noFill/>
          <a:ln/>
        </p:spPr>
        <p:txBody>
          <a:bodyPr wrap="square" lIns="0" tIns="0" rIns="0" bIns="0" rtlCol="0" anchor="ctr"/>
          <a:lstStyle/>
          <a:p>
            <a:pPr marL="0" indent="0" algn="ctr">
              <a:buNone/>
            </a:pPr>
            <a:r>
              <a:rPr lang="en-US" sz="1500" b="1" dirty="0">
                <a:solidFill>
                  <a:srgbClr val="2D2926"/>
                </a:solidFill>
                <a:latin typeface="Arial" pitchFamily="34" charset="0"/>
                <a:ea typeface="Arial" pitchFamily="34" charset="-122"/>
                <a:cs typeface="Arial" pitchFamily="34" charset="-120"/>
              </a:rPr>
              <a:t>Stop and report</a:t>
            </a:r>
            <a:endParaRPr lang="en-US" sz="1500" dirty="0"/>
          </a:p>
        </p:txBody>
      </p:sp>
      <p:sp>
        <p:nvSpPr>
          <p:cNvPr id="31" name="Text 29"/>
          <p:cNvSpPr txBox="1"/>
          <p:nvPr/>
        </p:nvSpPr>
        <p:spPr>
          <a:xfrm>
            <a:off x="6766560" y="4754880"/>
            <a:ext cx="1828800" cy="274320"/>
          </a:xfrm>
          <a:prstGeom prst="rect">
            <a:avLst/>
          </a:prstGeom>
          <a:noFill/>
          <a:ln/>
        </p:spPr>
        <p:txBody>
          <a:bodyPr wrap="square" lIns="0" tIns="0" rIns="0" bIns="0" rtlCol="0" anchor="t"/>
          <a:lstStyle/>
          <a:p>
            <a:pPr marL="0" indent="0" algn="r">
              <a:buNone/>
            </a:pPr>
            <a:r>
              <a:rPr lang="en-US" sz="1200" dirty="0">
                <a:solidFill>
                  <a:srgbClr val="5A544F"/>
                </a:solidFill>
                <a:latin typeface="Arial" pitchFamily="34" charset="0"/>
                <a:ea typeface="Arial" pitchFamily="34" charset="-122"/>
                <a:cs typeface="Arial" pitchFamily="34" charset="-120"/>
              </a:rPr>
              <a:t>yes, or needs a human</a:t>
            </a:r>
            <a:endParaRPr lang="en-US" sz="1200" dirty="0"/>
          </a:p>
        </p:txBody>
      </p:sp>
      <p:sp>
        <p:nvSpPr>
          <p:cNvPr id="32" name="Text 30"/>
          <p:cNvSpPr txBox="1"/>
          <p:nvPr/>
        </p:nvSpPr>
        <p:spPr>
          <a:xfrm>
            <a:off x="457200" y="4892040"/>
            <a:ext cx="5852160" cy="1005840"/>
          </a:xfrm>
          <a:prstGeom prst="rect">
            <a:avLst/>
          </a:prstGeom>
          <a:noFill/>
          <a:ln/>
        </p:spPr>
        <p:txBody>
          <a:bodyPr wrap="square" lIns="0" tIns="0" rIns="0" bIns="0" rtlCol="0" anchor="t"/>
          <a:lstStyle/>
          <a:p>
            <a:pPr marL="0" indent="0">
              <a:buNone/>
            </a:pPr>
            <a:r>
              <a:rPr lang="en-US" sz="1400" i="1" dirty="0">
                <a:solidFill>
                  <a:srgbClr val="5A544F"/>
                </a:solidFill>
                <a:latin typeface="Arial" pitchFamily="34" charset="0"/>
                <a:ea typeface="Arial" pitchFamily="34" charset="-122"/>
                <a:cs typeface="Arial" pitchFamily="34" charset="-120"/>
              </a:rPr>
              <a:t>Walk it once: “Who on the worship team hasn’t served since June?” Query, read, query schedules, stop and report.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285292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285292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THREE THINGS PEOPLE CONFUSE</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Chatbot, workflow, agent</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7</a:t>
            </a:r>
            <a:endParaRPr lang="en-US" sz="900" dirty="0"/>
          </a:p>
        </p:txBody>
      </p:sp>
      <p:sp>
        <p:nvSpPr>
          <p:cNvPr id="7" name="Shape 5"/>
          <p:cNvSpPr/>
          <p:nvPr/>
        </p:nvSpPr>
        <p:spPr>
          <a:xfrm>
            <a:off x="457200" y="1965960"/>
            <a:ext cx="3429000" cy="3291840"/>
          </a:xfrm>
          <a:prstGeom prst="roundRect">
            <a:avLst>
              <a:gd name="adj" fmla="val 3333"/>
            </a:avLst>
          </a:prstGeom>
          <a:solidFill>
            <a:srgbClr val="E4DED8"/>
          </a:solidFill>
          <a:ln w="12700">
            <a:solidFill>
              <a:srgbClr val="E4DED8"/>
            </a:solidFill>
            <a:prstDash val="solid"/>
          </a:ln>
        </p:spPr>
        <p:txBody>
          <a:bodyPr/>
          <a:lstStyle/>
          <a:p>
            <a:endParaRPr lang="en-US"/>
          </a:p>
        </p:txBody>
      </p:sp>
      <p:sp>
        <p:nvSpPr>
          <p:cNvPr id="8" name="Shape 6"/>
          <p:cNvSpPr/>
          <p:nvPr/>
        </p:nvSpPr>
        <p:spPr>
          <a:xfrm>
            <a:off x="777240" y="2240280"/>
            <a:ext cx="731520" cy="731520"/>
          </a:xfrm>
          <a:prstGeom prst="ellipse">
            <a:avLst/>
          </a:prstGeom>
          <a:solidFill>
            <a:srgbClr val="F6921E"/>
          </a:solidFill>
          <a:ln w="12700">
            <a:solidFill>
              <a:srgbClr val="F6921E"/>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952805" y="2415845"/>
            <a:ext cx="380390" cy="380390"/>
          </a:xfrm>
          <a:prstGeom prst="rect">
            <a:avLst/>
          </a:prstGeom>
        </p:spPr>
      </p:pic>
      <p:sp>
        <p:nvSpPr>
          <p:cNvPr id="10" name="Text 7"/>
          <p:cNvSpPr txBox="1"/>
          <p:nvPr/>
        </p:nvSpPr>
        <p:spPr>
          <a:xfrm>
            <a:off x="1691640" y="2240280"/>
            <a:ext cx="2011680" cy="731520"/>
          </a:xfrm>
          <a:prstGeom prst="rect">
            <a:avLst/>
          </a:prstGeom>
          <a:noFill/>
          <a:ln/>
        </p:spPr>
        <p:txBody>
          <a:bodyPr wrap="square" lIns="0" tIns="0" rIns="0" bIns="0" rtlCol="0" anchor="ctr"/>
          <a:lstStyle/>
          <a:p>
            <a:pPr marL="0" indent="0">
              <a:buNone/>
            </a:pPr>
            <a:r>
              <a:rPr lang="en-US" sz="2000" b="1" dirty="0">
                <a:solidFill>
                  <a:srgbClr val="2D2926"/>
                </a:solidFill>
                <a:latin typeface="Arial" pitchFamily="34" charset="0"/>
                <a:ea typeface="Arial" pitchFamily="34" charset="-122"/>
                <a:cs typeface="Arial" pitchFamily="34" charset="-120"/>
              </a:rPr>
              <a:t>Chatbot</a:t>
            </a:r>
            <a:endParaRPr lang="en-US" sz="2000" dirty="0"/>
          </a:p>
        </p:txBody>
      </p:sp>
      <p:sp>
        <p:nvSpPr>
          <p:cNvPr id="11" name="Text 8"/>
          <p:cNvSpPr txBox="1"/>
          <p:nvPr/>
        </p:nvSpPr>
        <p:spPr>
          <a:xfrm>
            <a:off x="777240" y="3200400"/>
            <a:ext cx="2788920" cy="1188720"/>
          </a:xfrm>
          <a:prstGeom prst="rect">
            <a:avLst/>
          </a:prstGeom>
          <a:noFill/>
          <a:ln/>
        </p:spPr>
        <p:txBody>
          <a:bodyPr wrap="square" lIns="0" tIns="0" rIns="0" bIns="0" rtlCol="0" anchor="t"/>
          <a:lstStyle/>
          <a:p>
            <a:pPr marL="0" indent="0">
              <a:buNone/>
            </a:pPr>
            <a:r>
              <a:rPr lang="en-US" sz="1400" dirty="0">
                <a:solidFill>
                  <a:srgbClr val="2D2926"/>
                </a:solidFill>
                <a:latin typeface="Arial" pitchFamily="34" charset="0"/>
                <a:ea typeface="Arial" pitchFamily="34" charset="-122"/>
                <a:cs typeface="Arial" pitchFamily="34" charset="-120"/>
              </a:rPr>
              <a:t>Answers one turn. No tools. Nothing happens in your systems.</a:t>
            </a:r>
            <a:endParaRPr lang="en-US" sz="1400" dirty="0"/>
          </a:p>
        </p:txBody>
      </p:sp>
      <p:sp>
        <p:nvSpPr>
          <p:cNvPr id="12" name="Text 9"/>
          <p:cNvSpPr txBox="1"/>
          <p:nvPr/>
        </p:nvSpPr>
        <p:spPr>
          <a:xfrm>
            <a:off x="777240" y="4663440"/>
            <a:ext cx="2788920" cy="320040"/>
          </a:xfrm>
          <a:prstGeom prst="rect">
            <a:avLst/>
          </a:prstGeom>
          <a:noFill/>
          <a:ln/>
        </p:spPr>
        <p:txBody>
          <a:bodyPr wrap="square" lIns="0" tIns="0" rIns="0" bIns="0" rtlCol="0" anchor="t"/>
          <a:lstStyle/>
          <a:p>
            <a:pPr marL="0" indent="0">
              <a:buNone/>
            </a:pPr>
            <a:r>
              <a:rPr lang="en-US" sz="1050" b="1" kern="0" spc="100" dirty="0">
                <a:solidFill>
                  <a:srgbClr val="5A544F"/>
                </a:solidFill>
                <a:latin typeface="Arial" pitchFamily="34" charset="0"/>
                <a:ea typeface="Arial" pitchFamily="34" charset="-122"/>
                <a:cs typeface="Arial" pitchFamily="34" charset="-120"/>
              </a:rPr>
              <a:t>E.G.  WEBSITE FAQ BOT</a:t>
            </a:r>
            <a:endParaRPr lang="en-US" sz="1050" dirty="0"/>
          </a:p>
        </p:txBody>
      </p:sp>
      <p:sp>
        <p:nvSpPr>
          <p:cNvPr id="13" name="Shape 10"/>
          <p:cNvSpPr/>
          <p:nvPr/>
        </p:nvSpPr>
        <p:spPr>
          <a:xfrm>
            <a:off x="4206240" y="1965960"/>
            <a:ext cx="3429000" cy="3291840"/>
          </a:xfrm>
          <a:prstGeom prst="roundRect">
            <a:avLst>
              <a:gd name="adj" fmla="val 3333"/>
            </a:avLst>
          </a:prstGeom>
          <a:solidFill>
            <a:srgbClr val="E4DED8"/>
          </a:solidFill>
          <a:ln w="12700">
            <a:solidFill>
              <a:srgbClr val="E4DED8"/>
            </a:solidFill>
            <a:prstDash val="solid"/>
          </a:ln>
        </p:spPr>
        <p:txBody>
          <a:bodyPr/>
          <a:lstStyle/>
          <a:p>
            <a:endParaRPr lang="en-US"/>
          </a:p>
        </p:txBody>
      </p:sp>
      <p:sp>
        <p:nvSpPr>
          <p:cNvPr id="14" name="Shape 11"/>
          <p:cNvSpPr/>
          <p:nvPr/>
        </p:nvSpPr>
        <p:spPr>
          <a:xfrm>
            <a:off x="4526280" y="2240280"/>
            <a:ext cx="731520" cy="731520"/>
          </a:xfrm>
          <a:prstGeom prst="ellipse">
            <a:avLst/>
          </a:prstGeom>
          <a:solidFill>
            <a:srgbClr val="F6921E"/>
          </a:solidFill>
          <a:ln w="12700">
            <a:solidFill>
              <a:srgbClr val="F6921E"/>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4701845" y="2415845"/>
            <a:ext cx="380390" cy="380390"/>
          </a:xfrm>
          <a:prstGeom prst="rect">
            <a:avLst/>
          </a:prstGeom>
        </p:spPr>
      </p:pic>
      <p:sp>
        <p:nvSpPr>
          <p:cNvPr id="16" name="Text 12"/>
          <p:cNvSpPr txBox="1"/>
          <p:nvPr/>
        </p:nvSpPr>
        <p:spPr>
          <a:xfrm>
            <a:off x="5440680" y="2240280"/>
            <a:ext cx="2011680" cy="731520"/>
          </a:xfrm>
          <a:prstGeom prst="rect">
            <a:avLst/>
          </a:prstGeom>
          <a:noFill/>
          <a:ln/>
        </p:spPr>
        <p:txBody>
          <a:bodyPr wrap="square" lIns="0" tIns="0" rIns="0" bIns="0" rtlCol="0" anchor="ctr"/>
          <a:lstStyle/>
          <a:p>
            <a:pPr marL="0" indent="0">
              <a:buNone/>
            </a:pPr>
            <a:r>
              <a:rPr lang="en-US" sz="2000" b="1" dirty="0">
                <a:solidFill>
                  <a:srgbClr val="2D2926"/>
                </a:solidFill>
                <a:latin typeface="Arial" pitchFamily="34" charset="0"/>
                <a:ea typeface="Arial" pitchFamily="34" charset="-122"/>
                <a:cs typeface="Arial" pitchFamily="34" charset="-120"/>
              </a:rPr>
              <a:t>Workflow</a:t>
            </a:r>
            <a:endParaRPr lang="en-US" sz="2000" dirty="0"/>
          </a:p>
        </p:txBody>
      </p:sp>
      <p:sp>
        <p:nvSpPr>
          <p:cNvPr id="17" name="Text 13"/>
          <p:cNvSpPr txBox="1"/>
          <p:nvPr/>
        </p:nvSpPr>
        <p:spPr>
          <a:xfrm>
            <a:off x="4526280" y="3200400"/>
            <a:ext cx="2788920" cy="1188720"/>
          </a:xfrm>
          <a:prstGeom prst="rect">
            <a:avLst/>
          </a:prstGeom>
          <a:noFill/>
          <a:ln/>
        </p:spPr>
        <p:txBody>
          <a:bodyPr wrap="square" lIns="0" tIns="0" rIns="0" bIns="0" rtlCol="0" anchor="t"/>
          <a:lstStyle/>
          <a:p>
            <a:pPr marL="0" indent="0">
              <a:buNone/>
            </a:pPr>
            <a:r>
              <a:rPr lang="en-US" sz="1400" dirty="0">
                <a:solidFill>
                  <a:srgbClr val="2D2926"/>
                </a:solidFill>
                <a:latin typeface="Arial" pitchFamily="34" charset="0"/>
                <a:ea typeface="Arial" pitchFamily="34" charset="-122"/>
                <a:cs typeface="Arial" pitchFamily="34" charset="-120"/>
              </a:rPr>
              <a:t>Runs steps a human designed in advance. Reliable, predictable, not intelligent.</a:t>
            </a:r>
            <a:endParaRPr lang="en-US" sz="1400" dirty="0"/>
          </a:p>
        </p:txBody>
      </p:sp>
      <p:sp>
        <p:nvSpPr>
          <p:cNvPr id="18" name="Text 14"/>
          <p:cNvSpPr txBox="1"/>
          <p:nvPr/>
        </p:nvSpPr>
        <p:spPr>
          <a:xfrm>
            <a:off x="4526280" y="4663440"/>
            <a:ext cx="2788920" cy="320040"/>
          </a:xfrm>
          <a:prstGeom prst="rect">
            <a:avLst/>
          </a:prstGeom>
          <a:noFill/>
          <a:ln/>
        </p:spPr>
        <p:txBody>
          <a:bodyPr wrap="square" lIns="0" tIns="0" rIns="0" bIns="0" rtlCol="0" anchor="t"/>
          <a:lstStyle/>
          <a:p>
            <a:pPr marL="0" indent="0">
              <a:buNone/>
            </a:pPr>
            <a:r>
              <a:rPr lang="en-US" sz="1050" b="1" kern="0" spc="100" dirty="0">
                <a:solidFill>
                  <a:srgbClr val="5A544F"/>
                </a:solidFill>
                <a:latin typeface="Arial" pitchFamily="34" charset="0"/>
                <a:ea typeface="Arial" pitchFamily="34" charset="-122"/>
                <a:cs typeface="Arial" pitchFamily="34" charset="-120"/>
              </a:rPr>
              <a:t>E.G.  ZAPIER ZAP, MP PROCESS</a:t>
            </a:r>
            <a:endParaRPr lang="en-US" sz="1050" dirty="0"/>
          </a:p>
        </p:txBody>
      </p:sp>
      <p:sp>
        <p:nvSpPr>
          <p:cNvPr id="19" name="Shape 15"/>
          <p:cNvSpPr/>
          <p:nvPr/>
        </p:nvSpPr>
        <p:spPr>
          <a:xfrm>
            <a:off x="7955280" y="1965960"/>
            <a:ext cx="3429000" cy="3291840"/>
          </a:xfrm>
          <a:prstGeom prst="roundRect">
            <a:avLst>
              <a:gd name="adj" fmla="val 3333"/>
            </a:avLst>
          </a:prstGeom>
          <a:solidFill>
            <a:srgbClr val="2D2926"/>
          </a:solidFill>
          <a:ln w="12700">
            <a:solidFill>
              <a:srgbClr val="2D2926"/>
            </a:solidFill>
            <a:prstDash val="solid"/>
          </a:ln>
        </p:spPr>
        <p:txBody>
          <a:bodyPr/>
          <a:lstStyle/>
          <a:p>
            <a:endParaRPr lang="en-US"/>
          </a:p>
        </p:txBody>
      </p:sp>
      <p:sp>
        <p:nvSpPr>
          <p:cNvPr id="20" name="Shape 16"/>
          <p:cNvSpPr/>
          <p:nvPr/>
        </p:nvSpPr>
        <p:spPr>
          <a:xfrm>
            <a:off x="8275320" y="2240280"/>
            <a:ext cx="731520" cy="731520"/>
          </a:xfrm>
          <a:prstGeom prst="ellipse">
            <a:avLst/>
          </a:prstGeom>
          <a:solidFill>
            <a:srgbClr val="F6921E"/>
          </a:solidFill>
          <a:ln w="12700">
            <a:solidFill>
              <a:srgbClr val="F6921E"/>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8450885" y="2415845"/>
            <a:ext cx="380390" cy="380390"/>
          </a:xfrm>
          <a:prstGeom prst="rect">
            <a:avLst/>
          </a:prstGeom>
        </p:spPr>
      </p:pic>
      <p:sp>
        <p:nvSpPr>
          <p:cNvPr id="22" name="Text 17"/>
          <p:cNvSpPr txBox="1"/>
          <p:nvPr/>
        </p:nvSpPr>
        <p:spPr>
          <a:xfrm>
            <a:off x="9189720" y="2240280"/>
            <a:ext cx="2011680" cy="73152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Agent</a:t>
            </a:r>
            <a:endParaRPr lang="en-US" sz="2000" dirty="0"/>
          </a:p>
        </p:txBody>
      </p:sp>
      <p:sp>
        <p:nvSpPr>
          <p:cNvPr id="23" name="Text 18"/>
          <p:cNvSpPr txBox="1"/>
          <p:nvPr/>
        </p:nvSpPr>
        <p:spPr>
          <a:xfrm>
            <a:off x="8275320" y="3200400"/>
            <a:ext cx="2788920" cy="1188720"/>
          </a:xfrm>
          <a:prstGeom prst="rect">
            <a:avLst/>
          </a:prstGeom>
          <a:noFill/>
          <a:ln/>
        </p:spPr>
        <p:txBody>
          <a:bodyPr wrap="square" lIns="0" tIns="0" rIns="0" bIns="0" rtlCol="0" anchor="t"/>
          <a:lstStyle/>
          <a:p>
            <a:pPr marL="0" indent="0">
              <a:buNone/>
            </a:pPr>
            <a:r>
              <a:rPr lang="en-US" sz="1400" dirty="0">
                <a:solidFill>
                  <a:srgbClr val="E4DED8"/>
                </a:solidFill>
                <a:latin typeface="Arial" pitchFamily="34" charset="0"/>
                <a:ea typeface="Arial" pitchFamily="34" charset="-122"/>
                <a:cs typeface="Arial" pitchFamily="34" charset="-120"/>
              </a:rPr>
              <a:t>Chooses its next step while it runs, using tools, until it decides to stop.</a:t>
            </a:r>
            <a:endParaRPr lang="en-US" sz="1400" dirty="0"/>
          </a:p>
        </p:txBody>
      </p:sp>
      <p:sp>
        <p:nvSpPr>
          <p:cNvPr id="24" name="Text 19"/>
          <p:cNvSpPr txBox="1"/>
          <p:nvPr/>
        </p:nvSpPr>
        <p:spPr>
          <a:xfrm>
            <a:off x="8275320" y="4663440"/>
            <a:ext cx="2788920" cy="320040"/>
          </a:xfrm>
          <a:prstGeom prst="rect">
            <a:avLst/>
          </a:prstGeom>
          <a:noFill/>
          <a:ln/>
        </p:spPr>
        <p:txBody>
          <a:bodyPr wrap="square" lIns="0" tIns="0" rIns="0" bIns="0" rtlCol="0" anchor="t"/>
          <a:lstStyle/>
          <a:p>
            <a:pPr marL="0" indent="0">
              <a:buNone/>
            </a:pPr>
            <a:r>
              <a:rPr lang="en-US" sz="1050" b="1" kern="0" spc="100" dirty="0">
                <a:solidFill>
                  <a:srgbClr val="F6921E"/>
                </a:solidFill>
                <a:latin typeface="Arial" pitchFamily="34" charset="0"/>
                <a:ea typeface="Arial" pitchFamily="34" charset="-122"/>
                <a:cs typeface="Arial" pitchFamily="34" charset="-120"/>
              </a:rPr>
              <a:t>E.G.  LAPSED-ATTENDER SWEEP</a:t>
            </a:r>
            <a:endParaRPr lang="en-US" sz="1050" dirty="0"/>
          </a:p>
        </p:txBody>
      </p:sp>
      <p:sp>
        <p:nvSpPr>
          <p:cNvPr id="25" name="Text 20"/>
          <p:cNvSpPr txBox="1"/>
          <p:nvPr/>
        </p:nvSpPr>
        <p:spPr>
          <a:xfrm>
            <a:off x="457200" y="5577840"/>
            <a:ext cx="10789920" cy="548640"/>
          </a:xfrm>
          <a:prstGeom prst="rect">
            <a:avLst/>
          </a:prstGeom>
          <a:noFill/>
          <a:ln/>
        </p:spPr>
        <p:txBody>
          <a:bodyPr wrap="square" lIns="0" tIns="0" rIns="0" bIns="0" rtlCol="0" anchor="t"/>
          <a:lstStyle/>
          <a:p>
            <a:pPr marL="0" indent="0">
              <a:buNone/>
            </a:pPr>
            <a:r>
              <a:rPr lang="en-US" sz="1400" i="1" dirty="0">
                <a:solidFill>
                  <a:srgbClr val="5A544F"/>
                </a:solidFill>
                <a:latin typeface="Arial" pitchFamily="34" charset="0"/>
                <a:ea typeface="Arial" pitchFamily="34" charset="-122"/>
                <a:cs typeface="Arial" pitchFamily="34" charset="-120"/>
              </a:rPr>
              <a:t>Workflows aren’t worse. If a fixed process works, keep it. Agents earn their cost when the path can’t be drawn in advance.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D2926"/>
        </a:solidFill>
        <a:effectLst/>
      </p:bgPr>
    </p:bg>
    <p:spTree>
      <p:nvGrpSpPr>
        <p:cNvPr id="1" name=""/>
        <p:cNvGrpSpPr/>
        <p:nvPr/>
      </p:nvGrpSpPr>
      <p:grpSpPr>
        <a:xfrm>
          <a:off x="0" y="0"/>
          <a:ext cx="0" cy="0"/>
          <a:chOff x="0" y="0"/>
          <a:chExt cx="0" cy="0"/>
        </a:xfrm>
      </p:grpSpPr>
      <p:sp>
        <p:nvSpPr>
          <p:cNvPr id="2" name="Shape 0"/>
          <p:cNvSpPr/>
          <p:nvPr/>
        </p:nvSpPr>
        <p:spPr>
          <a:xfrm>
            <a:off x="457200" y="411480"/>
            <a:ext cx="111556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11556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THE RULE</a:t>
            </a:r>
            <a:endParaRPr lang="en-US" sz="1100" dirty="0"/>
          </a:p>
        </p:txBody>
      </p:sp>
      <p:sp>
        <p:nvSpPr>
          <p:cNvPr id="4" name="Text 2"/>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BFB8B1"/>
                </a:solidFill>
                <a:latin typeface="Arial" pitchFamily="34" charset="0"/>
                <a:ea typeface="Arial" pitchFamily="34" charset="-122"/>
                <a:cs typeface="Arial" pitchFamily="34" charset="-120"/>
              </a:rPr>
              <a:t>All About Agents: A Church IT Reality Check   ·   CITN26</a:t>
            </a:r>
            <a:endParaRPr lang="en-US" sz="900" dirty="0"/>
          </a:p>
        </p:txBody>
      </p:sp>
      <p:sp>
        <p:nvSpPr>
          <p:cNvPr id="5" name="Text 3"/>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B8B1"/>
                </a:solidFill>
                <a:latin typeface="Arial" pitchFamily="34" charset="0"/>
                <a:ea typeface="Arial" pitchFamily="34" charset="-122"/>
                <a:cs typeface="Arial" pitchFamily="34" charset="-120"/>
              </a:rPr>
              <a:t>8</a:t>
            </a:r>
            <a:endParaRPr lang="en-US" sz="900" dirty="0"/>
          </a:p>
        </p:txBody>
      </p:sp>
      <p:pic>
        <p:nvPicPr>
          <p:cNvPr id="6" name="Image 0" descr="img/rule.png"/>
          <p:cNvPicPr>
            <a:picLocks noChangeAspect="1"/>
          </p:cNvPicPr>
          <p:nvPr/>
        </p:nvPicPr>
        <p:blipFill>
          <a:blip r:embed="rId3"/>
          <a:stretch>
            <a:fillRect/>
          </a:stretch>
        </p:blipFill>
        <p:spPr>
          <a:xfrm>
            <a:off x="7040880" y="1051560"/>
            <a:ext cx="4663440" cy="4663440"/>
          </a:xfrm>
          <a:prstGeom prst="rect">
            <a:avLst/>
          </a:prstGeom>
        </p:spPr>
      </p:pic>
      <p:sp>
        <p:nvSpPr>
          <p:cNvPr id="7" name="Text 4"/>
          <p:cNvSpPr txBox="1"/>
          <p:nvPr/>
        </p:nvSpPr>
        <p:spPr>
          <a:xfrm>
            <a:off x="457200" y="1371600"/>
            <a:ext cx="6126480" cy="1554480"/>
          </a:xfrm>
          <a:prstGeom prst="rect">
            <a:avLst/>
          </a:prstGeom>
          <a:noFill/>
          <a:ln/>
        </p:spPr>
        <p:txBody>
          <a:bodyPr wrap="square" lIns="0" tIns="0" rIns="0" bIns="0" rtlCol="0" anchor="b"/>
          <a:lstStyle/>
          <a:p>
            <a:pPr marL="0" indent="0">
              <a:buNone/>
            </a:pPr>
            <a:r>
              <a:rPr lang="en-US" sz="3000" b="1" dirty="0">
                <a:solidFill>
                  <a:srgbClr val="FFFFFF"/>
                </a:solidFill>
                <a:latin typeface="Arial" pitchFamily="34" charset="0"/>
                <a:ea typeface="Arial" pitchFamily="34" charset="-122"/>
                <a:cs typeface="Arial" pitchFamily="34" charset="-120"/>
              </a:rPr>
              <a:t>If a human drew every arrow in advance, it’s a workflow.</a:t>
            </a:r>
            <a:endParaRPr lang="en-US" sz="3000" dirty="0"/>
          </a:p>
        </p:txBody>
      </p:sp>
      <p:sp>
        <p:nvSpPr>
          <p:cNvPr id="8" name="Text 5"/>
          <p:cNvSpPr txBox="1"/>
          <p:nvPr/>
        </p:nvSpPr>
        <p:spPr>
          <a:xfrm>
            <a:off x="457200" y="3108960"/>
            <a:ext cx="6126480" cy="1554480"/>
          </a:xfrm>
          <a:prstGeom prst="rect">
            <a:avLst/>
          </a:prstGeom>
          <a:noFill/>
          <a:ln/>
        </p:spPr>
        <p:txBody>
          <a:bodyPr wrap="square" lIns="0" tIns="0" rIns="0" bIns="0" rtlCol="0" anchor="t"/>
          <a:lstStyle/>
          <a:p>
            <a:pPr marL="0" indent="0">
              <a:buNone/>
            </a:pPr>
            <a:r>
              <a:rPr lang="en-US" sz="3000" b="1" dirty="0">
                <a:solidFill>
                  <a:srgbClr val="F6921E"/>
                </a:solidFill>
                <a:latin typeface="Arial" pitchFamily="34" charset="0"/>
                <a:ea typeface="Arial" pitchFamily="34" charset="-122"/>
                <a:cs typeface="Arial" pitchFamily="34" charset="-120"/>
              </a:rPr>
              <a:t>If the model draws the arrows while it runs, it’s an agent.</a:t>
            </a:r>
            <a:endParaRPr lang="en-US" sz="3000" dirty="0"/>
          </a:p>
        </p:txBody>
      </p:sp>
      <p:sp>
        <p:nvSpPr>
          <p:cNvPr id="9" name="Text 6"/>
          <p:cNvSpPr txBox="1"/>
          <p:nvPr/>
        </p:nvSpPr>
        <p:spPr>
          <a:xfrm>
            <a:off x="457200" y="4892040"/>
            <a:ext cx="6126480" cy="548640"/>
          </a:xfrm>
          <a:prstGeom prst="rect">
            <a:avLst/>
          </a:prstGeom>
          <a:noFill/>
          <a:ln/>
        </p:spPr>
        <p:txBody>
          <a:bodyPr wrap="square" lIns="0" tIns="0" rIns="0" bIns="0" rtlCol="0" anchor="t"/>
          <a:lstStyle/>
          <a:p>
            <a:pPr marL="0" indent="0">
              <a:buNone/>
            </a:pPr>
            <a:r>
              <a:rPr lang="en-US" sz="1600" dirty="0">
                <a:solidFill>
                  <a:srgbClr val="E4DED8"/>
                </a:solidFill>
                <a:latin typeface="Arial" pitchFamily="34" charset="0"/>
                <a:ea typeface="Arial" pitchFamily="34" charset="-122"/>
                <a:cs typeface="Arial" pitchFamily="34" charset="-120"/>
              </a:rPr>
              <a:t>Everything else in this session hangs on that one distinction.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221284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221284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ONE MORE DISTINCTION</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Agent vs. autonomous agent</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9</a:t>
            </a:r>
            <a:endParaRPr lang="en-US" sz="900" dirty="0"/>
          </a:p>
        </p:txBody>
      </p:sp>
      <p:sp>
        <p:nvSpPr>
          <p:cNvPr id="7" name="Shape 5"/>
          <p:cNvSpPr/>
          <p:nvPr/>
        </p:nvSpPr>
        <p:spPr>
          <a:xfrm>
            <a:off x="457200" y="1828800"/>
            <a:ext cx="11247120" cy="1234440"/>
          </a:xfrm>
          <a:prstGeom prst="roundRect">
            <a:avLst>
              <a:gd name="adj" fmla="val 8889"/>
            </a:avLst>
          </a:prstGeom>
          <a:solidFill>
            <a:srgbClr val="E4DED8"/>
          </a:solidFill>
          <a:ln w="12700">
            <a:solidFill>
              <a:srgbClr val="E4DED8"/>
            </a:solidFill>
            <a:prstDash val="solid"/>
          </a:ln>
        </p:spPr>
        <p:txBody>
          <a:bodyPr/>
          <a:lstStyle/>
          <a:p>
            <a:endParaRPr lang="en-US"/>
          </a:p>
        </p:txBody>
      </p:sp>
      <p:sp>
        <p:nvSpPr>
          <p:cNvPr id="8" name="Text 6"/>
          <p:cNvSpPr txBox="1"/>
          <p:nvPr/>
        </p:nvSpPr>
        <p:spPr>
          <a:xfrm>
            <a:off x="731520" y="2084832"/>
            <a:ext cx="2194560" cy="411480"/>
          </a:xfrm>
          <a:prstGeom prst="rect">
            <a:avLst/>
          </a:prstGeom>
          <a:noFill/>
          <a:ln/>
        </p:spPr>
        <p:txBody>
          <a:bodyPr wrap="square" lIns="0" tIns="0" rIns="0" bIns="0" rtlCol="0" anchor="t"/>
          <a:lstStyle/>
          <a:p>
            <a:pPr marL="0" indent="0">
              <a:buNone/>
            </a:pPr>
            <a:r>
              <a:rPr lang="en-US" sz="1900" b="1" dirty="0">
                <a:solidFill>
                  <a:srgbClr val="2D2926"/>
                </a:solidFill>
                <a:latin typeface="Arial" pitchFamily="34" charset="0"/>
                <a:ea typeface="Arial" pitchFamily="34" charset="-122"/>
                <a:cs typeface="Arial" pitchFamily="34" charset="-120"/>
              </a:rPr>
              <a:t>Agent</a:t>
            </a:r>
            <a:endParaRPr lang="en-US" sz="1900" dirty="0"/>
          </a:p>
        </p:txBody>
      </p:sp>
      <p:sp>
        <p:nvSpPr>
          <p:cNvPr id="9" name="Text 7"/>
          <p:cNvSpPr txBox="1"/>
          <p:nvPr/>
        </p:nvSpPr>
        <p:spPr>
          <a:xfrm>
            <a:off x="731520" y="2514600"/>
            <a:ext cx="2194560" cy="320040"/>
          </a:xfrm>
          <a:prstGeom prst="rect">
            <a:avLst/>
          </a:prstGeom>
          <a:noFill/>
          <a:ln/>
        </p:spPr>
        <p:txBody>
          <a:bodyPr wrap="square" lIns="0" tIns="0" rIns="0" bIns="0" rtlCol="0" anchor="t"/>
          <a:lstStyle/>
          <a:p>
            <a:pPr marL="0" indent="0">
              <a:buNone/>
            </a:pPr>
            <a:r>
              <a:rPr lang="en-US" sz="1200" dirty="0">
                <a:solidFill>
                  <a:srgbClr val="5A544F"/>
                </a:solidFill>
                <a:latin typeface="Arial" pitchFamily="34" charset="0"/>
                <a:ea typeface="Arial" pitchFamily="34" charset="-122"/>
                <a:cs typeface="Arial" pitchFamily="34" charset="-120"/>
              </a:rPr>
              <a:t>On demand</a:t>
            </a:r>
            <a:endParaRPr lang="en-US" sz="1200" dirty="0"/>
          </a:p>
        </p:txBody>
      </p:sp>
      <p:sp>
        <p:nvSpPr>
          <p:cNvPr id="10" name="Shape 8"/>
          <p:cNvSpPr/>
          <p:nvPr/>
        </p:nvSpPr>
        <p:spPr>
          <a:xfrm>
            <a:off x="3108960" y="2011680"/>
            <a:ext cx="1828800" cy="566928"/>
          </a:xfrm>
          <a:prstGeom prst="roundRect">
            <a:avLst>
              <a:gd name="adj" fmla="val 16129"/>
            </a:avLst>
          </a:prstGeom>
          <a:solidFill>
            <a:srgbClr val="FFFFFF"/>
          </a:solidFill>
          <a:ln w="12700">
            <a:solidFill>
              <a:srgbClr val="E4DED8"/>
            </a:solidFill>
            <a:prstDash val="solid"/>
          </a:ln>
        </p:spPr>
        <p:txBody>
          <a:bodyPr/>
          <a:lstStyle/>
          <a:p>
            <a:endParaRPr lang="en-US"/>
          </a:p>
        </p:txBody>
      </p:sp>
      <p:sp>
        <p:nvSpPr>
          <p:cNvPr id="11" name="Text 9"/>
          <p:cNvSpPr txBox="1"/>
          <p:nvPr/>
        </p:nvSpPr>
        <p:spPr>
          <a:xfrm>
            <a:off x="3182112" y="2011680"/>
            <a:ext cx="1682496" cy="566928"/>
          </a:xfrm>
          <a:prstGeom prst="rect">
            <a:avLst/>
          </a:prstGeom>
          <a:noFill/>
          <a:ln/>
        </p:spPr>
        <p:txBody>
          <a:bodyPr wrap="square" lIns="0" tIns="0" rIns="0" bIns="0" rtlCol="0" anchor="ctr"/>
          <a:lstStyle/>
          <a:p>
            <a:pPr marL="0" indent="0" algn="ctr">
              <a:buNone/>
            </a:pPr>
            <a:r>
              <a:rPr lang="en-US" sz="1250" b="1" dirty="0">
                <a:solidFill>
                  <a:srgbClr val="2D2926"/>
                </a:solidFill>
                <a:latin typeface="Arial" pitchFamily="34" charset="0"/>
                <a:ea typeface="Arial" pitchFamily="34" charset="-122"/>
                <a:cs typeface="Arial" pitchFamily="34" charset="-120"/>
              </a:rPr>
              <a:t>You ask</a:t>
            </a:r>
            <a:endParaRPr lang="en-US" sz="1250" dirty="0"/>
          </a:p>
        </p:txBody>
      </p:sp>
      <p:sp>
        <p:nvSpPr>
          <p:cNvPr id="12" name="Shape 10"/>
          <p:cNvSpPr/>
          <p:nvPr/>
        </p:nvSpPr>
        <p:spPr>
          <a:xfrm>
            <a:off x="4974336" y="2295144"/>
            <a:ext cx="246888" cy="0"/>
          </a:xfrm>
          <a:prstGeom prst="line">
            <a:avLst/>
          </a:prstGeom>
          <a:noFill/>
          <a:ln w="19050">
            <a:solidFill>
              <a:srgbClr val="5A544F"/>
            </a:solidFill>
            <a:prstDash val="solid"/>
            <a:tailEnd type="triangle"/>
          </a:ln>
        </p:spPr>
        <p:txBody>
          <a:bodyPr/>
          <a:lstStyle/>
          <a:p>
            <a:endParaRPr lang="en-US"/>
          </a:p>
        </p:txBody>
      </p:sp>
      <p:sp>
        <p:nvSpPr>
          <p:cNvPr id="13" name="Shape 11"/>
          <p:cNvSpPr/>
          <p:nvPr/>
        </p:nvSpPr>
        <p:spPr>
          <a:xfrm>
            <a:off x="5257800" y="2011680"/>
            <a:ext cx="1828800" cy="566928"/>
          </a:xfrm>
          <a:prstGeom prst="roundRect">
            <a:avLst>
              <a:gd name="adj" fmla="val 16129"/>
            </a:avLst>
          </a:prstGeom>
          <a:solidFill>
            <a:srgbClr val="FFFFFF"/>
          </a:solidFill>
          <a:ln w="12700">
            <a:solidFill>
              <a:srgbClr val="E4DED8"/>
            </a:solidFill>
            <a:prstDash val="solid"/>
          </a:ln>
        </p:spPr>
        <p:txBody>
          <a:bodyPr/>
          <a:lstStyle/>
          <a:p>
            <a:endParaRPr lang="en-US"/>
          </a:p>
        </p:txBody>
      </p:sp>
      <p:sp>
        <p:nvSpPr>
          <p:cNvPr id="14" name="Text 12"/>
          <p:cNvSpPr txBox="1"/>
          <p:nvPr/>
        </p:nvSpPr>
        <p:spPr>
          <a:xfrm>
            <a:off x="5330952" y="2011680"/>
            <a:ext cx="1682496" cy="566928"/>
          </a:xfrm>
          <a:prstGeom prst="rect">
            <a:avLst/>
          </a:prstGeom>
          <a:noFill/>
          <a:ln/>
        </p:spPr>
        <p:txBody>
          <a:bodyPr wrap="square" lIns="0" tIns="0" rIns="0" bIns="0" rtlCol="0" anchor="ctr"/>
          <a:lstStyle/>
          <a:p>
            <a:pPr marL="0" indent="0" algn="ctr">
              <a:buNone/>
            </a:pPr>
            <a:r>
              <a:rPr lang="en-US" sz="1250" b="1" dirty="0">
                <a:solidFill>
                  <a:srgbClr val="2D2926"/>
                </a:solidFill>
                <a:latin typeface="Arial" pitchFamily="34" charset="0"/>
                <a:ea typeface="Arial" pitchFamily="34" charset="-122"/>
                <a:cs typeface="Arial" pitchFamily="34" charset="-120"/>
              </a:rPr>
              <a:t>Loop: plan, tool, read</a:t>
            </a:r>
            <a:endParaRPr lang="en-US" sz="1250" dirty="0"/>
          </a:p>
        </p:txBody>
      </p:sp>
      <p:sp>
        <p:nvSpPr>
          <p:cNvPr id="15" name="Shape 13"/>
          <p:cNvSpPr/>
          <p:nvPr/>
        </p:nvSpPr>
        <p:spPr>
          <a:xfrm>
            <a:off x="7123176" y="2295144"/>
            <a:ext cx="246888" cy="0"/>
          </a:xfrm>
          <a:prstGeom prst="line">
            <a:avLst/>
          </a:prstGeom>
          <a:noFill/>
          <a:ln w="19050">
            <a:solidFill>
              <a:srgbClr val="5A544F"/>
            </a:solidFill>
            <a:prstDash val="solid"/>
            <a:tailEnd type="triangle"/>
          </a:ln>
        </p:spPr>
        <p:txBody>
          <a:bodyPr/>
          <a:lstStyle/>
          <a:p>
            <a:endParaRPr lang="en-US"/>
          </a:p>
        </p:txBody>
      </p:sp>
      <p:sp>
        <p:nvSpPr>
          <p:cNvPr id="16" name="Shape 14"/>
          <p:cNvSpPr/>
          <p:nvPr/>
        </p:nvSpPr>
        <p:spPr>
          <a:xfrm>
            <a:off x="7406640" y="2011680"/>
            <a:ext cx="1828800" cy="566928"/>
          </a:xfrm>
          <a:prstGeom prst="roundRect">
            <a:avLst>
              <a:gd name="adj" fmla="val 16129"/>
            </a:avLst>
          </a:prstGeom>
          <a:solidFill>
            <a:srgbClr val="FFFFFF"/>
          </a:solidFill>
          <a:ln w="12700">
            <a:solidFill>
              <a:srgbClr val="E4DED8"/>
            </a:solidFill>
            <a:prstDash val="solid"/>
          </a:ln>
        </p:spPr>
        <p:txBody>
          <a:bodyPr/>
          <a:lstStyle/>
          <a:p>
            <a:endParaRPr lang="en-US"/>
          </a:p>
        </p:txBody>
      </p:sp>
      <p:sp>
        <p:nvSpPr>
          <p:cNvPr id="17" name="Text 15"/>
          <p:cNvSpPr txBox="1"/>
          <p:nvPr/>
        </p:nvSpPr>
        <p:spPr>
          <a:xfrm>
            <a:off x="7479792" y="2011680"/>
            <a:ext cx="1682496" cy="566928"/>
          </a:xfrm>
          <a:prstGeom prst="rect">
            <a:avLst/>
          </a:prstGeom>
          <a:noFill/>
          <a:ln/>
        </p:spPr>
        <p:txBody>
          <a:bodyPr wrap="square" lIns="0" tIns="0" rIns="0" bIns="0" rtlCol="0" anchor="ctr"/>
          <a:lstStyle/>
          <a:p>
            <a:pPr marL="0" indent="0" algn="ctr">
              <a:buNone/>
            </a:pPr>
            <a:r>
              <a:rPr lang="en-US" sz="1250" b="1" dirty="0">
                <a:solidFill>
                  <a:srgbClr val="2D2926"/>
                </a:solidFill>
                <a:latin typeface="Arial" pitchFamily="34" charset="0"/>
                <a:ea typeface="Arial" pitchFamily="34" charset="-122"/>
                <a:cs typeface="Arial" pitchFamily="34" charset="-120"/>
              </a:rPr>
              <a:t>Decides it’s done</a:t>
            </a:r>
            <a:endParaRPr lang="en-US" sz="1250" dirty="0"/>
          </a:p>
        </p:txBody>
      </p:sp>
      <p:sp>
        <p:nvSpPr>
          <p:cNvPr id="18" name="Shape 16"/>
          <p:cNvSpPr/>
          <p:nvPr/>
        </p:nvSpPr>
        <p:spPr>
          <a:xfrm>
            <a:off x="9272016" y="2295144"/>
            <a:ext cx="246888" cy="0"/>
          </a:xfrm>
          <a:prstGeom prst="line">
            <a:avLst/>
          </a:prstGeom>
          <a:noFill/>
          <a:ln w="19050">
            <a:solidFill>
              <a:srgbClr val="5A544F"/>
            </a:solidFill>
            <a:prstDash val="solid"/>
            <a:tailEnd type="triangle"/>
          </a:ln>
        </p:spPr>
        <p:txBody>
          <a:bodyPr/>
          <a:lstStyle/>
          <a:p>
            <a:endParaRPr lang="en-US"/>
          </a:p>
        </p:txBody>
      </p:sp>
      <p:sp>
        <p:nvSpPr>
          <p:cNvPr id="19" name="Shape 17"/>
          <p:cNvSpPr/>
          <p:nvPr/>
        </p:nvSpPr>
        <p:spPr>
          <a:xfrm>
            <a:off x="9555480" y="2011680"/>
            <a:ext cx="1828800" cy="566928"/>
          </a:xfrm>
          <a:prstGeom prst="roundRect">
            <a:avLst>
              <a:gd name="adj" fmla="val 16129"/>
            </a:avLst>
          </a:prstGeom>
          <a:solidFill>
            <a:srgbClr val="F6921E"/>
          </a:solidFill>
          <a:ln w="12700">
            <a:solidFill>
              <a:srgbClr val="F6921E"/>
            </a:solidFill>
            <a:prstDash val="solid"/>
          </a:ln>
        </p:spPr>
        <p:txBody>
          <a:bodyPr/>
          <a:lstStyle/>
          <a:p>
            <a:endParaRPr lang="en-US"/>
          </a:p>
        </p:txBody>
      </p:sp>
      <p:sp>
        <p:nvSpPr>
          <p:cNvPr id="20" name="Text 18"/>
          <p:cNvSpPr txBox="1"/>
          <p:nvPr/>
        </p:nvSpPr>
        <p:spPr>
          <a:xfrm>
            <a:off x="9628632" y="2011680"/>
            <a:ext cx="1682496" cy="566928"/>
          </a:xfrm>
          <a:prstGeom prst="rect">
            <a:avLst/>
          </a:prstGeom>
          <a:noFill/>
          <a:ln/>
        </p:spPr>
        <p:txBody>
          <a:bodyPr wrap="square" lIns="0" tIns="0" rIns="0" bIns="0" rtlCol="0" anchor="ctr"/>
          <a:lstStyle/>
          <a:p>
            <a:pPr marL="0" indent="0" algn="ctr">
              <a:buNone/>
            </a:pPr>
            <a:r>
              <a:rPr lang="en-US" sz="1250" b="1" dirty="0">
                <a:solidFill>
                  <a:srgbClr val="2D2926"/>
                </a:solidFill>
                <a:latin typeface="Arial" pitchFamily="34" charset="0"/>
                <a:ea typeface="Arial" pitchFamily="34" charset="-122"/>
                <a:cs typeface="Arial" pitchFamily="34" charset="-120"/>
              </a:rPr>
              <a:t>Reports back</a:t>
            </a:r>
            <a:endParaRPr lang="en-US" sz="1250" dirty="0"/>
          </a:p>
        </p:txBody>
      </p:sp>
      <p:sp>
        <p:nvSpPr>
          <p:cNvPr id="21" name="Shape 19"/>
          <p:cNvSpPr/>
          <p:nvPr/>
        </p:nvSpPr>
        <p:spPr>
          <a:xfrm>
            <a:off x="457200" y="3246120"/>
            <a:ext cx="11247120" cy="1234440"/>
          </a:xfrm>
          <a:prstGeom prst="roundRect">
            <a:avLst>
              <a:gd name="adj" fmla="val 8889"/>
            </a:avLst>
          </a:prstGeom>
          <a:solidFill>
            <a:srgbClr val="2D2926"/>
          </a:solidFill>
          <a:ln w="12700">
            <a:solidFill>
              <a:srgbClr val="2D2926"/>
            </a:solidFill>
            <a:prstDash val="solid"/>
          </a:ln>
        </p:spPr>
        <p:txBody>
          <a:bodyPr/>
          <a:lstStyle/>
          <a:p>
            <a:endParaRPr lang="en-US"/>
          </a:p>
        </p:txBody>
      </p:sp>
      <p:sp>
        <p:nvSpPr>
          <p:cNvPr id="22" name="Text 20"/>
          <p:cNvSpPr txBox="1"/>
          <p:nvPr/>
        </p:nvSpPr>
        <p:spPr>
          <a:xfrm>
            <a:off x="731520" y="3502152"/>
            <a:ext cx="2194560" cy="411480"/>
          </a:xfrm>
          <a:prstGeom prst="rect">
            <a:avLst/>
          </a:prstGeom>
          <a:noFill/>
          <a:ln/>
        </p:spPr>
        <p:txBody>
          <a:bodyPr wrap="square" lIns="0" tIns="0" rIns="0" bIns="0" rtlCol="0" anchor="t"/>
          <a:lstStyle/>
          <a:p>
            <a:pPr marL="0" indent="0">
              <a:buNone/>
            </a:pPr>
            <a:r>
              <a:rPr lang="en-US" sz="1900" b="1" dirty="0">
                <a:solidFill>
                  <a:srgbClr val="FFFFFF"/>
                </a:solidFill>
                <a:latin typeface="Arial" pitchFamily="34" charset="0"/>
                <a:ea typeface="Arial" pitchFamily="34" charset="-122"/>
                <a:cs typeface="Arial" pitchFamily="34" charset="-120"/>
              </a:rPr>
              <a:t>Autonomous agent</a:t>
            </a:r>
            <a:endParaRPr lang="en-US" sz="1900" dirty="0"/>
          </a:p>
        </p:txBody>
      </p:sp>
      <p:sp>
        <p:nvSpPr>
          <p:cNvPr id="23" name="Text 21"/>
          <p:cNvSpPr txBox="1"/>
          <p:nvPr/>
        </p:nvSpPr>
        <p:spPr>
          <a:xfrm>
            <a:off x="731520" y="3931920"/>
            <a:ext cx="2194560" cy="320040"/>
          </a:xfrm>
          <a:prstGeom prst="rect">
            <a:avLst/>
          </a:prstGeom>
          <a:noFill/>
          <a:ln/>
        </p:spPr>
        <p:txBody>
          <a:bodyPr wrap="square" lIns="0" tIns="0" rIns="0" bIns="0" rtlCol="0" anchor="t"/>
          <a:lstStyle/>
          <a:p>
            <a:pPr marL="0" indent="0">
              <a:buNone/>
            </a:pPr>
            <a:r>
              <a:rPr lang="en-US" sz="1200" dirty="0">
                <a:solidFill>
                  <a:srgbClr val="F6921E"/>
                </a:solidFill>
                <a:latin typeface="Arial" pitchFamily="34" charset="0"/>
                <a:ea typeface="Arial" pitchFamily="34" charset="-122"/>
                <a:cs typeface="Arial" pitchFamily="34" charset="-120"/>
              </a:rPr>
              <a:t>Always on</a:t>
            </a:r>
            <a:endParaRPr lang="en-US" sz="1200" dirty="0"/>
          </a:p>
        </p:txBody>
      </p:sp>
      <p:sp>
        <p:nvSpPr>
          <p:cNvPr id="24" name="Shape 22"/>
          <p:cNvSpPr/>
          <p:nvPr/>
        </p:nvSpPr>
        <p:spPr>
          <a:xfrm>
            <a:off x="3108960" y="3429000"/>
            <a:ext cx="1828800" cy="566928"/>
          </a:xfrm>
          <a:prstGeom prst="roundRect">
            <a:avLst>
              <a:gd name="adj" fmla="val 16129"/>
            </a:avLst>
          </a:prstGeom>
          <a:solidFill>
            <a:srgbClr val="5A544F"/>
          </a:solidFill>
          <a:ln w="12700">
            <a:solidFill>
              <a:srgbClr val="5A544F"/>
            </a:solidFill>
            <a:prstDash val="solid"/>
          </a:ln>
        </p:spPr>
        <p:txBody>
          <a:bodyPr/>
          <a:lstStyle/>
          <a:p>
            <a:endParaRPr lang="en-US"/>
          </a:p>
        </p:txBody>
      </p:sp>
      <p:sp>
        <p:nvSpPr>
          <p:cNvPr id="25" name="Text 23"/>
          <p:cNvSpPr txBox="1"/>
          <p:nvPr/>
        </p:nvSpPr>
        <p:spPr>
          <a:xfrm>
            <a:off x="3182112" y="3429000"/>
            <a:ext cx="1682496"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Schedule or event fires</a:t>
            </a:r>
            <a:endParaRPr lang="en-US" sz="1250" dirty="0"/>
          </a:p>
        </p:txBody>
      </p:sp>
      <p:sp>
        <p:nvSpPr>
          <p:cNvPr id="26" name="Shape 24"/>
          <p:cNvSpPr/>
          <p:nvPr/>
        </p:nvSpPr>
        <p:spPr>
          <a:xfrm>
            <a:off x="4974336" y="3712464"/>
            <a:ext cx="246888" cy="0"/>
          </a:xfrm>
          <a:prstGeom prst="line">
            <a:avLst/>
          </a:prstGeom>
          <a:noFill/>
          <a:ln w="19050">
            <a:solidFill>
              <a:srgbClr val="E4DED8"/>
            </a:solidFill>
            <a:prstDash val="solid"/>
            <a:tailEnd type="triangle"/>
          </a:ln>
        </p:spPr>
        <p:txBody>
          <a:bodyPr/>
          <a:lstStyle/>
          <a:p>
            <a:endParaRPr lang="en-US"/>
          </a:p>
        </p:txBody>
      </p:sp>
      <p:sp>
        <p:nvSpPr>
          <p:cNvPr id="27" name="Shape 25"/>
          <p:cNvSpPr/>
          <p:nvPr/>
        </p:nvSpPr>
        <p:spPr>
          <a:xfrm>
            <a:off x="5257800" y="3429000"/>
            <a:ext cx="1828800" cy="566928"/>
          </a:xfrm>
          <a:prstGeom prst="roundRect">
            <a:avLst>
              <a:gd name="adj" fmla="val 16129"/>
            </a:avLst>
          </a:prstGeom>
          <a:solidFill>
            <a:srgbClr val="5A544F"/>
          </a:solidFill>
          <a:ln w="12700">
            <a:solidFill>
              <a:srgbClr val="5A544F"/>
            </a:solidFill>
            <a:prstDash val="solid"/>
          </a:ln>
        </p:spPr>
        <p:txBody>
          <a:bodyPr/>
          <a:lstStyle/>
          <a:p>
            <a:endParaRPr lang="en-US"/>
          </a:p>
        </p:txBody>
      </p:sp>
      <p:sp>
        <p:nvSpPr>
          <p:cNvPr id="28" name="Text 26"/>
          <p:cNvSpPr txBox="1"/>
          <p:nvPr/>
        </p:nvSpPr>
        <p:spPr>
          <a:xfrm>
            <a:off x="5330952" y="3429000"/>
            <a:ext cx="1682496"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Loop: plan, tool, read</a:t>
            </a:r>
            <a:endParaRPr lang="en-US" sz="1250" dirty="0"/>
          </a:p>
        </p:txBody>
      </p:sp>
      <p:sp>
        <p:nvSpPr>
          <p:cNvPr id="29" name="Shape 27"/>
          <p:cNvSpPr/>
          <p:nvPr/>
        </p:nvSpPr>
        <p:spPr>
          <a:xfrm>
            <a:off x="7123176" y="3712464"/>
            <a:ext cx="246888" cy="0"/>
          </a:xfrm>
          <a:prstGeom prst="line">
            <a:avLst/>
          </a:prstGeom>
          <a:noFill/>
          <a:ln w="19050">
            <a:solidFill>
              <a:srgbClr val="E4DED8"/>
            </a:solidFill>
            <a:prstDash val="solid"/>
            <a:tailEnd type="triangle"/>
          </a:ln>
        </p:spPr>
        <p:txBody>
          <a:bodyPr/>
          <a:lstStyle/>
          <a:p>
            <a:endParaRPr lang="en-US"/>
          </a:p>
        </p:txBody>
      </p:sp>
      <p:sp>
        <p:nvSpPr>
          <p:cNvPr id="30" name="Shape 28"/>
          <p:cNvSpPr/>
          <p:nvPr/>
        </p:nvSpPr>
        <p:spPr>
          <a:xfrm>
            <a:off x="7406640" y="3429000"/>
            <a:ext cx="1828800" cy="566928"/>
          </a:xfrm>
          <a:prstGeom prst="roundRect">
            <a:avLst>
              <a:gd name="adj" fmla="val 16129"/>
            </a:avLst>
          </a:prstGeom>
          <a:solidFill>
            <a:srgbClr val="5A544F"/>
          </a:solidFill>
          <a:ln w="12700">
            <a:solidFill>
              <a:srgbClr val="5A544F"/>
            </a:solidFill>
            <a:prstDash val="solid"/>
          </a:ln>
        </p:spPr>
        <p:txBody>
          <a:bodyPr/>
          <a:lstStyle/>
          <a:p>
            <a:endParaRPr lang="en-US"/>
          </a:p>
        </p:txBody>
      </p:sp>
      <p:sp>
        <p:nvSpPr>
          <p:cNvPr id="31" name="Text 29"/>
          <p:cNvSpPr txBox="1"/>
          <p:nvPr/>
        </p:nvSpPr>
        <p:spPr>
          <a:xfrm>
            <a:off x="7479792" y="3429000"/>
            <a:ext cx="1682496" cy="56692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Acts and remembers</a:t>
            </a:r>
            <a:endParaRPr lang="en-US" sz="1250" dirty="0"/>
          </a:p>
        </p:txBody>
      </p:sp>
      <p:sp>
        <p:nvSpPr>
          <p:cNvPr id="32" name="Shape 30"/>
          <p:cNvSpPr/>
          <p:nvPr/>
        </p:nvSpPr>
        <p:spPr>
          <a:xfrm>
            <a:off x="9272016" y="3712464"/>
            <a:ext cx="246888" cy="0"/>
          </a:xfrm>
          <a:prstGeom prst="line">
            <a:avLst/>
          </a:prstGeom>
          <a:noFill/>
          <a:ln w="19050">
            <a:solidFill>
              <a:srgbClr val="E4DED8"/>
            </a:solidFill>
            <a:prstDash val="solid"/>
            <a:tailEnd type="triangle"/>
          </a:ln>
        </p:spPr>
        <p:txBody>
          <a:bodyPr/>
          <a:lstStyle/>
          <a:p>
            <a:endParaRPr lang="en-US"/>
          </a:p>
        </p:txBody>
      </p:sp>
      <p:sp>
        <p:nvSpPr>
          <p:cNvPr id="33" name="Shape 31"/>
          <p:cNvSpPr/>
          <p:nvPr/>
        </p:nvSpPr>
        <p:spPr>
          <a:xfrm>
            <a:off x="9555480" y="3429000"/>
            <a:ext cx="1828800" cy="566928"/>
          </a:xfrm>
          <a:prstGeom prst="roundRect">
            <a:avLst>
              <a:gd name="adj" fmla="val 16129"/>
            </a:avLst>
          </a:prstGeom>
          <a:solidFill>
            <a:srgbClr val="F6921E"/>
          </a:solidFill>
          <a:ln w="12700">
            <a:solidFill>
              <a:srgbClr val="F6921E"/>
            </a:solidFill>
            <a:prstDash val="solid"/>
          </a:ln>
        </p:spPr>
        <p:txBody>
          <a:bodyPr/>
          <a:lstStyle/>
          <a:p>
            <a:endParaRPr lang="en-US"/>
          </a:p>
        </p:txBody>
      </p:sp>
      <p:sp>
        <p:nvSpPr>
          <p:cNvPr id="34" name="Text 32"/>
          <p:cNvSpPr txBox="1"/>
          <p:nvPr/>
        </p:nvSpPr>
        <p:spPr>
          <a:xfrm>
            <a:off x="9628632" y="3429000"/>
            <a:ext cx="1682496" cy="566928"/>
          </a:xfrm>
          <a:prstGeom prst="rect">
            <a:avLst/>
          </a:prstGeom>
          <a:noFill/>
          <a:ln/>
        </p:spPr>
        <p:txBody>
          <a:bodyPr wrap="square" lIns="0" tIns="0" rIns="0" bIns="0" rtlCol="0" anchor="ctr"/>
          <a:lstStyle/>
          <a:p>
            <a:pPr marL="0" indent="0" algn="ctr">
              <a:buNone/>
            </a:pPr>
            <a:r>
              <a:rPr lang="en-US" sz="1250" b="1" dirty="0">
                <a:solidFill>
                  <a:srgbClr val="2D2926"/>
                </a:solidFill>
                <a:latin typeface="Arial" pitchFamily="34" charset="0"/>
                <a:ea typeface="Arial" pitchFamily="34" charset="-122"/>
                <a:cs typeface="Arial" pitchFamily="34" charset="-120"/>
              </a:rPr>
              <a:t>Waits for the next one</a:t>
            </a:r>
            <a:endParaRPr lang="en-US" sz="1250" dirty="0"/>
          </a:p>
        </p:txBody>
      </p:sp>
      <p:sp>
        <p:nvSpPr>
          <p:cNvPr id="35" name="Shape 33"/>
          <p:cNvSpPr/>
          <p:nvPr/>
        </p:nvSpPr>
        <p:spPr>
          <a:xfrm>
            <a:off x="10469880" y="3995928"/>
            <a:ext cx="0" cy="320040"/>
          </a:xfrm>
          <a:prstGeom prst="line">
            <a:avLst/>
          </a:prstGeom>
          <a:noFill/>
          <a:ln w="22225">
            <a:solidFill>
              <a:srgbClr val="F6921E"/>
            </a:solidFill>
            <a:prstDash val="solid"/>
          </a:ln>
        </p:spPr>
        <p:txBody>
          <a:bodyPr/>
          <a:lstStyle/>
          <a:p>
            <a:endParaRPr lang="en-US"/>
          </a:p>
        </p:txBody>
      </p:sp>
      <p:sp>
        <p:nvSpPr>
          <p:cNvPr id="36" name="Shape 34"/>
          <p:cNvSpPr/>
          <p:nvPr/>
        </p:nvSpPr>
        <p:spPr>
          <a:xfrm>
            <a:off x="4023360" y="4315968"/>
            <a:ext cx="6446520" cy="0"/>
          </a:xfrm>
          <a:prstGeom prst="line">
            <a:avLst/>
          </a:prstGeom>
          <a:noFill/>
          <a:ln w="22225">
            <a:solidFill>
              <a:srgbClr val="F6921E"/>
            </a:solidFill>
            <a:prstDash val="solid"/>
          </a:ln>
        </p:spPr>
        <p:txBody>
          <a:bodyPr/>
          <a:lstStyle/>
          <a:p>
            <a:endParaRPr lang="en-US"/>
          </a:p>
        </p:txBody>
      </p:sp>
      <p:sp>
        <p:nvSpPr>
          <p:cNvPr id="37" name="Shape 35"/>
          <p:cNvSpPr/>
          <p:nvPr/>
        </p:nvSpPr>
        <p:spPr>
          <a:xfrm>
            <a:off x="4023360" y="3995928"/>
            <a:ext cx="0" cy="320040"/>
          </a:xfrm>
          <a:prstGeom prst="line">
            <a:avLst/>
          </a:prstGeom>
          <a:noFill/>
          <a:ln w="22225">
            <a:solidFill>
              <a:srgbClr val="F6921E"/>
            </a:solidFill>
            <a:prstDash val="solid"/>
            <a:headEnd type="triangle"/>
          </a:ln>
        </p:spPr>
        <p:txBody>
          <a:bodyPr/>
          <a:lstStyle/>
          <a:p>
            <a:endParaRPr lang="en-US"/>
          </a:p>
        </p:txBody>
      </p:sp>
      <p:sp>
        <p:nvSpPr>
          <p:cNvPr id="38" name="Text 36"/>
          <p:cNvSpPr txBox="1"/>
          <p:nvPr/>
        </p:nvSpPr>
        <p:spPr>
          <a:xfrm>
            <a:off x="457200" y="4709160"/>
            <a:ext cx="2651760" cy="3200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Who starts it</a:t>
            </a:r>
            <a:endParaRPr lang="en-US" sz="1400" dirty="0"/>
          </a:p>
        </p:txBody>
      </p:sp>
      <p:sp>
        <p:nvSpPr>
          <p:cNvPr id="39" name="Text 37"/>
          <p:cNvSpPr txBox="1"/>
          <p:nvPr/>
        </p:nvSpPr>
        <p:spPr>
          <a:xfrm>
            <a:off x="457200" y="5074920"/>
            <a:ext cx="2651760" cy="457200"/>
          </a:xfrm>
          <a:prstGeom prst="rect">
            <a:avLst/>
          </a:prstGeom>
          <a:noFill/>
          <a:ln/>
        </p:spPr>
        <p:txBody>
          <a:bodyPr wrap="square" lIns="0" tIns="0" rIns="0" bIns="0" rtlCol="0" anchor="t"/>
          <a:lstStyle/>
          <a:p>
            <a:pPr marL="0" indent="0">
              <a:buNone/>
            </a:pPr>
            <a:r>
              <a:rPr lang="en-US" sz="1250" b="1" dirty="0">
                <a:solidFill>
                  <a:srgbClr val="2D2926"/>
                </a:solidFill>
                <a:latin typeface="Arial" pitchFamily="34" charset="0"/>
                <a:ea typeface="Arial" pitchFamily="34" charset="-122"/>
                <a:cs typeface="Arial" pitchFamily="34" charset="-120"/>
              </a:rPr>
              <a:t>Agent: </a:t>
            </a:r>
            <a:r>
              <a:rPr lang="en-US" sz="1250" dirty="0">
                <a:solidFill>
                  <a:srgbClr val="5A544F"/>
                </a:solidFill>
                <a:latin typeface="Arial" pitchFamily="34" charset="0"/>
                <a:ea typeface="Arial" pitchFamily="34" charset="-122"/>
                <a:cs typeface="Arial" pitchFamily="34" charset="-120"/>
              </a:rPr>
              <a:t>You, with a request</a:t>
            </a:r>
            <a:endParaRPr lang="en-US" sz="1250" dirty="0"/>
          </a:p>
        </p:txBody>
      </p:sp>
      <p:sp>
        <p:nvSpPr>
          <p:cNvPr id="40" name="Text 38"/>
          <p:cNvSpPr txBox="1"/>
          <p:nvPr/>
        </p:nvSpPr>
        <p:spPr>
          <a:xfrm>
            <a:off x="457200" y="5532120"/>
            <a:ext cx="2651760" cy="548640"/>
          </a:xfrm>
          <a:prstGeom prst="rect">
            <a:avLst/>
          </a:prstGeom>
          <a:noFill/>
          <a:ln/>
        </p:spPr>
        <p:txBody>
          <a:bodyPr wrap="square" lIns="0" tIns="0" rIns="0" bIns="0" rtlCol="0" anchor="t"/>
          <a:lstStyle/>
          <a:p>
            <a:pPr marL="0" indent="0">
              <a:buNone/>
            </a:pPr>
            <a:r>
              <a:rPr lang="en-US" sz="1250" b="1" dirty="0">
                <a:solidFill>
                  <a:srgbClr val="DC8F2E"/>
                </a:solidFill>
                <a:latin typeface="Arial" pitchFamily="34" charset="0"/>
                <a:ea typeface="Arial" pitchFamily="34" charset="-122"/>
                <a:cs typeface="Arial" pitchFamily="34" charset="-120"/>
              </a:rPr>
              <a:t>Autonomous: </a:t>
            </a:r>
            <a:r>
              <a:rPr lang="en-US" sz="1250" dirty="0">
                <a:solidFill>
                  <a:srgbClr val="5A544F"/>
                </a:solidFill>
                <a:latin typeface="Arial" pitchFamily="34" charset="0"/>
                <a:ea typeface="Arial" pitchFamily="34" charset="-122"/>
                <a:cs typeface="Arial" pitchFamily="34" charset="-120"/>
              </a:rPr>
              <a:t>A schedule or an event</a:t>
            </a:r>
            <a:endParaRPr lang="en-US" sz="1250" dirty="0"/>
          </a:p>
        </p:txBody>
      </p:sp>
      <p:sp>
        <p:nvSpPr>
          <p:cNvPr id="41" name="Text 39"/>
          <p:cNvSpPr txBox="1"/>
          <p:nvPr/>
        </p:nvSpPr>
        <p:spPr>
          <a:xfrm>
            <a:off x="3319272" y="4709160"/>
            <a:ext cx="2651760" cy="3200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When it stops</a:t>
            </a:r>
            <a:endParaRPr lang="en-US" sz="1400" dirty="0"/>
          </a:p>
        </p:txBody>
      </p:sp>
      <p:sp>
        <p:nvSpPr>
          <p:cNvPr id="42" name="Text 40"/>
          <p:cNvSpPr txBox="1"/>
          <p:nvPr/>
        </p:nvSpPr>
        <p:spPr>
          <a:xfrm>
            <a:off x="3319272" y="5074920"/>
            <a:ext cx="2651760" cy="457200"/>
          </a:xfrm>
          <a:prstGeom prst="rect">
            <a:avLst/>
          </a:prstGeom>
          <a:noFill/>
          <a:ln/>
        </p:spPr>
        <p:txBody>
          <a:bodyPr wrap="square" lIns="0" tIns="0" rIns="0" bIns="0" rtlCol="0" anchor="t"/>
          <a:lstStyle/>
          <a:p>
            <a:pPr marL="0" indent="0">
              <a:buNone/>
            </a:pPr>
            <a:r>
              <a:rPr lang="en-US" sz="1250" b="1" dirty="0">
                <a:solidFill>
                  <a:srgbClr val="2D2926"/>
                </a:solidFill>
                <a:latin typeface="Arial" pitchFamily="34" charset="0"/>
                <a:ea typeface="Arial" pitchFamily="34" charset="-122"/>
                <a:cs typeface="Arial" pitchFamily="34" charset="-120"/>
              </a:rPr>
              <a:t>Agent: </a:t>
            </a:r>
            <a:r>
              <a:rPr lang="en-US" sz="1250" dirty="0">
                <a:solidFill>
                  <a:srgbClr val="5A544F"/>
                </a:solidFill>
                <a:latin typeface="Arial" pitchFamily="34" charset="0"/>
                <a:ea typeface="Arial" pitchFamily="34" charset="-122"/>
                <a:cs typeface="Arial" pitchFamily="34" charset="-120"/>
              </a:rPr>
              <a:t>When the task is done</a:t>
            </a:r>
            <a:endParaRPr lang="en-US" sz="1250" dirty="0"/>
          </a:p>
        </p:txBody>
      </p:sp>
      <p:sp>
        <p:nvSpPr>
          <p:cNvPr id="43" name="Text 41"/>
          <p:cNvSpPr txBox="1"/>
          <p:nvPr/>
        </p:nvSpPr>
        <p:spPr>
          <a:xfrm>
            <a:off x="3319272" y="5532120"/>
            <a:ext cx="2651760" cy="548640"/>
          </a:xfrm>
          <a:prstGeom prst="rect">
            <a:avLst/>
          </a:prstGeom>
          <a:noFill/>
          <a:ln/>
        </p:spPr>
        <p:txBody>
          <a:bodyPr wrap="square" lIns="0" tIns="0" rIns="0" bIns="0" rtlCol="0" anchor="t"/>
          <a:lstStyle/>
          <a:p>
            <a:pPr marL="0" indent="0">
              <a:buNone/>
            </a:pPr>
            <a:r>
              <a:rPr lang="en-US" sz="1250" b="1" dirty="0">
                <a:solidFill>
                  <a:srgbClr val="DC8F2E"/>
                </a:solidFill>
                <a:latin typeface="Arial" pitchFamily="34" charset="0"/>
                <a:ea typeface="Arial" pitchFamily="34" charset="-122"/>
                <a:cs typeface="Arial" pitchFamily="34" charset="-120"/>
              </a:rPr>
              <a:t>Autonomous: </a:t>
            </a:r>
            <a:r>
              <a:rPr lang="en-US" sz="1250" dirty="0">
                <a:solidFill>
                  <a:srgbClr val="5A544F"/>
                </a:solidFill>
                <a:latin typeface="Arial" pitchFamily="34" charset="0"/>
                <a:ea typeface="Arial" pitchFamily="34" charset="-122"/>
                <a:cs typeface="Arial" pitchFamily="34" charset="-120"/>
              </a:rPr>
              <a:t>It doesn’t. It waits.</a:t>
            </a:r>
            <a:endParaRPr lang="en-US" sz="1250" dirty="0"/>
          </a:p>
        </p:txBody>
      </p:sp>
      <p:sp>
        <p:nvSpPr>
          <p:cNvPr id="44" name="Text 42"/>
          <p:cNvSpPr txBox="1"/>
          <p:nvPr/>
        </p:nvSpPr>
        <p:spPr>
          <a:xfrm>
            <a:off x="6181344" y="4709160"/>
            <a:ext cx="2651760" cy="3200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What it remembers</a:t>
            </a:r>
            <a:endParaRPr lang="en-US" sz="1400" dirty="0"/>
          </a:p>
        </p:txBody>
      </p:sp>
      <p:sp>
        <p:nvSpPr>
          <p:cNvPr id="45" name="Text 43"/>
          <p:cNvSpPr txBox="1"/>
          <p:nvPr/>
        </p:nvSpPr>
        <p:spPr>
          <a:xfrm>
            <a:off x="6181344" y="5074920"/>
            <a:ext cx="2651760" cy="457200"/>
          </a:xfrm>
          <a:prstGeom prst="rect">
            <a:avLst/>
          </a:prstGeom>
          <a:noFill/>
          <a:ln/>
        </p:spPr>
        <p:txBody>
          <a:bodyPr wrap="square" lIns="0" tIns="0" rIns="0" bIns="0" rtlCol="0" anchor="t"/>
          <a:lstStyle/>
          <a:p>
            <a:pPr marL="0" indent="0">
              <a:buNone/>
            </a:pPr>
            <a:r>
              <a:rPr lang="en-US" sz="1250" b="1" dirty="0">
                <a:solidFill>
                  <a:srgbClr val="2D2926"/>
                </a:solidFill>
                <a:latin typeface="Arial" pitchFamily="34" charset="0"/>
                <a:ea typeface="Arial" pitchFamily="34" charset="-122"/>
                <a:cs typeface="Arial" pitchFamily="34" charset="-120"/>
              </a:rPr>
              <a:t>Agent: </a:t>
            </a:r>
            <a:r>
              <a:rPr lang="en-US" sz="1250" dirty="0">
                <a:solidFill>
                  <a:srgbClr val="5A544F"/>
                </a:solidFill>
                <a:latin typeface="Arial" pitchFamily="34" charset="0"/>
                <a:ea typeface="Arial" pitchFamily="34" charset="-122"/>
                <a:cs typeface="Arial" pitchFamily="34" charset="-120"/>
              </a:rPr>
              <a:t>This task’s context</a:t>
            </a:r>
            <a:endParaRPr lang="en-US" sz="1250" dirty="0"/>
          </a:p>
        </p:txBody>
      </p:sp>
      <p:sp>
        <p:nvSpPr>
          <p:cNvPr id="46" name="Text 44"/>
          <p:cNvSpPr txBox="1"/>
          <p:nvPr/>
        </p:nvSpPr>
        <p:spPr>
          <a:xfrm>
            <a:off x="6181344" y="5532120"/>
            <a:ext cx="2651760" cy="548640"/>
          </a:xfrm>
          <a:prstGeom prst="rect">
            <a:avLst/>
          </a:prstGeom>
          <a:noFill/>
          <a:ln/>
        </p:spPr>
        <p:txBody>
          <a:bodyPr wrap="square" lIns="0" tIns="0" rIns="0" bIns="0" rtlCol="0" anchor="t"/>
          <a:lstStyle/>
          <a:p>
            <a:pPr marL="0" indent="0">
              <a:buNone/>
            </a:pPr>
            <a:r>
              <a:rPr lang="en-US" sz="1250" b="1" dirty="0">
                <a:solidFill>
                  <a:srgbClr val="DC8F2E"/>
                </a:solidFill>
                <a:latin typeface="Arial" pitchFamily="34" charset="0"/>
                <a:ea typeface="Arial" pitchFamily="34" charset="-122"/>
                <a:cs typeface="Arial" pitchFamily="34" charset="-120"/>
              </a:rPr>
              <a:t>Autonomous: </a:t>
            </a:r>
            <a:r>
              <a:rPr lang="en-US" sz="1250" dirty="0">
                <a:solidFill>
                  <a:srgbClr val="5A544F"/>
                </a:solidFill>
                <a:latin typeface="Arial" pitchFamily="34" charset="0"/>
                <a:ea typeface="Arial" pitchFamily="34" charset="-122"/>
                <a:cs typeface="Arial" pitchFamily="34" charset="-120"/>
              </a:rPr>
              <a:t>Memory across every run</a:t>
            </a:r>
            <a:endParaRPr lang="en-US" sz="1250" dirty="0"/>
          </a:p>
        </p:txBody>
      </p:sp>
      <p:sp>
        <p:nvSpPr>
          <p:cNvPr id="47" name="Text 45"/>
          <p:cNvSpPr txBox="1"/>
          <p:nvPr/>
        </p:nvSpPr>
        <p:spPr>
          <a:xfrm>
            <a:off x="9043416" y="4709160"/>
            <a:ext cx="2651760" cy="3200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Guardrails</a:t>
            </a:r>
            <a:endParaRPr lang="en-US" sz="1400" dirty="0"/>
          </a:p>
        </p:txBody>
      </p:sp>
      <p:sp>
        <p:nvSpPr>
          <p:cNvPr id="48" name="Text 46"/>
          <p:cNvSpPr txBox="1"/>
          <p:nvPr/>
        </p:nvSpPr>
        <p:spPr>
          <a:xfrm>
            <a:off x="9043416" y="5074920"/>
            <a:ext cx="2651760" cy="457200"/>
          </a:xfrm>
          <a:prstGeom prst="rect">
            <a:avLst/>
          </a:prstGeom>
          <a:noFill/>
          <a:ln/>
        </p:spPr>
        <p:txBody>
          <a:bodyPr wrap="square" lIns="0" tIns="0" rIns="0" bIns="0" rtlCol="0" anchor="t"/>
          <a:lstStyle/>
          <a:p>
            <a:pPr marL="0" indent="0">
              <a:buNone/>
            </a:pPr>
            <a:r>
              <a:rPr lang="en-US" sz="1250" b="1" dirty="0">
                <a:solidFill>
                  <a:srgbClr val="2D2926"/>
                </a:solidFill>
                <a:latin typeface="Arial" pitchFamily="34" charset="0"/>
                <a:ea typeface="Arial" pitchFamily="34" charset="-122"/>
                <a:cs typeface="Arial" pitchFamily="34" charset="-120"/>
              </a:rPr>
              <a:t>Agent: </a:t>
            </a:r>
            <a:r>
              <a:rPr lang="en-US" sz="1250" dirty="0">
                <a:solidFill>
                  <a:srgbClr val="5A544F"/>
                </a:solidFill>
                <a:latin typeface="Arial" pitchFamily="34" charset="0"/>
                <a:ea typeface="Arial" pitchFamily="34" charset="-122"/>
                <a:cs typeface="Arial" pitchFamily="34" charset="-120"/>
              </a:rPr>
              <a:t>Approve the writes</a:t>
            </a:r>
            <a:endParaRPr lang="en-US" sz="1250" dirty="0"/>
          </a:p>
        </p:txBody>
      </p:sp>
      <p:sp>
        <p:nvSpPr>
          <p:cNvPr id="49" name="Text 47"/>
          <p:cNvSpPr txBox="1"/>
          <p:nvPr/>
        </p:nvSpPr>
        <p:spPr>
          <a:xfrm>
            <a:off x="9043416" y="5532120"/>
            <a:ext cx="2651760" cy="548640"/>
          </a:xfrm>
          <a:prstGeom prst="rect">
            <a:avLst/>
          </a:prstGeom>
          <a:noFill/>
          <a:ln/>
        </p:spPr>
        <p:txBody>
          <a:bodyPr wrap="square" lIns="0" tIns="0" rIns="0" bIns="0" rtlCol="0" anchor="t"/>
          <a:lstStyle/>
          <a:p>
            <a:pPr marL="0" indent="0">
              <a:buNone/>
            </a:pPr>
            <a:r>
              <a:rPr lang="en-US" sz="1250" b="1" dirty="0">
                <a:solidFill>
                  <a:srgbClr val="DC8F2E"/>
                </a:solidFill>
                <a:latin typeface="Arial" pitchFamily="34" charset="0"/>
                <a:ea typeface="Arial" pitchFamily="34" charset="-122"/>
                <a:cs typeface="Arial" pitchFamily="34" charset="-120"/>
              </a:rPr>
              <a:t>Autonomous: </a:t>
            </a:r>
            <a:r>
              <a:rPr lang="en-US" sz="1250" dirty="0">
                <a:solidFill>
                  <a:srgbClr val="5A544F"/>
                </a:solidFill>
                <a:latin typeface="Arial" pitchFamily="34" charset="0"/>
                <a:ea typeface="Arial" pitchFamily="34" charset="-122"/>
                <a:cs typeface="Arial" pitchFamily="34" charset="-120"/>
              </a:rPr>
              <a:t>Daily budget, approvals, kill switch</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75564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75564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AUDIENCE MOMENT</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Agent or not? Hands up for “agent”</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10</a:t>
            </a:r>
            <a:endParaRPr lang="en-US" sz="900" dirty="0"/>
          </a:p>
        </p:txBody>
      </p:sp>
      <p:sp>
        <p:nvSpPr>
          <p:cNvPr id="7" name="Shape 5"/>
          <p:cNvSpPr/>
          <p:nvPr/>
        </p:nvSpPr>
        <p:spPr>
          <a:xfrm>
            <a:off x="457200" y="187452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8" name="Text 6"/>
          <p:cNvSpPr txBox="1"/>
          <p:nvPr/>
        </p:nvSpPr>
        <p:spPr>
          <a:xfrm>
            <a:off x="685800" y="187452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1</a:t>
            </a:r>
            <a:endParaRPr lang="en-US" sz="1800" dirty="0"/>
          </a:p>
        </p:txBody>
      </p:sp>
      <p:sp>
        <p:nvSpPr>
          <p:cNvPr id="9" name="Text 7"/>
          <p:cNvSpPr txBox="1"/>
          <p:nvPr/>
        </p:nvSpPr>
        <p:spPr>
          <a:xfrm>
            <a:off x="1143000" y="1874520"/>
            <a:ext cx="102412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Website FAQ bot that answers service times</a:t>
            </a:r>
            <a:endParaRPr lang="en-US" sz="1400" dirty="0"/>
          </a:p>
        </p:txBody>
      </p:sp>
      <p:sp>
        <p:nvSpPr>
          <p:cNvPr id="10" name="Shape 8"/>
          <p:cNvSpPr/>
          <p:nvPr/>
        </p:nvSpPr>
        <p:spPr>
          <a:xfrm>
            <a:off x="457200" y="269748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11" name="Text 9"/>
          <p:cNvSpPr txBox="1"/>
          <p:nvPr/>
        </p:nvSpPr>
        <p:spPr>
          <a:xfrm>
            <a:off x="685800" y="269748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2</a:t>
            </a:r>
            <a:endParaRPr lang="en-US" sz="1800" dirty="0"/>
          </a:p>
        </p:txBody>
      </p:sp>
      <p:sp>
        <p:nvSpPr>
          <p:cNvPr id="12" name="Text 10"/>
          <p:cNvSpPr txBox="1"/>
          <p:nvPr/>
        </p:nvSpPr>
        <p:spPr>
          <a:xfrm>
            <a:off x="1143000" y="2697480"/>
            <a:ext cx="102412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Guest form submitted: send template 3, create a follow-up task</a:t>
            </a:r>
            <a:endParaRPr lang="en-US" sz="1400" dirty="0"/>
          </a:p>
        </p:txBody>
      </p:sp>
      <p:sp>
        <p:nvSpPr>
          <p:cNvPr id="13" name="Shape 11"/>
          <p:cNvSpPr/>
          <p:nvPr/>
        </p:nvSpPr>
        <p:spPr>
          <a:xfrm>
            <a:off x="457200" y="352044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14" name="Text 12"/>
          <p:cNvSpPr txBox="1"/>
          <p:nvPr/>
        </p:nvSpPr>
        <p:spPr>
          <a:xfrm>
            <a:off x="685800" y="352044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3</a:t>
            </a:r>
            <a:endParaRPr lang="en-US" sz="1800" dirty="0"/>
          </a:p>
        </p:txBody>
      </p:sp>
      <p:sp>
        <p:nvSpPr>
          <p:cNvPr id="15" name="Text 13"/>
          <p:cNvSpPr txBox="1"/>
          <p:nvPr/>
        </p:nvSpPr>
        <p:spPr>
          <a:xfrm>
            <a:off x="1143000" y="3520440"/>
            <a:ext cx="102412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Find small group dropouts in 60 days, check serving and attendance, draft a note to each leader</a:t>
            </a:r>
            <a:endParaRPr lang="en-US" sz="1400" dirty="0"/>
          </a:p>
        </p:txBody>
      </p:sp>
      <p:sp>
        <p:nvSpPr>
          <p:cNvPr id="16" name="Shape 14"/>
          <p:cNvSpPr/>
          <p:nvPr/>
        </p:nvSpPr>
        <p:spPr>
          <a:xfrm>
            <a:off x="457200" y="434340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17" name="Text 15"/>
          <p:cNvSpPr txBox="1"/>
          <p:nvPr/>
        </p:nvSpPr>
        <p:spPr>
          <a:xfrm>
            <a:off x="685800" y="434340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4</a:t>
            </a:r>
            <a:endParaRPr lang="en-US" sz="1800" dirty="0"/>
          </a:p>
        </p:txBody>
      </p:sp>
      <p:sp>
        <p:nvSpPr>
          <p:cNvPr id="18" name="Text 16"/>
          <p:cNvSpPr txBox="1"/>
          <p:nvPr/>
        </p:nvSpPr>
        <p:spPr>
          <a:xfrm>
            <a:off x="1143000" y="4343400"/>
            <a:ext cx="102412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Copilot summarizing a staff meeting</a:t>
            </a:r>
            <a:endParaRPr lang="en-US" sz="1400" dirty="0"/>
          </a:p>
        </p:txBody>
      </p:sp>
      <p:sp>
        <p:nvSpPr>
          <p:cNvPr id="19" name="Shape 17"/>
          <p:cNvSpPr/>
          <p:nvPr/>
        </p:nvSpPr>
        <p:spPr>
          <a:xfrm>
            <a:off x="457200" y="516636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20" name="Text 18"/>
          <p:cNvSpPr txBox="1"/>
          <p:nvPr/>
        </p:nvSpPr>
        <p:spPr>
          <a:xfrm>
            <a:off x="685800" y="516636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5</a:t>
            </a:r>
            <a:endParaRPr lang="en-US" sz="1800" dirty="0"/>
          </a:p>
        </p:txBody>
      </p:sp>
      <p:sp>
        <p:nvSpPr>
          <p:cNvPr id="21" name="Text 19"/>
          <p:cNvSpPr txBox="1"/>
          <p:nvPr/>
        </p:nvSpPr>
        <p:spPr>
          <a:xfrm>
            <a:off x="1143000" y="5166360"/>
            <a:ext cx="102412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Coding assistant fixes a broken report, runs it, reads the error, fixes it again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75564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75564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AUDIENCE MOMENT</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Agent or not? The answers</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11</a:t>
            </a:r>
            <a:endParaRPr lang="en-US" sz="900" dirty="0"/>
          </a:p>
        </p:txBody>
      </p:sp>
      <p:sp>
        <p:nvSpPr>
          <p:cNvPr id="7" name="Shape 5"/>
          <p:cNvSpPr/>
          <p:nvPr/>
        </p:nvSpPr>
        <p:spPr>
          <a:xfrm>
            <a:off x="457200" y="187452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8" name="Text 6"/>
          <p:cNvSpPr txBox="1"/>
          <p:nvPr/>
        </p:nvSpPr>
        <p:spPr>
          <a:xfrm>
            <a:off x="685800" y="187452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1</a:t>
            </a:r>
            <a:endParaRPr lang="en-US" sz="1800" dirty="0"/>
          </a:p>
        </p:txBody>
      </p:sp>
      <p:sp>
        <p:nvSpPr>
          <p:cNvPr id="9" name="Text 7"/>
          <p:cNvSpPr txBox="1"/>
          <p:nvPr/>
        </p:nvSpPr>
        <p:spPr>
          <a:xfrm>
            <a:off x="1143000" y="1874520"/>
            <a:ext cx="65836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Website FAQ bot that answers service times</a:t>
            </a:r>
            <a:endParaRPr lang="en-US" sz="1400" dirty="0"/>
          </a:p>
        </p:txBody>
      </p:sp>
      <p:sp>
        <p:nvSpPr>
          <p:cNvPr id="10" name="Shape 8"/>
          <p:cNvSpPr/>
          <p:nvPr/>
        </p:nvSpPr>
        <p:spPr>
          <a:xfrm>
            <a:off x="7955280" y="2057400"/>
            <a:ext cx="1554480" cy="329184"/>
          </a:xfrm>
          <a:prstGeom prst="roundRect">
            <a:avLst>
              <a:gd name="adj" fmla="val 50000"/>
            </a:avLst>
          </a:prstGeom>
          <a:solidFill>
            <a:srgbClr val="E4DED8"/>
          </a:solidFill>
          <a:ln w="12700">
            <a:solidFill>
              <a:srgbClr val="E4DED8"/>
            </a:solidFill>
            <a:prstDash val="solid"/>
          </a:ln>
        </p:spPr>
        <p:txBody>
          <a:bodyPr/>
          <a:lstStyle/>
          <a:p>
            <a:endParaRPr lang="en-US"/>
          </a:p>
        </p:txBody>
      </p:sp>
      <p:sp>
        <p:nvSpPr>
          <p:cNvPr id="11" name="Text 9"/>
          <p:cNvSpPr txBox="1"/>
          <p:nvPr/>
        </p:nvSpPr>
        <p:spPr>
          <a:xfrm>
            <a:off x="7955280" y="2057400"/>
            <a:ext cx="1554480" cy="329184"/>
          </a:xfrm>
          <a:prstGeom prst="rect">
            <a:avLst/>
          </a:prstGeom>
          <a:noFill/>
          <a:ln/>
        </p:spPr>
        <p:txBody>
          <a:bodyPr wrap="square" lIns="0" tIns="0" rIns="0" bIns="0" rtlCol="0" anchor="ctr"/>
          <a:lstStyle/>
          <a:p>
            <a:pPr marL="0" indent="0" algn="ctr">
              <a:buNone/>
            </a:pPr>
            <a:r>
              <a:rPr lang="en-US" sz="1050" b="1" kern="0" spc="100" dirty="0">
                <a:solidFill>
                  <a:srgbClr val="2D2926"/>
                </a:solidFill>
                <a:latin typeface="Arial" pitchFamily="34" charset="0"/>
                <a:ea typeface="Arial" pitchFamily="34" charset="-122"/>
                <a:cs typeface="Arial" pitchFamily="34" charset="-120"/>
              </a:rPr>
              <a:t>NOT AN AGENT</a:t>
            </a:r>
            <a:endParaRPr lang="en-US" sz="1050" dirty="0"/>
          </a:p>
        </p:txBody>
      </p:sp>
      <p:sp>
        <p:nvSpPr>
          <p:cNvPr id="12" name="Text 10"/>
          <p:cNvSpPr txBox="1"/>
          <p:nvPr/>
        </p:nvSpPr>
        <p:spPr>
          <a:xfrm>
            <a:off x="9646920" y="1874520"/>
            <a:ext cx="1965960" cy="685800"/>
          </a:xfrm>
          <a:prstGeom prst="rect">
            <a:avLst/>
          </a:prstGeom>
          <a:noFill/>
          <a:ln/>
        </p:spPr>
        <p:txBody>
          <a:bodyPr wrap="square" lIns="0" tIns="0" rIns="0" bIns="0" rtlCol="0" anchor="ctr"/>
          <a:lstStyle/>
          <a:p>
            <a:pPr marL="0" indent="0">
              <a:buNone/>
            </a:pPr>
            <a:r>
              <a:rPr lang="en-US" sz="1150" dirty="0">
                <a:solidFill>
                  <a:srgbClr val="5A544F"/>
                </a:solidFill>
                <a:latin typeface="Arial" pitchFamily="34" charset="0"/>
                <a:ea typeface="Arial" pitchFamily="34" charset="-122"/>
                <a:cs typeface="Arial" pitchFamily="34" charset="-120"/>
              </a:rPr>
              <a:t>One turn, retrieval only</a:t>
            </a:r>
            <a:endParaRPr lang="en-US" sz="1150" dirty="0"/>
          </a:p>
        </p:txBody>
      </p:sp>
      <p:sp>
        <p:nvSpPr>
          <p:cNvPr id="13" name="Shape 11"/>
          <p:cNvSpPr/>
          <p:nvPr/>
        </p:nvSpPr>
        <p:spPr>
          <a:xfrm>
            <a:off x="457200" y="269748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14" name="Text 12"/>
          <p:cNvSpPr txBox="1"/>
          <p:nvPr/>
        </p:nvSpPr>
        <p:spPr>
          <a:xfrm>
            <a:off x="685800" y="269748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2</a:t>
            </a:r>
            <a:endParaRPr lang="en-US" sz="1800" dirty="0"/>
          </a:p>
        </p:txBody>
      </p:sp>
      <p:sp>
        <p:nvSpPr>
          <p:cNvPr id="15" name="Text 13"/>
          <p:cNvSpPr txBox="1"/>
          <p:nvPr/>
        </p:nvSpPr>
        <p:spPr>
          <a:xfrm>
            <a:off x="1143000" y="2697480"/>
            <a:ext cx="65836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Guest form submitted: send template 3, create a follow-up task</a:t>
            </a:r>
            <a:endParaRPr lang="en-US" sz="1400" dirty="0"/>
          </a:p>
        </p:txBody>
      </p:sp>
      <p:sp>
        <p:nvSpPr>
          <p:cNvPr id="16" name="Shape 14"/>
          <p:cNvSpPr/>
          <p:nvPr/>
        </p:nvSpPr>
        <p:spPr>
          <a:xfrm>
            <a:off x="7955280" y="2880360"/>
            <a:ext cx="1554480" cy="329184"/>
          </a:xfrm>
          <a:prstGeom prst="roundRect">
            <a:avLst>
              <a:gd name="adj" fmla="val 50000"/>
            </a:avLst>
          </a:prstGeom>
          <a:solidFill>
            <a:srgbClr val="2D2926"/>
          </a:solidFill>
          <a:ln w="12700">
            <a:solidFill>
              <a:srgbClr val="2D2926"/>
            </a:solidFill>
            <a:prstDash val="solid"/>
          </a:ln>
        </p:spPr>
        <p:txBody>
          <a:bodyPr/>
          <a:lstStyle/>
          <a:p>
            <a:endParaRPr lang="en-US"/>
          </a:p>
        </p:txBody>
      </p:sp>
      <p:sp>
        <p:nvSpPr>
          <p:cNvPr id="17" name="Text 15"/>
          <p:cNvSpPr txBox="1"/>
          <p:nvPr/>
        </p:nvSpPr>
        <p:spPr>
          <a:xfrm>
            <a:off x="7955280" y="2880360"/>
            <a:ext cx="1554480" cy="329184"/>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Arial" pitchFamily="34" charset="0"/>
                <a:ea typeface="Arial" pitchFamily="34" charset="-122"/>
                <a:cs typeface="Arial" pitchFamily="34" charset="-120"/>
              </a:rPr>
              <a:t>WORKFLOW</a:t>
            </a:r>
            <a:endParaRPr lang="en-US" sz="1050" dirty="0"/>
          </a:p>
        </p:txBody>
      </p:sp>
      <p:sp>
        <p:nvSpPr>
          <p:cNvPr id="18" name="Text 16"/>
          <p:cNvSpPr txBox="1"/>
          <p:nvPr/>
        </p:nvSpPr>
        <p:spPr>
          <a:xfrm>
            <a:off x="9646920" y="2697480"/>
            <a:ext cx="1965960" cy="685800"/>
          </a:xfrm>
          <a:prstGeom prst="rect">
            <a:avLst/>
          </a:prstGeom>
          <a:noFill/>
          <a:ln/>
        </p:spPr>
        <p:txBody>
          <a:bodyPr wrap="square" lIns="0" tIns="0" rIns="0" bIns="0" rtlCol="0" anchor="ctr"/>
          <a:lstStyle/>
          <a:p>
            <a:pPr marL="0" indent="0">
              <a:buNone/>
            </a:pPr>
            <a:r>
              <a:rPr lang="en-US" sz="1150" dirty="0">
                <a:solidFill>
                  <a:srgbClr val="5A544F"/>
                </a:solidFill>
                <a:latin typeface="Arial" pitchFamily="34" charset="0"/>
                <a:ea typeface="Arial" pitchFamily="34" charset="-122"/>
                <a:cs typeface="Arial" pitchFamily="34" charset="-120"/>
              </a:rPr>
              <a:t>Every arrow drawn in advance</a:t>
            </a:r>
            <a:endParaRPr lang="en-US" sz="1150" dirty="0"/>
          </a:p>
        </p:txBody>
      </p:sp>
      <p:sp>
        <p:nvSpPr>
          <p:cNvPr id="19" name="Shape 17"/>
          <p:cNvSpPr/>
          <p:nvPr/>
        </p:nvSpPr>
        <p:spPr>
          <a:xfrm>
            <a:off x="457200" y="352044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20" name="Text 18"/>
          <p:cNvSpPr txBox="1"/>
          <p:nvPr/>
        </p:nvSpPr>
        <p:spPr>
          <a:xfrm>
            <a:off x="685800" y="352044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3</a:t>
            </a:r>
            <a:endParaRPr lang="en-US" sz="1800" dirty="0"/>
          </a:p>
        </p:txBody>
      </p:sp>
      <p:sp>
        <p:nvSpPr>
          <p:cNvPr id="21" name="Text 19"/>
          <p:cNvSpPr txBox="1"/>
          <p:nvPr/>
        </p:nvSpPr>
        <p:spPr>
          <a:xfrm>
            <a:off x="1143000" y="3520440"/>
            <a:ext cx="65836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Find small group dropouts in 60 days, check serving and attendance, draft a note to each leader</a:t>
            </a:r>
            <a:endParaRPr lang="en-US" sz="1400" dirty="0"/>
          </a:p>
        </p:txBody>
      </p:sp>
      <p:sp>
        <p:nvSpPr>
          <p:cNvPr id="22" name="Shape 20"/>
          <p:cNvSpPr/>
          <p:nvPr/>
        </p:nvSpPr>
        <p:spPr>
          <a:xfrm>
            <a:off x="7955280" y="3703320"/>
            <a:ext cx="1554480" cy="329184"/>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23" name="Text 21"/>
          <p:cNvSpPr txBox="1"/>
          <p:nvPr/>
        </p:nvSpPr>
        <p:spPr>
          <a:xfrm>
            <a:off x="7955280" y="3703320"/>
            <a:ext cx="1554480" cy="329184"/>
          </a:xfrm>
          <a:prstGeom prst="rect">
            <a:avLst/>
          </a:prstGeom>
          <a:noFill/>
          <a:ln/>
        </p:spPr>
        <p:txBody>
          <a:bodyPr wrap="square" lIns="0" tIns="0" rIns="0" bIns="0" rtlCol="0" anchor="ctr"/>
          <a:lstStyle/>
          <a:p>
            <a:pPr marL="0" indent="0" algn="ctr">
              <a:buNone/>
            </a:pPr>
            <a:r>
              <a:rPr lang="en-US" sz="1050" b="1" kern="0" spc="100" dirty="0">
                <a:solidFill>
                  <a:srgbClr val="2D2926"/>
                </a:solidFill>
                <a:latin typeface="Arial" pitchFamily="34" charset="0"/>
                <a:ea typeface="Arial" pitchFamily="34" charset="-122"/>
                <a:cs typeface="Arial" pitchFamily="34" charset="-120"/>
              </a:rPr>
              <a:t>AGENT</a:t>
            </a:r>
            <a:endParaRPr lang="en-US" sz="1050" dirty="0"/>
          </a:p>
        </p:txBody>
      </p:sp>
      <p:sp>
        <p:nvSpPr>
          <p:cNvPr id="24" name="Text 22"/>
          <p:cNvSpPr txBox="1"/>
          <p:nvPr/>
        </p:nvSpPr>
        <p:spPr>
          <a:xfrm>
            <a:off x="9646920" y="3520440"/>
            <a:ext cx="1965960" cy="685800"/>
          </a:xfrm>
          <a:prstGeom prst="rect">
            <a:avLst/>
          </a:prstGeom>
          <a:noFill/>
          <a:ln/>
        </p:spPr>
        <p:txBody>
          <a:bodyPr wrap="square" lIns="0" tIns="0" rIns="0" bIns="0" rtlCol="0" anchor="ctr"/>
          <a:lstStyle/>
          <a:p>
            <a:pPr marL="0" indent="0">
              <a:buNone/>
            </a:pPr>
            <a:r>
              <a:rPr lang="en-US" sz="1150" dirty="0">
                <a:solidFill>
                  <a:srgbClr val="5A544F"/>
                </a:solidFill>
                <a:latin typeface="Arial" pitchFamily="34" charset="0"/>
                <a:ea typeface="Arial" pitchFamily="34" charset="-122"/>
                <a:cs typeface="Arial" pitchFamily="34" charset="-120"/>
              </a:rPr>
              <a:t>It chooses its own queries</a:t>
            </a:r>
            <a:endParaRPr lang="en-US" sz="1150" dirty="0"/>
          </a:p>
        </p:txBody>
      </p:sp>
      <p:sp>
        <p:nvSpPr>
          <p:cNvPr id="25" name="Shape 23"/>
          <p:cNvSpPr/>
          <p:nvPr/>
        </p:nvSpPr>
        <p:spPr>
          <a:xfrm>
            <a:off x="457200" y="434340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26" name="Text 24"/>
          <p:cNvSpPr txBox="1"/>
          <p:nvPr/>
        </p:nvSpPr>
        <p:spPr>
          <a:xfrm>
            <a:off x="685800" y="434340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4</a:t>
            </a:r>
            <a:endParaRPr lang="en-US" sz="1800" dirty="0"/>
          </a:p>
        </p:txBody>
      </p:sp>
      <p:sp>
        <p:nvSpPr>
          <p:cNvPr id="27" name="Text 25"/>
          <p:cNvSpPr txBox="1"/>
          <p:nvPr/>
        </p:nvSpPr>
        <p:spPr>
          <a:xfrm>
            <a:off x="1143000" y="4343400"/>
            <a:ext cx="65836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Copilot summarizing a staff meeting</a:t>
            </a:r>
            <a:endParaRPr lang="en-US" sz="1400" dirty="0"/>
          </a:p>
        </p:txBody>
      </p:sp>
      <p:sp>
        <p:nvSpPr>
          <p:cNvPr id="28" name="Shape 26"/>
          <p:cNvSpPr/>
          <p:nvPr/>
        </p:nvSpPr>
        <p:spPr>
          <a:xfrm>
            <a:off x="7955280" y="4526280"/>
            <a:ext cx="1554480" cy="329184"/>
          </a:xfrm>
          <a:prstGeom prst="roundRect">
            <a:avLst>
              <a:gd name="adj" fmla="val 50000"/>
            </a:avLst>
          </a:prstGeom>
          <a:solidFill>
            <a:srgbClr val="E4DED8"/>
          </a:solidFill>
          <a:ln w="12700">
            <a:solidFill>
              <a:srgbClr val="E4DED8"/>
            </a:solidFill>
            <a:prstDash val="solid"/>
          </a:ln>
        </p:spPr>
        <p:txBody>
          <a:bodyPr/>
          <a:lstStyle/>
          <a:p>
            <a:endParaRPr lang="en-US"/>
          </a:p>
        </p:txBody>
      </p:sp>
      <p:sp>
        <p:nvSpPr>
          <p:cNvPr id="29" name="Text 27"/>
          <p:cNvSpPr txBox="1"/>
          <p:nvPr/>
        </p:nvSpPr>
        <p:spPr>
          <a:xfrm>
            <a:off x="7955280" y="4526280"/>
            <a:ext cx="1554480" cy="329184"/>
          </a:xfrm>
          <a:prstGeom prst="rect">
            <a:avLst/>
          </a:prstGeom>
          <a:noFill/>
          <a:ln/>
        </p:spPr>
        <p:txBody>
          <a:bodyPr wrap="square" lIns="0" tIns="0" rIns="0" bIns="0" rtlCol="0" anchor="ctr"/>
          <a:lstStyle/>
          <a:p>
            <a:pPr marL="0" indent="0" algn="ctr">
              <a:buNone/>
            </a:pPr>
            <a:r>
              <a:rPr lang="en-US" sz="1050" b="1" kern="0" spc="100" dirty="0">
                <a:solidFill>
                  <a:srgbClr val="2D2926"/>
                </a:solidFill>
                <a:latin typeface="Arial" pitchFamily="34" charset="0"/>
                <a:ea typeface="Arial" pitchFamily="34" charset="-122"/>
                <a:cs typeface="Arial" pitchFamily="34" charset="-120"/>
              </a:rPr>
              <a:t>NOT AN AGENT</a:t>
            </a:r>
            <a:endParaRPr lang="en-US" sz="1050" dirty="0"/>
          </a:p>
        </p:txBody>
      </p:sp>
      <p:sp>
        <p:nvSpPr>
          <p:cNvPr id="30" name="Text 28"/>
          <p:cNvSpPr txBox="1"/>
          <p:nvPr/>
        </p:nvSpPr>
        <p:spPr>
          <a:xfrm>
            <a:off x="9646920" y="4343400"/>
            <a:ext cx="1965960" cy="685800"/>
          </a:xfrm>
          <a:prstGeom prst="rect">
            <a:avLst/>
          </a:prstGeom>
          <a:noFill/>
          <a:ln/>
        </p:spPr>
        <p:txBody>
          <a:bodyPr wrap="square" lIns="0" tIns="0" rIns="0" bIns="0" rtlCol="0" anchor="ctr"/>
          <a:lstStyle/>
          <a:p>
            <a:pPr marL="0" indent="0">
              <a:buNone/>
            </a:pPr>
            <a:r>
              <a:rPr lang="en-US" sz="1150" dirty="0">
                <a:solidFill>
                  <a:srgbClr val="5A544F"/>
                </a:solidFill>
                <a:latin typeface="Arial" pitchFamily="34" charset="0"/>
                <a:ea typeface="Arial" pitchFamily="34" charset="-122"/>
                <a:cs typeface="Arial" pitchFamily="34" charset="-120"/>
              </a:rPr>
              <a:t>One shot, no tools</a:t>
            </a:r>
            <a:endParaRPr lang="en-US" sz="1150" dirty="0"/>
          </a:p>
        </p:txBody>
      </p:sp>
      <p:sp>
        <p:nvSpPr>
          <p:cNvPr id="31" name="Shape 29"/>
          <p:cNvSpPr/>
          <p:nvPr/>
        </p:nvSpPr>
        <p:spPr>
          <a:xfrm>
            <a:off x="457200" y="5166360"/>
            <a:ext cx="11247120" cy="685800"/>
          </a:xfrm>
          <a:prstGeom prst="roundRect">
            <a:avLst>
              <a:gd name="adj" fmla="val 13333"/>
            </a:avLst>
          </a:prstGeom>
          <a:solidFill>
            <a:srgbClr val="FFFFFF"/>
          </a:solidFill>
          <a:ln w="12700">
            <a:solidFill>
              <a:srgbClr val="E4DED8"/>
            </a:solidFill>
            <a:prstDash val="solid"/>
          </a:ln>
        </p:spPr>
        <p:txBody>
          <a:bodyPr/>
          <a:lstStyle/>
          <a:p>
            <a:endParaRPr lang="en-US"/>
          </a:p>
        </p:txBody>
      </p:sp>
      <p:sp>
        <p:nvSpPr>
          <p:cNvPr id="32" name="Text 30"/>
          <p:cNvSpPr txBox="1"/>
          <p:nvPr/>
        </p:nvSpPr>
        <p:spPr>
          <a:xfrm>
            <a:off x="685800" y="5166360"/>
            <a:ext cx="365760" cy="685800"/>
          </a:xfrm>
          <a:prstGeom prst="rect">
            <a:avLst/>
          </a:prstGeom>
          <a:noFill/>
          <a:ln/>
        </p:spPr>
        <p:txBody>
          <a:bodyPr wrap="square" lIns="0" tIns="0" rIns="0" bIns="0" rtlCol="0" anchor="ctr"/>
          <a:lstStyle/>
          <a:p>
            <a:pPr marL="0" indent="0">
              <a:buNone/>
            </a:pPr>
            <a:r>
              <a:rPr lang="en-US" sz="1800" b="1" dirty="0">
                <a:solidFill>
                  <a:srgbClr val="DC8F2E"/>
                </a:solidFill>
                <a:latin typeface="Arial" pitchFamily="34" charset="0"/>
                <a:ea typeface="Arial" pitchFamily="34" charset="-122"/>
                <a:cs typeface="Arial" pitchFamily="34" charset="-120"/>
              </a:rPr>
              <a:t>5</a:t>
            </a:r>
            <a:endParaRPr lang="en-US" sz="1800" dirty="0"/>
          </a:p>
        </p:txBody>
      </p:sp>
      <p:sp>
        <p:nvSpPr>
          <p:cNvPr id="33" name="Text 31"/>
          <p:cNvSpPr txBox="1"/>
          <p:nvPr/>
        </p:nvSpPr>
        <p:spPr>
          <a:xfrm>
            <a:off x="1143000" y="5166360"/>
            <a:ext cx="6583680" cy="68580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Coding assistant fixes a broken report, runs it, reads the error, fixes it again</a:t>
            </a:r>
            <a:endParaRPr lang="en-US" sz="1400" dirty="0"/>
          </a:p>
        </p:txBody>
      </p:sp>
      <p:sp>
        <p:nvSpPr>
          <p:cNvPr id="34" name="Shape 32"/>
          <p:cNvSpPr/>
          <p:nvPr/>
        </p:nvSpPr>
        <p:spPr>
          <a:xfrm>
            <a:off x="7955280" y="5349240"/>
            <a:ext cx="1554480" cy="329184"/>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5" name="Text 33"/>
          <p:cNvSpPr txBox="1"/>
          <p:nvPr/>
        </p:nvSpPr>
        <p:spPr>
          <a:xfrm>
            <a:off x="7955280" y="5349240"/>
            <a:ext cx="1554480" cy="329184"/>
          </a:xfrm>
          <a:prstGeom prst="rect">
            <a:avLst/>
          </a:prstGeom>
          <a:noFill/>
          <a:ln/>
        </p:spPr>
        <p:txBody>
          <a:bodyPr wrap="square" lIns="0" tIns="0" rIns="0" bIns="0" rtlCol="0" anchor="ctr"/>
          <a:lstStyle/>
          <a:p>
            <a:pPr marL="0" indent="0" algn="ctr">
              <a:buNone/>
            </a:pPr>
            <a:r>
              <a:rPr lang="en-US" sz="1050" b="1" kern="0" spc="100" dirty="0">
                <a:solidFill>
                  <a:srgbClr val="2D2926"/>
                </a:solidFill>
                <a:latin typeface="Arial" pitchFamily="34" charset="0"/>
                <a:ea typeface="Arial" pitchFamily="34" charset="-122"/>
                <a:cs typeface="Arial" pitchFamily="34" charset="-120"/>
              </a:rPr>
              <a:t>AGENT</a:t>
            </a:r>
            <a:endParaRPr lang="en-US" sz="1050" dirty="0"/>
          </a:p>
        </p:txBody>
      </p:sp>
      <p:sp>
        <p:nvSpPr>
          <p:cNvPr id="36" name="Text 34"/>
          <p:cNvSpPr txBox="1"/>
          <p:nvPr/>
        </p:nvSpPr>
        <p:spPr>
          <a:xfrm>
            <a:off x="9646920" y="5166360"/>
            <a:ext cx="1965960" cy="685800"/>
          </a:xfrm>
          <a:prstGeom prst="rect">
            <a:avLst/>
          </a:prstGeom>
          <a:noFill/>
          <a:ln/>
        </p:spPr>
        <p:txBody>
          <a:bodyPr wrap="square" lIns="0" tIns="0" rIns="0" bIns="0" rtlCol="0" anchor="ctr"/>
          <a:lstStyle/>
          <a:p>
            <a:pPr marL="0" indent="0">
              <a:buNone/>
            </a:pPr>
            <a:r>
              <a:rPr lang="en-US" sz="1150" dirty="0">
                <a:solidFill>
                  <a:srgbClr val="5A544F"/>
                </a:solidFill>
                <a:latin typeface="Arial" pitchFamily="34" charset="0"/>
                <a:ea typeface="Arial" pitchFamily="34" charset="-122"/>
                <a:cs typeface="Arial" pitchFamily="34" charset="-120"/>
              </a:rPr>
              <a:t>Loop, tools, and a stop</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202996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202996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WHERE THEY PAY OFF</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Good fits share five traits</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12</a:t>
            </a:r>
            <a:endParaRPr lang="en-US" sz="900" dirty="0"/>
          </a:p>
        </p:txBody>
      </p:sp>
      <p:sp>
        <p:nvSpPr>
          <p:cNvPr id="7" name="Shape 5"/>
          <p:cNvSpPr/>
          <p:nvPr/>
        </p:nvSpPr>
        <p:spPr>
          <a:xfrm>
            <a:off x="457200" y="1783080"/>
            <a:ext cx="2103120" cy="502920"/>
          </a:xfrm>
          <a:prstGeom prst="roundRect">
            <a:avLst>
              <a:gd name="adj" fmla="val 49091"/>
            </a:avLst>
          </a:prstGeom>
          <a:solidFill>
            <a:srgbClr val="F6921E"/>
          </a:solidFill>
          <a:ln w="12700">
            <a:solidFill>
              <a:srgbClr val="F6921E"/>
            </a:solidFill>
            <a:prstDash val="solid"/>
          </a:ln>
        </p:spPr>
        <p:txBody>
          <a:bodyPr/>
          <a:lstStyle/>
          <a:p>
            <a:endParaRPr lang="en-US"/>
          </a:p>
        </p:txBody>
      </p:sp>
      <p:sp>
        <p:nvSpPr>
          <p:cNvPr id="8" name="Text 6"/>
          <p:cNvSpPr txBox="1"/>
          <p:nvPr/>
        </p:nvSpPr>
        <p:spPr>
          <a:xfrm>
            <a:off x="457200" y="1783080"/>
            <a:ext cx="2103120" cy="50292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Multi-step</a:t>
            </a:r>
            <a:endParaRPr lang="en-US" sz="1200" dirty="0"/>
          </a:p>
        </p:txBody>
      </p:sp>
      <p:sp>
        <p:nvSpPr>
          <p:cNvPr id="9" name="Shape 7"/>
          <p:cNvSpPr/>
          <p:nvPr/>
        </p:nvSpPr>
        <p:spPr>
          <a:xfrm>
            <a:off x="2724912" y="1783080"/>
            <a:ext cx="2103120" cy="502920"/>
          </a:xfrm>
          <a:prstGeom prst="roundRect">
            <a:avLst>
              <a:gd name="adj" fmla="val 49091"/>
            </a:avLst>
          </a:prstGeom>
          <a:solidFill>
            <a:srgbClr val="F6921E"/>
          </a:solidFill>
          <a:ln w="12700">
            <a:solidFill>
              <a:srgbClr val="F6921E"/>
            </a:solidFill>
            <a:prstDash val="solid"/>
          </a:ln>
        </p:spPr>
        <p:txBody>
          <a:bodyPr/>
          <a:lstStyle/>
          <a:p>
            <a:endParaRPr lang="en-US"/>
          </a:p>
        </p:txBody>
      </p:sp>
      <p:sp>
        <p:nvSpPr>
          <p:cNvPr id="10" name="Text 8"/>
          <p:cNvSpPr txBox="1"/>
          <p:nvPr/>
        </p:nvSpPr>
        <p:spPr>
          <a:xfrm>
            <a:off x="2724912" y="1783080"/>
            <a:ext cx="2103120" cy="50292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Data across tables or systems</a:t>
            </a:r>
            <a:endParaRPr lang="en-US" sz="1200" dirty="0"/>
          </a:p>
        </p:txBody>
      </p:sp>
      <p:sp>
        <p:nvSpPr>
          <p:cNvPr id="11" name="Shape 9"/>
          <p:cNvSpPr/>
          <p:nvPr/>
        </p:nvSpPr>
        <p:spPr>
          <a:xfrm>
            <a:off x="4992624" y="1783080"/>
            <a:ext cx="2103120" cy="502920"/>
          </a:xfrm>
          <a:prstGeom prst="roundRect">
            <a:avLst>
              <a:gd name="adj" fmla="val 49091"/>
            </a:avLst>
          </a:prstGeom>
          <a:solidFill>
            <a:srgbClr val="F6921E"/>
          </a:solidFill>
          <a:ln w="12700">
            <a:solidFill>
              <a:srgbClr val="F6921E"/>
            </a:solidFill>
            <a:prstDash val="solid"/>
          </a:ln>
        </p:spPr>
        <p:txBody>
          <a:bodyPr/>
          <a:lstStyle/>
          <a:p>
            <a:endParaRPr lang="en-US"/>
          </a:p>
        </p:txBody>
      </p:sp>
      <p:sp>
        <p:nvSpPr>
          <p:cNvPr id="12" name="Text 10"/>
          <p:cNvSpPr txBox="1"/>
          <p:nvPr/>
        </p:nvSpPr>
        <p:spPr>
          <a:xfrm>
            <a:off x="4992624" y="1783080"/>
            <a:ext cx="2103120" cy="50292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A draft is acceptable</a:t>
            </a:r>
            <a:endParaRPr lang="en-US" sz="1200" dirty="0"/>
          </a:p>
        </p:txBody>
      </p:sp>
      <p:sp>
        <p:nvSpPr>
          <p:cNvPr id="13" name="Shape 11"/>
          <p:cNvSpPr/>
          <p:nvPr/>
        </p:nvSpPr>
        <p:spPr>
          <a:xfrm>
            <a:off x="7260336" y="1783080"/>
            <a:ext cx="2103120" cy="502920"/>
          </a:xfrm>
          <a:prstGeom prst="roundRect">
            <a:avLst>
              <a:gd name="adj" fmla="val 49091"/>
            </a:avLst>
          </a:prstGeom>
          <a:solidFill>
            <a:srgbClr val="F6921E"/>
          </a:solidFill>
          <a:ln w="12700">
            <a:solidFill>
              <a:srgbClr val="F6921E"/>
            </a:solidFill>
            <a:prstDash val="solid"/>
          </a:ln>
        </p:spPr>
        <p:txBody>
          <a:bodyPr/>
          <a:lstStyle/>
          <a:p>
            <a:endParaRPr lang="en-US"/>
          </a:p>
        </p:txBody>
      </p:sp>
      <p:sp>
        <p:nvSpPr>
          <p:cNvPr id="14" name="Text 12"/>
          <p:cNvSpPr txBox="1"/>
          <p:nvPr/>
        </p:nvSpPr>
        <p:spPr>
          <a:xfrm>
            <a:off x="7260336" y="1783080"/>
            <a:ext cx="2103120" cy="50292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A human can check it</a:t>
            </a:r>
            <a:endParaRPr lang="en-US" sz="1200" dirty="0"/>
          </a:p>
        </p:txBody>
      </p:sp>
      <p:sp>
        <p:nvSpPr>
          <p:cNvPr id="15" name="Shape 13"/>
          <p:cNvSpPr/>
          <p:nvPr/>
        </p:nvSpPr>
        <p:spPr>
          <a:xfrm>
            <a:off x="9528048" y="1783080"/>
            <a:ext cx="2103120" cy="502920"/>
          </a:xfrm>
          <a:prstGeom prst="roundRect">
            <a:avLst>
              <a:gd name="adj" fmla="val 49091"/>
            </a:avLst>
          </a:prstGeom>
          <a:solidFill>
            <a:srgbClr val="F6921E"/>
          </a:solidFill>
          <a:ln w="12700">
            <a:solidFill>
              <a:srgbClr val="F6921E"/>
            </a:solidFill>
            <a:prstDash val="solid"/>
          </a:ln>
        </p:spPr>
        <p:txBody>
          <a:bodyPr/>
          <a:lstStyle/>
          <a:p>
            <a:endParaRPr lang="en-US"/>
          </a:p>
        </p:txBody>
      </p:sp>
      <p:sp>
        <p:nvSpPr>
          <p:cNvPr id="16" name="Text 14"/>
          <p:cNvSpPr txBox="1"/>
          <p:nvPr/>
        </p:nvSpPr>
        <p:spPr>
          <a:xfrm>
            <a:off x="9528048" y="1783080"/>
            <a:ext cx="2103120" cy="50292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It recurs</a:t>
            </a:r>
            <a:endParaRPr lang="en-US" sz="1200" dirty="0"/>
          </a:p>
        </p:txBody>
      </p:sp>
      <p:sp>
        <p:nvSpPr>
          <p:cNvPr id="17" name="Shape 15"/>
          <p:cNvSpPr/>
          <p:nvPr/>
        </p:nvSpPr>
        <p:spPr>
          <a:xfrm>
            <a:off x="457200" y="2606040"/>
            <a:ext cx="5486400" cy="3246120"/>
          </a:xfrm>
          <a:prstGeom prst="roundRect">
            <a:avLst>
              <a:gd name="adj" fmla="val 3380"/>
            </a:avLst>
          </a:prstGeom>
          <a:solidFill>
            <a:srgbClr val="E4DED8"/>
          </a:solidFill>
          <a:ln w="12700">
            <a:solidFill>
              <a:srgbClr val="E4DED8"/>
            </a:solidFill>
            <a:prstDash val="solid"/>
          </a:ln>
        </p:spPr>
        <p:txBody>
          <a:bodyPr/>
          <a:lstStyle/>
          <a:p>
            <a:endParaRPr lang="en-US"/>
          </a:p>
        </p:txBody>
      </p:sp>
      <p:sp>
        <p:nvSpPr>
          <p:cNvPr id="18" name="Shape 16"/>
          <p:cNvSpPr/>
          <p:nvPr/>
        </p:nvSpPr>
        <p:spPr>
          <a:xfrm>
            <a:off x="731520" y="2834640"/>
            <a:ext cx="548640" cy="548640"/>
          </a:xfrm>
          <a:prstGeom prst="ellipse">
            <a:avLst/>
          </a:prstGeom>
          <a:solidFill>
            <a:srgbClr val="F6921E"/>
          </a:solidFill>
          <a:ln w="12700">
            <a:solidFill>
              <a:srgbClr val="F6921E"/>
            </a:solidFill>
            <a:prstDash val="solid"/>
          </a:ln>
        </p:spPr>
        <p:txBody>
          <a:bodyPr/>
          <a:lstStyle/>
          <a:p>
            <a:endParaRPr lang="en-US"/>
          </a:p>
        </p:txBody>
      </p:sp>
      <p:pic>
        <p:nvPicPr>
          <p:cNvPr id="19" name="Image 0" descr="preencoded.png"/>
          <p:cNvPicPr>
            <a:picLocks noChangeAspect="1"/>
          </p:cNvPicPr>
          <p:nvPr/>
        </p:nvPicPr>
        <p:blipFill>
          <a:blip r:embed="rId3"/>
          <a:stretch>
            <a:fillRect/>
          </a:stretch>
        </p:blipFill>
        <p:spPr>
          <a:xfrm>
            <a:off x="863194" y="2966314"/>
            <a:ext cx="285293" cy="285293"/>
          </a:xfrm>
          <a:prstGeom prst="rect">
            <a:avLst/>
          </a:prstGeom>
        </p:spPr>
      </p:pic>
      <p:sp>
        <p:nvSpPr>
          <p:cNvPr id="20" name="Text 17"/>
          <p:cNvSpPr txBox="1"/>
          <p:nvPr/>
        </p:nvSpPr>
        <p:spPr>
          <a:xfrm>
            <a:off x="1417320" y="2834640"/>
            <a:ext cx="3657600" cy="548640"/>
          </a:xfrm>
          <a:prstGeom prst="rect">
            <a:avLst/>
          </a:prstGeom>
          <a:noFill/>
          <a:ln/>
        </p:spPr>
        <p:txBody>
          <a:bodyPr wrap="square" lIns="0" tIns="0" rIns="0" bIns="0" rtlCol="0" anchor="ctr"/>
          <a:lstStyle/>
          <a:p>
            <a:pPr marL="0" indent="0">
              <a:buNone/>
            </a:pPr>
            <a:r>
              <a:rPr lang="en-US" sz="1800" b="1" dirty="0">
                <a:solidFill>
                  <a:srgbClr val="2D2926"/>
                </a:solidFill>
                <a:latin typeface="Arial" pitchFamily="34" charset="0"/>
                <a:ea typeface="Arial" pitchFamily="34" charset="-122"/>
                <a:cs typeface="Arial" pitchFamily="34" charset="-120"/>
              </a:rPr>
              <a:t>Good fits</a:t>
            </a:r>
            <a:endParaRPr lang="en-US" sz="1800" dirty="0"/>
          </a:p>
        </p:txBody>
      </p:sp>
      <p:sp>
        <p:nvSpPr>
          <p:cNvPr id="21" name="Text 18"/>
          <p:cNvSpPr txBox="1"/>
          <p:nvPr/>
        </p:nvSpPr>
        <p:spPr>
          <a:xfrm>
            <a:off x="777240" y="3520440"/>
            <a:ext cx="4937760" cy="2194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D2926"/>
                </a:solidFill>
                <a:latin typeface="Arial" pitchFamily="34" charset="0"/>
                <a:ea typeface="Arial" pitchFamily="34" charset="-122"/>
                <a:cs typeface="Arial" pitchFamily="34" charset="-120"/>
              </a:rPr>
              <a:t>Duplicate contact review</a:t>
            </a:r>
            <a:endParaRPr lang="en-US" sz="1400" dirty="0"/>
          </a:p>
          <a:p>
            <a:pPr marL="342900" indent="-342900">
              <a:spcAft>
                <a:spcPts val="400"/>
              </a:spcAft>
              <a:buSzPct val="100000"/>
              <a:buChar char="•"/>
            </a:pPr>
            <a:r>
              <a:rPr lang="en-US" sz="1400" dirty="0">
                <a:solidFill>
                  <a:srgbClr val="2D2926"/>
                </a:solidFill>
                <a:latin typeface="Arial" pitchFamily="34" charset="0"/>
                <a:ea typeface="Arial" pitchFamily="34" charset="-122"/>
                <a:cs typeface="Arial" pitchFamily="34" charset="-120"/>
              </a:rPr>
              <a:t>Lapsed-attender and assimilation sweeps</a:t>
            </a:r>
            <a:endParaRPr lang="en-US" sz="1400" dirty="0"/>
          </a:p>
          <a:p>
            <a:pPr marL="342900" indent="-342900">
              <a:spcAft>
                <a:spcPts val="400"/>
              </a:spcAft>
              <a:buSzPct val="100000"/>
              <a:buChar char="•"/>
            </a:pPr>
            <a:r>
              <a:rPr lang="en-US" sz="1400" dirty="0">
                <a:solidFill>
                  <a:srgbClr val="2D2926"/>
                </a:solidFill>
                <a:latin typeface="Arial" pitchFamily="34" charset="0"/>
                <a:ea typeface="Arial" pitchFamily="34" charset="-122"/>
                <a:cs typeface="Arial" pitchFamily="34" charset="-120"/>
              </a:rPr>
              <a:t>Ad hoc reports for the board</a:t>
            </a:r>
            <a:endParaRPr lang="en-US" sz="1400" dirty="0"/>
          </a:p>
          <a:p>
            <a:pPr marL="342900" indent="-342900">
              <a:spcAft>
                <a:spcPts val="400"/>
              </a:spcAft>
              <a:buSzPct val="100000"/>
              <a:buChar char="•"/>
            </a:pPr>
            <a:r>
              <a:rPr lang="en-US" sz="1400" dirty="0">
                <a:solidFill>
                  <a:srgbClr val="2D2926"/>
                </a:solidFill>
                <a:latin typeface="Arial" pitchFamily="34" charset="0"/>
                <a:ea typeface="Arial" pitchFamily="34" charset="-122"/>
                <a:cs typeface="Arial" pitchFamily="34" charset="-120"/>
              </a:rPr>
              <a:t>Helpdesk ticket triage</a:t>
            </a:r>
            <a:endParaRPr lang="en-US" sz="1400" dirty="0"/>
          </a:p>
          <a:p>
            <a:pPr marL="342900" indent="-342900">
              <a:spcAft>
                <a:spcPts val="400"/>
              </a:spcAft>
              <a:buSzPct val="100000"/>
              <a:buChar char="•"/>
            </a:pPr>
            <a:r>
              <a:rPr lang="en-US" sz="1400" dirty="0">
                <a:solidFill>
                  <a:srgbClr val="2D2926"/>
                </a:solidFill>
                <a:latin typeface="Arial" pitchFamily="34" charset="0"/>
                <a:ea typeface="Arial" pitchFamily="34" charset="-122"/>
                <a:cs typeface="Arial" pitchFamily="34" charset="-120"/>
              </a:rPr>
              <a:t>Room and event conflict checks</a:t>
            </a:r>
            <a:endParaRPr lang="en-US" sz="1400" dirty="0"/>
          </a:p>
          <a:p>
            <a:pPr marL="342900" indent="-342900">
              <a:spcAft>
                <a:spcPts val="400"/>
              </a:spcAft>
              <a:buSzPct val="100000"/>
              <a:buChar char="•"/>
            </a:pPr>
            <a:r>
              <a:rPr lang="en-US" sz="1400" dirty="0">
                <a:solidFill>
                  <a:srgbClr val="2D2926"/>
                </a:solidFill>
                <a:latin typeface="Arial" pitchFamily="34" charset="0"/>
                <a:ea typeface="Arial" pitchFamily="34" charset="-122"/>
                <a:cs typeface="Arial" pitchFamily="34" charset="-120"/>
              </a:rPr>
              <a:t>Volunteer schedule gap-finding</a:t>
            </a:r>
            <a:endParaRPr lang="en-US" sz="1400" dirty="0"/>
          </a:p>
        </p:txBody>
      </p:sp>
      <p:sp>
        <p:nvSpPr>
          <p:cNvPr id="22" name="Shape 19"/>
          <p:cNvSpPr/>
          <p:nvPr/>
        </p:nvSpPr>
        <p:spPr>
          <a:xfrm>
            <a:off x="6245352" y="2606040"/>
            <a:ext cx="5486400" cy="3246120"/>
          </a:xfrm>
          <a:prstGeom prst="roundRect">
            <a:avLst>
              <a:gd name="adj" fmla="val 3380"/>
            </a:avLst>
          </a:prstGeom>
          <a:solidFill>
            <a:srgbClr val="2D2926"/>
          </a:solidFill>
          <a:ln w="12700">
            <a:solidFill>
              <a:srgbClr val="2D2926"/>
            </a:solidFill>
            <a:prstDash val="solid"/>
          </a:ln>
        </p:spPr>
        <p:txBody>
          <a:bodyPr/>
          <a:lstStyle/>
          <a:p>
            <a:endParaRPr lang="en-US"/>
          </a:p>
        </p:txBody>
      </p:sp>
      <p:sp>
        <p:nvSpPr>
          <p:cNvPr id="23" name="Shape 20"/>
          <p:cNvSpPr/>
          <p:nvPr/>
        </p:nvSpPr>
        <p:spPr>
          <a:xfrm>
            <a:off x="6519672" y="2834640"/>
            <a:ext cx="548640" cy="548640"/>
          </a:xfrm>
          <a:prstGeom prst="ellipse">
            <a:avLst/>
          </a:prstGeom>
          <a:solidFill>
            <a:srgbClr val="F6921E"/>
          </a:solidFill>
          <a:ln w="12700">
            <a:solidFill>
              <a:srgbClr val="F6921E"/>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6651346" y="2966314"/>
            <a:ext cx="285293" cy="285293"/>
          </a:xfrm>
          <a:prstGeom prst="rect">
            <a:avLst/>
          </a:prstGeom>
        </p:spPr>
      </p:pic>
      <p:sp>
        <p:nvSpPr>
          <p:cNvPr id="25" name="Text 21"/>
          <p:cNvSpPr txBox="1"/>
          <p:nvPr/>
        </p:nvSpPr>
        <p:spPr>
          <a:xfrm>
            <a:off x="7205472" y="2834640"/>
            <a:ext cx="3657600" cy="54864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Bad fits</a:t>
            </a:r>
            <a:endParaRPr lang="en-US" sz="1800" dirty="0"/>
          </a:p>
        </p:txBody>
      </p:sp>
      <p:sp>
        <p:nvSpPr>
          <p:cNvPr id="26" name="Text 22"/>
          <p:cNvSpPr txBox="1"/>
          <p:nvPr/>
        </p:nvSpPr>
        <p:spPr>
          <a:xfrm>
            <a:off x="6565392" y="3520440"/>
            <a:ext cx="4937760" cy="2194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E4DED8"/>
                </a:solidFill>
                <a:latin typeface="Arial" pitchFamily="34" charset="0"/>
                <a:ea typeface="Arial" pitchFamily="34" charset="-122"/>
                <a:cs typeface="Arial" pitchFamily="34" charset="-120"/>
              </a:rPr>
              <a:t>Pastoral conversations</a:t>
            </a:r>
            <a:endParaRPr lang="en-US" sz="1400" dirty="0"/>
          </a:p>
          <a:p>
            <a:pPr marL="342900" indent="-342900">
              <a:spcAft>
                <a:spcPts val="400"/>
              </a:spcAft>
              <a:buSzPct val="100000"/>
              <a:buChar char="•"/>
            </a:pPr>
            <a:r>
              <a:rPr lang="en-US" sz="1400" dirty="0">
                <a:solidFill>
                  <a:srgbClr val="E4DED8"/>
                </a:solidFill>
                <a:latin typeface="Arial" pitchFamily="34" charset="0"/>
                <a:ea typeface="Arial" pitchFamily="34" charset="-122"/>
                <a:cs typeface="Arial" pitchFamily="34" charset="-120"/>
              </a:rPr>
              <a:t>Messaging members without review</a:t>
            </a:r>
            <a:endParaRPr lang="en-US" sz="1400" dirty="0"/>
          </a:p>
          <a:p>
            <a:pPr marL="342900" indent="-342900">
              <a:spcAft>
                <a:spcPts val="400"/>
              </a:spcAft>
              <a:buSzPct val="100000"/>
              <a:buChar char="•"/>
            </a:pPr>
            <a:r>
              <a:rPr lang="en-US" sz="1400" dirty="0">
                <a:solidFill>
                  <a:srgbClr val="E4DED8"/>
                </a:solidFill>
                <a:latin typeface="Arial" pitchFamily="34" charset="0"/>
                <a:ea typeface="Arial" pitchFamily="34" charset="-122"/>
                <a:cs typeface="Arial" pitchFamily="34" charset="-120"/>
              </a:rPr>
              <a:t>Financial transactions</a:t>
            </a:r>
            <a:endParaRPr lang="en-US" sz="1400" dirty="0"/>
          </a:p>
          <a:p>
            <a:pPr marL="342900" indent="-342900">
              <a:spcAft>
                <a:spcPts val="400"/>
              </a:spcAft>
              <a:buSzPct val="100000"/>
              <a:buChar char="•"/>
            </a:pPr>
            <a:r>
              <a:rPr lang="en-US" sz="1400" dirty="0">
                <a:solidFill>
                  <a:srgbClr val="E4DED8"/>
                </a:solidFill>
                <a:latin typeface="Arial" pitchFamily="34" charset="0"/>
                <a:ea typeface="Arial" pitchFamily="34" charset="-122"/>
                <a:cs typeface="Arial" pitchFamily="34" charset="-120"/>
              </a:rPr>
              <a:t>One-shot questions a search answers cheaper</a:t>
            </a:r>
            <a:endParaRPr lang="en-US" sz="1400" dirty="0"/>
          </a:p>
          <a:p>
            <a:pPr marL="342900" indent="-342900">
              <a:spcAft>
                <a:spcPts val="400"/>
              </a:spcAft>
              <a:buSzPct val="100000"/>
              <a:buChar char="•"/>
            </a:pPr>
            <a:r>
              <a:rPr lang="en-US" sz="1400" dirty="0">
                <a:solidFill>
                  <a:srgbClr val="E4DED8"/>
                </a:solidFill>
                <a:latin typeface="Arial" pitchFamily="34" charset="0"/>
                <a:ea typeface="Arial" pitchFamily="34" charset="-122"/>
                <a:cs typeface="Arial" pitchFamily="34" charset="-120"/>
              </a:rPr>
              <a:t>Processes that already work as a workflow</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66420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66420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ON YOUR CAMPUS</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Where agents fit on a church campus</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13</a:t>
            </a:r>
            <a:endParaRPr lang="en-US" sz="900" dirty="0"/>
          </a:p>
        </p:txBody>
      </p:sp>
      <p:pic>
        <p:nvPicPr>
          <p:cNvPr id="7" name="Image 0" descr="img/campus.png"/>
          <p:cNvPicPr>
            <a:picLocks noChangeAspect="1"/>
          </p:cNvPicPr>
          <p:nvPr/>
        </p:nvPicPr>
        <p:blipFill>
          <a:blip r:embed="rId3"/>
          <a:stretch>
            <a:fillRect/>
          </a:stretch>
        </p:blipFill>
        <p:spPr>
          <a:xfrm>
            <a:off x="457200" y="1783080"/>
            <a:ext cx="6720840" cy="4480560"/>
          </a:xfrm>
          <a:prstGeom prst="rect">
            <a:avLst/>
          </a:prstGeom>
        </p:spPr>
      </p:pic>
      <p:sp>
        <p:nvSpPr>
          <p:cNvPr id="8" name="Shape 5"/>
          <p:cNvSpPr/>
          <p:nvPr/>
        </p:nvSpPr>
        <p:spPr>
          <a:xfrm>
            <a:off x="7589520" y="1865376"/>
            <a:ext cx="256032" cy="256032"/>
          </a:xfrm>
          <a:prstGeom prst="ellipse">
            <a:avLst/>
          </a:prstGeom>
          <a:solidFill>
            <a:srgbClr val="F6921E"/>
          </a:solidFill>
          <a:ln w="12700">
            <a:solidFill>
              <a:srgbClr val="DC8F2E"/>
            </a:solidFill>
            <a:prstDash val="solid"/>
          </a:ln>
        </p:spPr>
        <p:txBody>
          <a:bodyPr/>
          <a:lstStyle/>
          <a:p>
            <a:endParaRPr lang="en-US"/>
          </a:p>
        </p:txBody>
      </p:sp>
      <p:sp>
        <p:nvSpPr>
          <p:cNvPr id="9" name="Text 6"/>
          <p:cNvSpPr txBox="1"/>
          <p:nvPr/>
        </p:nvSpPr>
        <p:spPr>
          <a:xfrm>
            <a:off x="8046720" y="1810512"/>
            <a:ext cx="365760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Church office</a:t>
            </a:r>
            <a:endParaRPr lang="en-US" sz="1600" dirty="0"/>
          </a:p>
        </p:txBody>
      </p:sp>
      <p:sp>
        <p:nvSpPr>
          <p:cNvPr id="10" name="Text 7"/>
          <p:cNvSpPr txBox="1"/>
          <p:nvPr/>
        </p:nvSpPr>
        <p:spPr>
          <a:xfrm>
            <a:off x="8046720" y="2176272"/>
            <a:ext cx="3657600" cy="365760"/>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Reports, data cleanup, follow-up sweeps</a:t>
            </a:r>
            <a:endParaRPr lang="en-US" sz="1300" dirty="0"/>
          </a:p>
        </p:txBody>
      </p:sp>
      <p:sp>
        <p:nvSpPr>
          <p:cNvPr id="11" name="Shape 8"/>
          <p:cNvSpPr/>
          <p:nvPr/>
        </p:nvSpPr>
        <p:spPr>
          <a:xfrm>
            <a:off x="7589520" y="2633472"/>
            <a:ext cx="256032" cy="256032"/>
          </a:xfrm>
          <a:prstGeom prst="ellipse">
            <a:avLst/>
          </a:prstGeom>
          <a:solidFill>
            <a:srgbClr val="F6921E"/>
          </a:solidFill>
          <a:ln w="12700">
            <a:solidFill>
              <a:srgbClr val="DC8F2E"/>
            </a:solidFill>
            <a:prstDash val="solid"/>
          </a:ln>
        </p:spPr>
        <p:txBody>
          <a:bodyPr/>
          <a:lstStyle/>
          <a:p>
            <a:endParaRPr lang="en-US"/>
          </a:p>
        </p:txBody>
      </p:sp>
      <p:sp>
        <p:nvSpPr>
          <p:cNvPr id="12" name="Text 9"/>
          <p:cNvSpPr txBox="1"/>
          <p:nvPr/>
        </p:nvSpPr>
        <p:spPr>
          <a:xfrm>
            <a:off x="8046720" y="2578608"/>
            <a:ext cx="365760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Kids check-in</a:t>
            </a:r>
            <a:endParaRPr lang="en-US" sz="1600" dirty="0"/>
          </a:p>
        </p:txBody>
      </p:sp>
      <p:sp>
        <p:nvSpPr>
          <p:cNvPr id="13" name="Text 10"/>
          <p:cNvSpPr txBox="1"/>
          <p:nvPr/>
        </p:nvSpPr>
        <p:spPr>
          <a:xfrm>
            <a:off x="8046720" y="2944368"/>
            <a:ext cx="3657600" cy="365760"/>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Roster gaps and room conflicts</a:t>
            </a:r>
            <a:endParaRPr lang="en-US" sz="1300" dirty="0"/>
          </a:p>
        </p:txBody>
      </p:sp>
      <p:sp>
        <p:nvSpPr>
          <p:cNvPr id="14" name="Shape 11"/>
          <p:cNvSpPr/>
          <p:nvPr/>
        </p:nvSpPr>
        <p:spPr>
          <a:xfrm>
            <a:off x="7589520" y="3401568"/>
            <a:ext cx="256032" cy="256032"/>
          </a:xfrm>
          <a:prstGeom prst="ellipse">
            <a:avLst/>
          </a:prstGeom>
          <a:solidFill>
            <a:srgbClr val="F6921E"/>
          </a:solidFill>
          <a:ln w="12700">
            <a:solidFill>
              <a:srgbClr val="DC8F2E"/>
            </a:solidFill>
            <a:prstDash val="solid"/>
          </a:ln>
        </p:spPr>
        <p:txBody>
          <a:bodyPr/>
          <a:lstStyle/>
          <a:p>
            <a:endParaRPr lang="en-US"/>
          </a:p>
        </p:txBody>
      </p:sp>
      <p:sp>
        <p:nvSpPr>
          <p:cNvPr id="15" name="Text 12"/>
          <p:cNvSpPr txBox="1"/>
          <p:nvPr/>
        </p:nvSpPr>
        <p:spPr>
          <a:xfrm>
            <a:off x="8046720" y="3346704"/>
            <a:ext cx="365760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IT helpdesk</a:t>
            </a:r>
            <a:endParaRPr lang="en-US" sz="1600" dirty="0"/>
          </a:p>
        </p:txBody>
      </p:sp>
      <p:sp>
        <p:nvSpPr>
          <p:cNvPr id="16" name="Text 13"/>
          <p:cNvSpPr txBox="1"/>
          <p:nvPr/>
        </p:nvSpPr>
        <p:spPr>
          <a:xfrm>
            <a:off x="8046720" y="3712464"/>
            <a:ext cx="3657600" cy="365760"/>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Ticket triage and account lookups</a:t>
            </a:r>
            <a:endParaRPr lang="en-US" sz="1300" dirty="0"/>
          </a:p>
        </p:txBody>
      </p:sp>
      <p:sp>
        <p:nvSpPr>
          <p:cNvPr id="17" name="Shape 14"/>
          <p:cNvSpPr/>
          <p:nvPr/>
        </p:nvSpPr>
        <p:spPr>
          <a:xfrm>
            <a:off x="7589520" y="4169664"/>
            <a:ext cx="256032" cy="256032"/>
          </a:xfrm>
          <a:prstGeom prst="ellipse">
            <a:avLst/>
          </a:prstGeom>
          <a:solidFill>
            <a:srgbClr val="E4DED8"/>
          </a:solidFill>
          <a:ln w="12700">
            <a:solidFill>
              <a:srgbClr val="5A544F"/>
            </a:solidFill>
            <a:prstDash val="solid"/>
          </a:ln>
        </p:spPr>
        <p:txBody>
          <a:bodyPr/>
          <a:lstStyle/>
          <a:p>
            <a:endParaRPr lang="en-US"/>
          </a:p>
        </p:txBody>
      </p:sp>
      <p:sp>
        <p:nvSpPr>
          <p:cNvPr id="18" name="Text 15"/>
          <p:cNvSpPr txBox="1"/>
          <p:nvPr/>
        </p:nvSpPr>
        <p:spPr>
          <a:xfrm>
            <a:off x="8046720" y="4114800"/>
            <a:ext cx="365760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Finance office</a:t>
            </a:r>
            <a:endParaRPr lang="en-US" sz="1600" dirty="0"/>
          </a:p>
        </p:txBody>
      </p:sp>
      <p:sp>
        <p:nvSpPr>
          <p:cNvPr id="19" name="Text 16"/>
          <p:cNvSpPr txBox="1"/>
          <p:nvPr/>
        </p:nvSpPr>
        <p:spPr>
          <a:xfrm>
            <a:off x="8046720" y="4480560"/>
            <a:ext cx="3657600" cy="365760"/>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No autonomous transactions</a:t>
            </a:r>
            <a:endParaRPr lang="en-US" sz="1300" dirty="0"/>
          </a:p>
        </p:txBody>
      </p:sp>
      <p:sp>
        <p:nvSpPr>
          <p:cNvPr id="20" name="Shape 17"/>
          <p:cNvSpPr/>
          <p:nvPr/>
        </p:nvSpPr>
        <p:spPr>
          <a:xfrm>
            <a:off x="7589520" y="4937760"/>
            <a:ext cx="256032" cy="256032"/>
          </a:xfrm>
          <a:prstGeom prst="ellipse">
            <a:avLst/>
          </a:prstGeom>
          <a:solidFill>
            <a:srgbClr val="E4DED8"/>
          </a:solidFill>
          <a:ln w="12700">
            <a:solidFill>
              <a:srgbClr val="5A544F"/>
            </a:solidFill>
            <a:prstDash val="solid"/>
          </a:ln>
        </p:spPr>
        <p:txBody>
          <a:bodyPr/>
          <a:lstStyle/>
          <a:p>
            <a:endParaRPr lang="en-US"/>
          </a:p>
        </p:txBody>
      </p:sp>
      <p:sp>
        <p:nvSpPr>
          <p:cNvPr id="21" name="Text 18"/>
          <p:cNvSpPr txBox="1"/>
          <p:nvPr/>
        </p:nvSpPr>
        <p:spPr>
          <a:xfrm>
            <a:off x="8046720" y="4882896"/>
            <a:ext cx="365760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Pastor’s study</a:t>
            </a:r>
            <a:endParaRPr lang="en-US" sz="1600" dirty="0"/>
          </a:p>
        </p:txBody>
      </p:sp>
      <p:sp>
        <p:nvSpPr>
          <p:cNvPr id="22" name="Text 19"/>
          <p:cNvSpPr txBox="1"/>
          <p:nvPr/>
        </p:nvSpPr>
        <p:spPr>
          <a:xfrm>
            <a:off x="8046720" y="5248656"/>
            <a:ext cx="3657600" cy="365760"/>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Pastoral care stays human</a:t>
            </a:r>
            <a:endParaRPr lang="en-US" sz="1300" dirty="0"/>
          </a:p>
        </p:txBody>
      </p:sp>
      <p:sp>
        <p:nvSpPr>
          <p:cNvPr id="23" name="Text 20"/>
          <p:cNvSpPr txBox="1"/>
          <p:nvPr/>
        </p:nvSpPr>
        <p:spPr>
          <a:xfrm>
            <a:off x="7589520" y="5715000"/>
            <a:ext cx="4114800" cy="457200"/>
          </a:xfrm>
          <a:prstGeom prst="rect">
            <a:avLst/>
          </a:prstGeom>
          <a:noFill/>
          <a:ln/>
        </p:spPr>
        <p:txBody>
          <a:bodyPr wrap="square" lIns="0" tIns="0" rIns="0" bIns="0" rtlCol="0" anchor="t"/>
          <a:lstStyle/>
          <a:p>
            <a:pPr marL="0" indent="0">
              <a:buNone/>
            </a:pPr>
            <a:r>
              <a:rPr lang="en-US" sz="1200" i="1" dirty="0">
                <a:solidFill>
                  <a:srgbClr val="5A544F"/>
                </a:solidFill>
                <a:latin typeface="Arial" pitchFamily="34" charset="0"/>
                <a:ea typeface="Arial" pitchFamily="34" charset="-122"/>
                <a:cs typeface="Arial" pitchFamily="34" charset="-120"/>
              </a:rPr>
              <a:t>Orange markers: agent territory. Gray: keep a human in the seat.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65836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65836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MCP</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MCP is USB-C for AI tools</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14</a:t>
            </a:r>
            <a:endParaRPr lang="en-US" sz="900" dirty="0"/>
          </a:p>
        </p:txBody>
      </p:sp>
      <p:pic>
        <p:nvPicPr>
          <p:cNvPr id="7" name="Image 0" descr="img/hub.png"/>
          <p:cNvPicPr>
            <a:picLocks noChangeAspect="1"/>
          </p:cNvPicPr>
          <p:nvPr/>
        </p:nvPicPr>
        <p:blipFill>
          <a:blip r:embed="rId3"/>
          <a:stretch>
            <a:fillRect/>
          </a:stretch>
        </p:blipFill>
        <p:spPr>
          <a:xfrm>
            <a:off x="457200" y="1737360"/>
            <a:ext cx="6858000" cy="4572000"/>
          </a:xfrm>
          <a:prstGeom prst="rect">
            <a:avLst/>
          </a:prstGeom>
        </p:spPr>
      </p:pic>
      <p:sp>
        <p:nvSpPr>
          <p:cNvPr id="8" name="Text 5"/>
          <p:cNvSpPr txBox="1"/>
          <p:nvPr/>
        </p:nvSpPr>
        <p:spPr>
          <a:xfrm>
            <a:off x="704088" y="4315968"/>
            <a:ext cx="1371600" cy="274320"/>
          </a:xfrm>
          <a:prstGeom prst="rect">
            <a:avLst/>
          </a:prstGeom>
          <a:noFill/>
          <a:ln/>
        </p:spPr>
        <p:txBody>
          <a:bodyPr wrap="square" lIns="0" tIns="0" rIns="0" bIns="0" rtlCol="0" anchor="ctr"/>
          <a:lstStyle/>
          <a:p>
            <a:pPr marL="0" indent="0" algn="ctr">
              <a:buNone/>
            </a:pPr>
            <a:r>
              <a:rPr lang="en-US" sz="1300" b="1" dirty="0">
                <a:solidFill>
                  <a:srgbClr val="2D2926"/>
                </a:solidFill>
                <a:latin typeface="Arial" pitchFamily="34" charset="0"/>
                <a:ea typeface="Arial" pitchFamily="34" charset="-122"/>
                <a:cs typeface="Arial" pitchFamily="34" charset="-120"/>
              </a:rPr>
              <a:t>AI client</a:t>
            </a:r>
            <a:endParaRPr lang="en-US" sz="1300" dirty="0"/>
          </a:p>
        </p:txBody>
      </p:sp>
      <p:sp>
        <p:nvSpPr>
          <p:cNvPr id="9" name="Text 6"/>
          <p:cNvSpPr txBox="1"/>
          <p:nvPr/>
        </p:nvSpPr>
        <p:spPr>
          <a:xfrm>
            <a:off x="1874520" y="3438144"/>
            <a:ext cx="1600200" cy="274320"/>
          </a:xfrm>
          <a:prstGeom prst="rect">
            <a:avLst/>
          </a:prstGeom>
          <a:noFill/>
          <a:ln/>
        </p:spPr>
        <p:txBody>
          <a:bodyPr wrap="square" lIns="0" tIns="0" rIns="0" bIns="0" rtlCol="0" anchor="ctr"/>
          <a:lstStyle/>
          <a:p>
            <a:pPr marL="0" indent="0" algn="ctr">
              <a:buNone/>
            </a:pPr>
            <a:r>
              <a:rPr lang="en-US" sz="1300" b="1" dirty="0">
                <a:solidFill>
                  <a:srgbClr val="2D2926"/>
                </a:solidFill>
                <a:latin typeface="Arial" pitchFamily="34" charset="0"/>
                <a:ea typeface="Arial" pitchFamily="34" charset="-122"/>
                <a:cs typeface="Arial" pitchFamily="34" charset="-120"/>
              </a:rPr>
              <a:t>the MCP server</a:t>
            </a:r>
            <a:endParaRPr lang="en-US" sz="1300" dirty="0"/>
          </a:p>
        </p:txBody>
      </p:sp>
      <p:sp>
        <p:nvSpPr>
          <p:cNvPr id="10" name="Text 7"/>
          <p:cNvSpPr txBox="1"/>
          <p:nvPr/>
        </p:nvSpPr>
        <p:spPr>
          <a:xfrm>
            <a:off x="4407408" y="2267712"/>
            <a:ext cx="1463040" cy="274320"/>
          </a:xfrm>
          <a:prstGeom prst="rect">
            <a:avLst/>
          </a:prstGeom>
          <a:noFill/>
          <a:ln/>
        </p:spPr>
        <p:txBody>
          <a:bodyPr wrap="square" lIns="0" tIns="0" rIns="0" bIns="0" rtlCol="0" anchor="ctr"/>
          <a:lstStyle/>
          <a:p>
            <a:pPr marL="0" indent="0" algn="l">
              <a:buNone/>
            </a:pPr>
            <a:r>
              <a:rPr lang="en-US" sz="1300" b="1" dirty="0">
                <a:solidFill>
                  <a:srgbClr val="2D2926"/>
                </a:solidFill>
                <a:latin typeface="Arial" pitchFamily="34" charset="0"/>
                <a:ea typeface="Arial" pitchFamily="34" charset="-122"/>
                <a:cs typeface="Arial" pitchFamily="34" charset="-120"/>
              </a:rPr>
              <a:t>ChMS data</a:t>
            </a:r>
            <a:endParaRPr lang="en-US" sz="1300" dirty="0"/>
          </a:p>
        </p:txBody>
      </p:sp>
      <p:sp>
        <p:nvSpPr>
          <p:cNvPr id="11" name="Text 8"/>
          <p:cNvSpPr txBox="1"/>
          <p:nvPr/>
        </p:nvSpPr>
        <p:spPr>
          <a:xfrm>
            <a:off x="5989320" y="2935224"/>
            <a:ext cx="1188720" cy="274320"/>
          </a:xfrm>
          <a:prstGeom prst="rect">
            <a:avLst/>
          </a:prstGeom>
          <a:noFill/>
          <a:ln/>
        </p:spPr>
        <p:txBody>
          <a:bodyPr wrap="square" lIns="0" tIns="0" rIns="0" bIns="0" rtlCol="0" anchor="ctr"/>
          <a:lstStyle/>
          <a:p>
            <a:pPr marL="0" indent="0" algn="l">
              <a:buNone/>
            </a:pPr>
            <a:r>
              <a:rPr lang="en-US" sz="1300" b="1" dirty="0">
                <a:solidFill>
                  <a:srgbClr val="2D2926"/>
                </a:solidFill>
                <a:latin typeface="Arial" pitchFamily="34" charset="0"/>
                <a:ea typeface="Arial" pitchFamily="34" charset="-122"/>
                <a:cs typeface="Arial" pitchFamily="34" charset="-120"/>
              </a:rPr>
              <a:t>Email</a:t>
            </a:r>
            <a:endParaRPr lang="en-US" sz="1300" dirty="0"/>
          </a:p>
        </p:txBody>
      </p:sp>
      <p:sp>
        <p:nvSpPr>
          <p:cNvPr id="12" name="Text 9"/>
          <p:cNvSpPr txBox="1"/>
          <p:nvPr/>
        </p:nvSpPr>
        <p:spPr>
          <a:xfrm>
            <a:off x="5733288" y="4654296"/>
            <a:ext cx="1371600" cy="274320"/>
          </a:xfrm>
          <a:prstGeom prst="rect">
            <a:avLst/>
          </a:prstGeom>
          <a:noFill/>
          <a:ln/>
        </p:spPr>
        <p:txBody>
          <a:bodyPr wrap="square" lIns="0" tIns="0" rIns="0" bIns="0" rtlCol="0" anchor="ctr"/>
          <a:lstStyle/>
          <a:p>
            <a:pPr marL="0" indent="0" algn="l">
              <a:buNone/>
            </a:pPr>
            <a:r>
              <a:rPr lang="en-US" sz="1300" b="1" dirty="0">
                <a:solidFill>
                  <a:srgbClr val="2D2926"/>
                </a:solidFill>
                <a:latin typeface="Arial" pitchFamily="34" charset="0"/>
                <a:ea typeface="Arial" pitchFamily="34" charset="-122"/>
                <a:cs typeface="Arial" pitchFamily="34" charset="-120"/>
              </a:rPr>
              <a:t>Calendar</a:t>
            </a:r>
            <a:endParaRPr lang="en-US" sz="1300" dirty="0"/>
          </a:p>
        </p:txBody>
      </p:sp>
      <p:sp>
        <p:nvSpPr>
          <p:cNvPr id="13" name="Text 10"/>
          <p:cNvSpPr txBox="1"/>
          <p:nvPr/>
        </p:nvSpPr>
        <p:spPr>
          <a:xfrm>
            <a:off x="4407408" y="5294376"/>
            <a:ext cx="1371600" cy="274320"/>
          </a:xfrm>
          <a:prstGeom prst="rect">
            <a:avLst/>
          </a:prstGeom>
          <a:noFill/>
          <a:ln/>
        </p:spPr>
        <p:txBody>
          <a:bodyPr wrap="square" lIns="0" tIns="0" rIns="0" bIns="0" rtlCol="0" anchor="ctr"/>
          <a:lstStyle/>
          <a:p>
            <a:pPr marL="0" indent="0" algn="l">
              <a:buNone/>
            </a:pPr>
            <a:r>
              <a:rPr lang="en-US" sz="1300" b="1" dirty="0">
                <a:solidFill>
                  <a:srgbClr val="2D2926"/>
                </a:solidFill>
                <a:latin typeface="Arial" pitchFamily="34" charset="0"/>
                <a:ea typeface="Arial" pitchFamily="34" charset="-122"/>
                <a:cs typeface="Arial" pitchFamily="34" charset="-120"/>
              </a:rPr>
              <a:t>Check-in</a:t>
            </a:r>
            <a:endParaRPr lang="en-US" sz="1300" dirty="0"/>
          </a:p>
        </p:txBody>
      </p:sp>
      <p:sp>
        <p:nvSpPr>
          <p:cNvPr id="14" name="Text 11"/>
          <p:cNvSpPr txBox="1"/>
          <p:nvPr/>
        </p:nvSpPr>
        <p:spPr>
          <a:xfrm>
            <a:off x="1005840" y="4681728"/>
            <a:ext cx="1097280" cy="274320"/>
          </a:xfrm>
          <a:prstGeom prst="rect">
            <a:avLst/>
          </a:prstGeom>
          <a:noFill/>
          <a:ln/>
        </p:spPr>
        <p:txBody>
          <a:bodyPr wrap="square" lIns="0" tIns="0" rIns="0" bIns="0" rtlCol="0" anchor="ctr"/>
          <a:lstStyle/>
          <a:p>
            <a:pPr marL="0" indent="0" algn="r">
              <a:buNone/>
            </a:pPr>
            <a:r>
              <a:rPr lang="en-US" sz="1300" b="1" dirty="0">
                <a:solidFill>
                  <a:srgbClr val="2D2926"/>
                </a:solidFill>
                <a:latin typeface="Arial" pitchFamily="34" charset="0"/>
                <a:ea typeface="Arial" pitchFamily="34" charset="-122"/>
                <a:cs typeface="Arial" pitchFamily="34" charset="-120"/>
              </a:rPr>
              <a:t>Giving</a:t>
            </a:r>
            <a:endParaRPr lang="en-US" sz="1300" dirty="0"/>
          </a:p>
        </p:txBody>
      </p:sp>
      <p:sp>
        <p:nvSpPr>
          <p:cNvPr id="15" name="Text 12"/>
          <p:cNvSpPr txBox="1"/>
          <p:nvPr/>
        </p:nvSpPr>
        <p:spPr>
          <a:xfrm>
            <a:off x="7772400" y="2011680"/>
            <a:ext cx="393192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One connector, many clients</a:t>
            </a:r>
            <a:endParaRPr lang="en-US" sz="1600" dirty="0"/>
          </a:p>
        </p:txBody>
      </p:sp>
      <p:sp>
        <p:nvSpPr>
          <p:cNvPr id="16" name="Text 13"/>
          <p:cNvSpPr txBox="1"/>
          <p:nvPr/>
        </p:nvSpPr>
        <p:spPr>
          <a:xfrm>
            <a:off x="7772400" y="2423160"/>
            <a:ext cx="3931920" cy="731520"/>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Build or buy it once; it works in Claude, Copilot and others.</a:t>
            </a:r>
            <a:endParaRPr lang="en-US" sz="1300" dirty="0"/>
          </a:p>
        </p:txBody>
      </p:sp>
      <p:sp>
        <p:nvSpPr>
          <p:cNvPr id="17" name="Text 14"/>
          <p:cNvSpPr txBox="1"/>
          <p:nvPr/>
        </p:nvSpPr>
        <p:spPr>
          <a:xfrm>
            <a:off x="7772400" y="3337560"/>
            <a:ext cx="393192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Permissions live at the server</a:t>
            </a:r>
            <a:endParaRPr lang="en-US" sz="1600" dirty="0"/>
          </a:p>
        </p:txBody>
      </p:sp>
      <p:sp>
        <p:nvSpPr>
          <p:cNvPr id="18" name="Text 15"/>
          <p:cNvSpPr txBox="1"/>
          <p:nvPr/>
        </p:nvSpPr>
        <p:spPr>
          <a:xfrm>
            <a:off x="7772400" y="3749040"/>
            <a:ext cx="3931920" cy="731520"/>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Not in a prompt someone can talk around.</a:t>
            </a:r>
            <a:endParaRPr lang="en-US" sz="1300" dirty="0"/>
          </a:p>
        </p:txBody>
      </p:sp>
      <p:sp>
        <p:nvSpPr>
          <p:cNvPr id="19" name="Text 16"/>
          <p:cNvSpPr txBox="1"/>
          <p:nvPr/>
        </p:nvSpPr>
        <p:spPr>
          <a:xfrm>
            <a:off x="7772400" y="4663440"/>
            <a:ext cx="393192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Your identity, your roles</a:t>
            </a:r>
            <a:endParaRPr lang="en-US" sz="1600" dirty="0"/>
          </a:p>
        </p:txBody>
      </p:sp>
      <p:sp>
        <p:nvSpPr>
          <p:cNvPr id="20" name="Text 17"/>
          <p:cNvSpPr txBox="1"/>
          <p:nvPr/>
        </p:nvSpPr>
        <p:spPr>
          <a:xfrm>
            <a:off x="7772400" y="5074920"/>
            <a:ext cx="3931920" cy="731520"/>
          </a:xfrm>
          <a:prstGeom prst="rect">
            <a:avLst/>
          </a:prstGeom>
          <a:noFill/>
          <a:ln/>
        </p:spPr>
        <p:txBody>
          <a:bodyPr wrap="square" lIns="0" tIns="0" rIns="0" bIns="0" rtlCol="0" anchor="t"/>
          <a:lstStyle/>
          <a:p>
            <a:pPr marL="0" indent="0">
              <a:buNone/>
            </a:pPr>
            <a:r>
              <a:rPr lang="en-US" sz="1300" dirty="0">
                <a:solidFill>
                  <a:srgbClr val="5A544F"/>
                </a:solidFill>
                <a:latin typeface="Arial" pitchFamily="34" charset="0"/>
                <a:ea typeface="Arial" pitchFamily="34" charset="-122"/>
                <a:cs typeface="Arial" pitchFamily="34" charset="-120"/>
              </a:rPr>
              <a:t>Calls run as the signed-in user via OAuth, so security roles still apply.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57276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57276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THE LANDSCAPE</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Build with a framework, or subscribe to an agent</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15</a:t>
            </a:r>
            <a:endParaRPr lang="en-US" sz="900" dirty="0"/>
          </a:p>
        </p:txBody>
      </p:sp>
      <p:sp>
        <p:nvSpPr>
          <p:cNvPr id="7" name="Text 5"/>
          <p:cNvSpPr txBox="1"/>
          <p:nvPr/>
        </p:nvSpPr>
        <p:spPr>
          <a:xfrm>
            <a:off x="457200" y="1783080"/>
            <a:ext cx="7315200" cy="274320"/>
          </a:xfrm>
          <a:prstGeom prst="rect">
            <a:avLst/>
          </a:prstGeom>
          <a:noFill/>
          <a:ln/>
        </p:spPr>
        <p:txBody>
          <a:bodyPr wrap="square" lIns="0" tIns="0" rIns="0" bIns="0" rtlCol="0" anchor="t"/>
          <a:lstStyle/>
          <a:p>
            <a:pPr marL="0" indent="0">
              <a:buNone/>
            </a:pPr>
            <a:r>
              <a:rPr lang="en-US" sz="1100" b="1" kern="0" spc="100" dirty="0">
                <a:solidFill>
                  <a:srgbClr val="5A544F"/>
                </a:solidFill>
                <a:latin typeface="Arial" pitchFamily="34" charset="0"/>
                <a:ea typeface="Arial" pitchFamily="34" charset="-122"/>
                <a:cs typeface="Arial" pitchFamily="34" charset="-120"/>
              </a:rPr>
              <a:t>FRAMEWORKS YOU BUILD WITH</a:t>
            </a:r>
            <a:endParaRPr lang="en-US" sz="1100" dirty="0"/>
          </a:p>
        </p:txBody>
      </p:sp>
      <p:sp>
        <p:nvSpPr>
          <p:cNvPr id="8" name="Shape 6"/>
          <p:cNvSpPr/>
          <p:nvPr/>
        </p:nvSpPr>
        <p:spPr>
          <a:xfrm>
            <a:off x="457200" y="2148840"/>
            <a:ext cx="3657600" cy="896112"/>
          </a:xfrm>
          <a:prstGeom prst="roundRect">
            <a:avLst>
              <a:gd name="adj" fmla="val 12245"/>
            </a:avLst>
          </a:prstGeom>
          <a:solidFill>
            <a:srgbClr val="E4DED8"/>
          </a:solidFill>
          <a:ln w="12700">
            <a:solidFill>
              <a:srgbClr val="E4DED8"/>
            </a:solidFill>
            <a:prstDash val="solid"/>
          </a:ln>
        </p:spPr>
        <p:txBody>
          <a:bodyPr/>
          <a:lstStyle/>
          <a:p>
            <a:endParaRPr lang="en-US"/>
          </a:p>
        </p:txBody>
      </p:sp>
      <p:sp>
        <p:nvSpPr>
          <p:cNvPr id="9" name="Text 7"/>
          <p:cNvSpPr txBox="1"/>
          <p:nvPr/>
        </p:nvSpPr>
        <p:spPr>
          <a:xfrm>
            <a:off x="685800" y="2267712"/>
            <a:ext cx="2514600" cy="320040"/>
          </a:xfrm>
          <a:prstGeom prst="rect">
            <a:avLst/>
          </a:prstGeom>
          <a:noFill/>
          <a:ln/>
        </p:spPr>
        <p:txBody>
          <a:bodyPr wrap="square" lIns="0" tIns="0" rIns="0" bIns="0" rtlCol="0" anchor="t"/>
          <a:lstStyle/>
          <a:p>
            <a:pPr marL="0" indent="0">
              <a:buNone/>
            </a:pPr>
            <a:r>
              <a:rPr lang="en-US" sz="1350" b="1" dirty="0">
                <a:solidFill>
                  <a:srgbClr val="2D2926"/>
                </a:solidFill>
                <a:latin typeface="Arial" pitchFamily="34" charset="0"/>
                <a:ea typeface="Arial" pitchFamily="34" charset="-122"/>
                <a:cs typeface="Arial" pitchFamily="34" charset="-120"/>
              </a:rPr>
              <a:t>Vercel eve</a:t>
            </a:r>
            <a:endParaRPr lang="en-US" sz="1350" dirty="0"/>
          </a:p>
        </p:txBody>
      </p:sp>
      <p:sp>
        <p:nvSpPr>
          <p:cNvPr id="10" name="Text 8"/>
          <p:cNvSpPr txBox="1"/>
          <p:nvPr/>
        </p:nvSpPr>
        <p:spPr>
          <a:xfrm>
            <a:off x="3108960" y="2286000"/>
            <a:ext cx="841248" cy="274320"/>
          </a:xfrm>
          <a:prstGeom prst="rect">
            <a:avLst/>
          </a:prstGeom>
          <a:noFill/>
          <a:ln/>
        </p:spPr>
        <p:txBody>
          <a:bodyPr wrap="square" lIns="0" tIns="0" rIns="0" bIns="0" rtlCol="0" anchor="t"/>
          <a:lstStyle/>
          <a:p>
            <a:pPr marL="0" indent="0" algn="r">
              <a:buNone/>
            </a:pPr>
            <a:r>
              <a:rPr lang="en-US" sz="1000" b="1" dirty="0">
                <a:solidFill>
                  <a:srgbClr val="5A544F"/>
                </a:solidFill>
                <a:latin typeface="Arial" pitchFamily="34" charset="0"/>
                <a:ea typeface="Arial" pitchFamily="34" charset="-122"/>
                <a:cs typeface="Arial" pitchFamily="34" charset="-120"/>
              </a:rPr>
              <a:t>TypeScript</a:t>
            </a:r>
            <a:endParaRPr lang="en-US" sz="1000" dirty="0"/>
          </a:p>
        </p:txBody>
      </p:sp>
      <p:sp>
        <p:nvSpPr>
          <p:cNvPr id="11" name="Text 9"/>
          <p:cNvSpPr txBox="1"/>
          <p:nvPr/>
        </p:nvSpPr>
        <p:spPr>
          <a:xfrm>
            <a:off x="685800" y="2606040"/>
            <a:ext cx="3246120" cy="36576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Durable runs, approvals, sandboxes, MCP</a:t>
            </a:r>
            <a:endParaRPr lang="en-US" sz="1150" dirty="0"/>
          </a:p>
        </p:txBody>
      </p:sp>
      <p:sp>
        <p:nvSpPr>
          <p:cNvPr id="12" name="Shape 10"/>
          <p:cNvSpPr/>
          <p:nvPr/>
        </p:nvSpPr>
        <p:spPr>
          <a:xfrm>
            <a:off x="4297680" y="2148840"/>
            <a:ext cx="3657600" cy="896112"/>
          </a:xfrm>
          <a:prstGeom prst="roundRect">
            <a:avLst>
              <a:gd name="adj" fmla="val 12245"/>
            </a:avLst>
          </a:prstGeom>
          <a:solidFill>
            <a:srgbClr val="E4DED8"/>
          </a:solidFill>
          <a:ln w="12700">
            <a:solidFill>
              <a:srgbClr val="E4DED8"/>
            </a:solidFill>
            <a:prstDash val="solid"/>
          </a:ln>
        </p:spPr>
        <p:txBody>
          <a:bodyPr/>
          <a:lstStyle/>
          <a:p>
            <a:endParaRPr lang="en-US"/>
          </a:p>
        </p:txBody>
      </p:sp>
      <p:sp>
        <p:nvSpPr>
          <p:cNvPr id="13" name="Text 11"/>
          <p:cNvSpPr txBox="1"/>
          <p:nvPr/>
        </p:nvSpPr>
        <p:spPr>
          <a:xfrm>
            <a:off x="4526280" y="2267712"/>
            <a:ext cx="2514600" cy="320040"/>
          </a:xfrm>
          <a:prstGeom prst="rect">
            <a:avLst/>
          </a:prstGeom>
          <a:noFill/>
          <a:ln/>
        </p:spPr>
        <p:txBody>
          <a:bodyPr wrap="square" lIns="0" tIns="0" rIns="0" bIns="0" rtlCol="0" anchor="t"/>
          <a:lstStyle/>
          <a:p>
            <a:pPr marL="0" indent="0">
              <a:buNone/>
            </a:pPr>
            <a:r>
              <a:rPr lang="en-US" sz="1350" b="1" dirty="0">
                <a:solidFill>
                  <a:srgbClr val="2D2926"/>
                </a:solidFill>
                <a:latin typeface="Arial" pitchFamily="34" charset="0"/>
                <a:ea typeface="Arial" pitchFamily="34" charset="-122"/>
                <a:cs typeface="Arial" pitchFamily="34" charset="-120"/>
              </a:rPr>
              <a:t>Claude Agent SDK</a:t>
            </a:r>
            <a:endParaRPr lang="en-US" sz="1350" dirty="0"/>
          </a:p>
        </p:txBody>
      </p:sp>
      <p:sp>
        <p:nvSpPr>
          <p:cNvPr id="14" name="Text 12"/>
          <p:cNvSpPr txBox="1"/>
          <p:nvPr/>
        </p:nvSpPr>
        <p:spPr>
          <a:xfrm>
            <a:off x="6949440" y="2286000"/>
            <a:ext cx="841248" cy="274320"/>
          </a:xfrm>
          <a:prstGeom prst="rect">
            <a:avLst/>
          </a:prstGeom>
          <a:noFill/>
          <a:ln/>
        </p:spPr>
        <p:txBody>
          <a:bodyPr wrap="square" lIns="0" tIns="0" rIns="0" bIns="0" rtlCol="0" anchor="t"/>
          <a:lstStyle/>
          <a:p>
            <a:pPr marL="0" indent="0" algn="r">
              <a:buNone/>
            </a:pPr>
            <a:r>
              <a:rPr lang="en-US" sz="1000" b="1" dirty="0">
                <a:solidFill>
                  <a:srgbClr val="5A544F"/>
                </a:solidFill>
                <a:latin typeface="Arial" pitchFamily="34" charset="0"/>
                <a:ea typeface="Arial" pitchFamily="34" charset="-122"/>
                <a:cs typeface="Arial" pitchFamily="34" charset="-120"/>
              </a:rPr>
              <a:t>Python, TS</a:t>
            </a:r>
            <a:endParaRPr lang="en-US" sz="1000" dirty="0"/>
          </a:p>
        </p:txBody>
      </p:sp>
      <p:sp>
        <p:nvSpPr>
          <p:cNvPr id="15" name="Text 13"/>
          <p:cNvSpPr txBox="1"/>
          <p:nvPr/>
        </p:nvSpPr>
        <p:spPr>
          <a:xfrm>
            <a:off x="4526280" y="2606040"/>
            <a:ext cx="3246120" cy="36576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The harness behind Claude Code, as a library</a:t>
            </a:r>
            <a:endParaRPr lang="en-US" sz="1150" dirty="0"/>
          </a:p>
        </p:txBody>
      </p:sp>
      <p:sp>
        <p:nvSpPr>
          <p:cNvPr id="16" name="Shape 14"/>
          <p:cNvSpPr/>
          <p:nvPr/>
        </p:nvSpPr>
        <p:spPr>
          <a:xfrm>
            <a:off x="457200" y="3154680"/>
            <a:ext cx="3657600" cy="896112"/>
          </a:xfrm>
          <a:prstGeom prst="roundRect">
            <a:avLst>
              <a:gd name="adj" fmla="val 12245"/>
            </a:avLst>
          </a:prstGeom>
          <a:solidFill>
            <a:srgbClr val="E4DED8"/>
          </a:solidFill>
          <a:ln w="12700">
            <a:solidFill>
              <a:srgbClr val="E4DED8"/>
            </a:solidFill>
            <a:prstDash val="solid"/>
          </a:ln>
        </p:spPr>
        <p:txBody>
          <a:bodyPr/>
          <a:lstStyle/>
          <a:p>
            <a:endParaRPr lang="en-US"/>
          </a:p>
        </p:txBody>
      </p:sp>
      <p:sp>
        <p:nvSpPr>
          <p:cNvPr id="17" name="Text 15"/>
          <p:cNvSpPr txBox="1"/>
          <p:nvPr/>
        </p:nvSpPr>
        <p:spPr>
          <a:xfrm>
            <a:off x="685800" y="3273552"/>
            <a:ext cx="2514600" cy="320040"/>
          </a:xfrm>
          <a:prstGeom prst="rect">
            <a:avLst/>
          </a:prstGeom>
          <a:noFill/>
          <a:ln/>
        </p:spPr>
        <p:txBody>
          <a:bodyPr wrap="square" lIns="0" tIns="0" rIns="0" bIns="0" rtlCol="0" anchor="t"/>
          <a:lstStyle/>
          <a:p>
            <a:pPr marL="0" indent="0">
              <a:buNone/>
            </a:pPr>
            <a:r>
              <a:rPr lang="en-US" sz="1350" b="1" dirty="0">
                <a:solidFill>
                  <a:srgbClr val="2D2926"/>
                </a:solidFill>
                <a:latin typeface="Arial" pitchFamily="34" charset="0"/>
                <a:ea typeface="Arial" pitchFamily="34" charset="-122"/>
                <a:cs typeface="Arial" pitchFamily="34" charset="-120"/>
              </a:rPr>
              <a:t>OpenAI Agents SDK</a:t>
            </a:r>
            <a:endParaRPr lang="en-US" sz="1350" dirty="0"/>
          </a:p>
        </p:txBody>
      </p:sp>
      <p:sp>
        <p:nvSpPr>
          <p:cNvPr id="18" name="Text 16"/>
          <p:cNvSpPr txBox="1"/>
          <p:nvPr/>
        </p:nvSpPr>
        <p:spPr>
          <a:xfrm>
            <a:off x="3108960" y="3291840"/>
            <a:ext cx="841248" cy="274320"/>
          </a:xfrm>
          <a:prstGeom prst="rect">
            <a:avLst/>
          </a:prstGeom>
          <a:noFill/>
          <a:ln/>
        </p:spPr>
        <p:txBody>
          <a:bodyPr wrap="square" lIns="0" tIns="0" rIns="0" bIns="0" rtlCol="0" anchor="t"/>
          <a:lstStyle/>
          <a:p>
            <a:pPr marL="0" indent="0" algn="r">
              <a:buNone/>
            </a:pPr>
            <a:r>
              <a:rPr lang="en-US" sz="1000" b="1" dirty="0">
                <a:solidFill>
                  <a:srgbClr val="5A544F"/>
                </a:solidFill>
                <a:latin typeface="Arial" pitchFamily="34" charset="0"/>
                <a:ea typeface="Arial" pitchFamily="34" charset="-122"/>
                <a:cs typeface="Arial" pitchFamily="34" charset="-120"/>
              </a:rPr>
              <a:t>Python, TS</a:t>
            </a:r>
            <a:endParaRPr lang="en-US" sz="1000" dirty="0"/>
          </a:p>
        </p:txBody>
      </p:sp>
      <p:sp>
        <p:nvSpPr>
          <p:cNvPr id="19" name="Text 17"/>
          <p:cNvSpPr txBox="1"/>
          <p:nvPr/>
        </p:nvSpPr>
        <p:spPr>
          <a:xfrm>
            <a:off x="685800" y="3611880"/>
            <a:ext cx="3246120" cy="36576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Lightweight handoffs, guardrails and tracing</a:t>
            </a:r>
            <a:endParaRPr lang="en-US" sz="1150" dirty="0"/>
          </a:p>
        </p:txBody>
      </p:sp>
      <p:sp>
        <p:nvSpPr>
          <p:cNvPr id="20" name="Shape 18"/>
          <p:cNvSpPr/>
          <p:nvPr/>
        </p:nvSpPr>
        <p:spPr>
          <a:xfrm>
            <a:off x="4297680" y="3154680"/>
            <a:ext cx="3657600" cy="896112"/>
          </a:xfrm>
          <a:prstGeom prst="roundRect">
            <a:avLst>
              <a:gd name="adj" fmla="val 12245"/>
            </a:avLst>
          </a:prstGeom>
          <a:solidFill>
            <a:srgbClr val="E4DED8"/>
          </a:solidFill>
          <a:ln w="12700">
            <a:solidFill>
              <a:srgbClr val="E4DED8"/>
            </a:solidFill>
            <a:prstDash val="solid"/>
          </a:ln>
        </p:spPr>
        <p:txBody>
          <a:bodyPr/>
          <a:lstStyle/>
          <a:p>
            <a:endParaRPr lang="en-US"/>
          </a:p>
        </p:txBody>
      </p:sp>
      <p:sp>
        <p:nvSpPr>
          <p:cNvPr id="21" name="Text 19"/>
          <p:cNvSpPr txBox="1"/>
          <p:nvPr/>
        </p:nvSpPr>
        <p:spPr>
          <a:xfrm>
            <a:off x="4526280" y="3273552"/>
            <a:ext cx="2514600" cy="320040"/>
          </a:xfrm>
          <a:prstGeom prst="rect">
            <a:avLst/>
          </a:prstGeom>
          <a:noFill/>
          <a:ln/>
        </p:spPr>
        <p:txBody>
          <a:bodyPr wrap="square" lIns="0" tIns="0" rIns="0" bIns="0" rtlCol="0" anchor="t"/>
          <a:lstStyle/>
          <a:p>
            <a:pPr marL="0" indent="0">
              <a:buNone/>
            </a:pPr>
            <a:r>
              <a:rPr lang="en-US" sz="1350" b="1" dirty="0">
                <a:solidFill>
                  <a:srgbClr val="2D2926"/>
                </a:solidFill>
                <a:latin typeface="Arial" pitchFamily="34" charset="0"/>
                <a:ea typeface="Arial" pitchFamily="34" charset="-122"/>
                <a:cs typeface="Arial" pitchFamily="34" charset="-120"/>
              </a:rPr>
              <a:t>Microsoft Agent Framework</a:t>
            </a:r>
            <a:endParaRPr lang="en-US" sz="1350" dirty="0"/>
          </a:p>
        </p:txBody>
      </p:sp>
      <p:sp>
        <p:nvSpPr>
          <p:cNvPr id="22" name="Text 20"/>
          <p:cNvSpPr txBox="1"/>
          <p:nvPr/>
        </p:nvSpPr>
        <p:spPr>
          <a:xfrm>
            <a:off x="6949440" y="3291840"/>
            <a:ext cx="841248" cy="274320"/>
          </a:xfrm>
          <a:prstGeom prst="rect">
            <a:avLst/>
          </a:prstGeom>
          <a:noFill/>
          <a:ln/>
        </p:spPr>
        <p:txBody>
          <a:bodyPr wrap="square" lIns="0" tIns="0" rIns="0" bIns="0" rtlCol="0" anchor="t"/>
          <a:lstStyle/>
          <a:p>
            <a:pPr marL="0" indent="0" algn="r">
              <a:buNone/>
            </a:pPr>
            <a:r>
              <a:rPr lang="en-US" sz="1000" b="1" dirty="0">
                <a:solidFill>
                  <a:srgbClr val="5A544F"/>
                </a:solidFill>
                <a:latin typeface="Arial" pitchFamily="34" charset="0"/>
                <a:ea typeface="Arial" pitchFamily="34" charset="-122"/>
                <a:cs typeface="Arial" pitchFamily="34" charset="-120"/>
              </a:rPr>
              <a:t>.NET, Python</a:t>
            </a:r>
            <a:endParaRPr lang="en-US" sz="1000" dirty="0"/>
          </a:p>
        </p:txBody>
      </p:sp>
      <p:sp>
        <p:nvSpPr>
          <p:cNvPr id="23" name="Text 21"/>
          <p:cNvSpPr txBox="1"/>
          <p:nvPr/>
        </p:nvSpPr>
        <p:spPr>
          <a:xfrm>
            <a:off x="4526280" y="3611880"/>
            <a:ext cx="3246120" cy="36576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Successor to Semantic Kernel and AutoGen</a:t>
            </a:r>
            <a:endParaRPr lang="en-US" sz="1150" dirty="0"/>
          </a:p>
        </p:txBody>
      </p:sp>
      <p:sp>
        <p:nvSpPr>
          <p:cNvPr id="24" name="Shape 22"/>
          <p:cNvSpPr/>
          <p:nvPr/>
        </p:nvSpPr>
        <p:spPr>
          <a:xfrm>
            <a:off x="457200" y="4160520"/>
            <a:ext cx="3657600" cy="896112"/>
          </a:xfrm>
          <a:prstGeom prst="roundRect">
            <a:avLst>
              <a:gd name="adj" fmla="val 12245"/>
            </a:avLst>
          </a:prstGeom>
          <a:solidFill>
            <a:srgbClr val="E4DED8"/>
          </a:solidFill>
          <a:ln w="12700">
            <a:solidFill>
              <a:srgbClr val="E4DED8"/>
            </a:solidFill>
            <a:prstDash val="solid"/>
          </a:ln>
        </p:spPr>
        <p:txBody>
          <a:bodyPr/>
          <a:lstStyle/>
          <a:p>
            <a:endParaRPr lang="en-US"/>
          </a:p>
        </p:txBody>
      </p:sp>
      <p:sp>
        <p:nvSpPr>
          <p:cNvPr id="25" name="Text 23"/>
          <p:cNvSpPr txBox="1"/>
          <p:nvPr/>
        </p:nvSpPr>
        <p:spPr>
          <a:xfrm>
            <a:off x="685800" y="4279392"/>
            <a:ext cx="2514600" cy="320040"/>
          </a:xfrm>
          <a:prstGeom prst="rect">
            <a:avLst/>
          </a:prstGeom>
          <a:noFill/>
          <a:ln/>
        </p:spPr>
        <p:txBody>
          <a:bodyPr wrap="square" lIns="0" tIns="0" rIns="0" bIns="0" rtlCol="0" anchor="t"/>
          <a:lstStyle/>
          <a:p>
            <a:pPr marL="0" indent="0">
              <a:buNone/>
            </a:pPr>
            <a:r>
              <a:rPr lang="en-US" sz="1350" b="1" dirty="0">
                <a:solidFill>
                  <a:srgbClr val="2D2926"/>
                </a:solidFill>
                <a:latin typeface="Arial" pitchFamily="34" charset="0"/>
                <a:ea typeface="Arial" pitchFamily="34" charset="-122"/>
                <a:cs typeface="Arial" pitchFamily="34" charset="-120"/>
              </a:rPr>
              <a:t>Google ADK</a:t>
            </a:r>
            <a:endParaRPr lang="en-US" sz="1350" dirty="0"/>
          </a:p>
        </p:txBody>
      </p:sp>
      <p:sp>
        <p:nvSpPr>
          <p:cNvPr id="26" name="Text 24"/>
          <p:cNvSpPr txBox="1"/>
          <p:nvPr/>
        </p:nvSpPr>
        <p:spPr>
          <a:xfrm>
            <a:off x="3108960" y="4297680"/>
            <a:ext cx="841248" cy="274320"/>
          </a:xfrm>
          <a:prstGeom prst="rect">
            <a:avLst/>
          </a:prstGeom>
          <a:noFill/>
          <a:ln/>
        </p:spPr>
        <p:txBody>
          <a:bodyPr wrap="square" lIns="0" tIns="0" rIns="0" bIns="0" rtlCol="0" anchor="t"/>
          <a:lstStyle/>
          <a:p>
            <a:pPr marL="0" indent="0" algn="r">
              <a:buNone/>
            </a:pPr>
            <a:r>
              <a:rPr lang="en-US" sz="1000" b="1" dirty="0">
                <a:solidFill>
                  <a:srgbClr val="5A544F"/>
                </a:solidFill>
                <a:latin typeface="Arial" pitchFamily="34" charset="0"/>
                <a:ea typeface="Arial" pitchFamily="34" charset="-122"/>
                <a:cs typeface="Arial" pitchFamily="34" charset="-120"/>
              </a:rPr>
              <a:t>Python, Java</a:t>
            </a:r>
            <a:endParaRPr lang="en-US" sz="1000" dirty="0"/>
          </a:p>
        </p:txBody>
      </p:sp>
      <p:sp>
        <p:nvSpPr>
          <p:cNvPr id="27" name="Text 25"/>
          <p:cNvSpPr txBox="1"/>
          <p:nvPr/>
        </p:nvSpPr>
        <p:spPr>
          <a:xfrm>
            <a:off x="685800" y="4617720"/>
            <a:ext cx="3246120" cy="36576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Hierarchical multi-agent, Gemini-native</a:t>
            </a:r>
            <a:endParaRPr lang="en-US" sz="1150" dirty="0"/>
          </a:p>
        </p:txBody>
      </p:sp>
      <p:sp>
        <p:nvSpPr>
          <p:cNvPr id="28" name="Shape 26"/>
          <p:cNvSpPr/>
          <p:nvPr/>
        </p:nvSpPr>
        <p:spPr>
          <a:xfrm>
            <a:off x="4297680" y="4160520"/>
            <a:ext cx="3657600" cy="896112"/>
          </a:xfrm>
          <a:prstGeom prst="roundRect">
            <a:avLst>
              <a:gd name="adj" fmla="val 12245"/>
            </a:avLst>
          </a:prstGeom>
          <a:solidFill>
            <a:srgbClr val="E4DED8"/>
          </a:solidFill>
          <a:ln w="12700">
            <a:solidFill>
              <a:srgbClr val="E4DED8"/>
            </a:solidFill>
            <a:prstDash val="solid"/>
          </a:ln>
        </p:spPr>
        <p:txBody>
          <a:bodyPr/>
          <a:lstStyle/>
          <a:p>
            <a:endParaRPr lang="en-US"/>
          </a:p>
        </p:txBody>
      </p:sp>
      <p:sp>
        <p:nvSpPr>
          <p:cNvPr id="29" name="Text 27"/>
          <p:cNvSpPr txBox="1"/>
          <p:nvPr/>
        </p:nvSpPr>
        <p:spPr>
          <a:xfrm>
            <a:off x="4526280" y="4279392"/>
            <a:ext cx="2514600" cy="320040"/>
          </a:xfrm>
          <a:prstGeom prst="rect">
            <a:avLst/>
          </a:prstGeom>
          <a:noFill/>
          <a:ln/>
        </p:spPr>
        <p:txBody>
          <a:bodyPr wrap="square" lIns="0" tIns="0" rIns="0" bIns="0" rtlCol="0" anchor="t"/>
          <a:lstStyle/>
          <a:p>
            <a:pPr marL="0" indent="0">
              <a:buNone/>
            </a:pPr>
            <a:r>
              <a:rPr lang="en-US" sz="1350" b="1" dirty="0">
                <a:solidFill>
                  <a:srgbClr val="2D2926"/>
                </a:solidFill>
                <a:latin typeface="Arial" pitchFamily="34" charset="0"/>
                <a:ea typeface="Arial" pitchFamily="34" charset="-122"/>
                <a:cs typeface="Arial" pitchFamily="34" charset="-120"/>
              </a:rPr>
              <a:t>LangGraph</a:t>
            </a:r>
            <a:endParaRPr lang="en-US" sz="1350" dirty="0"/>
          </a:p>
        </p:txBody>
      </p:sp>
      <p:sp>
        <p:nvSpPr>
          <p:cNvPr id="30" name="Text 28"/>
          <p:cNvSpPr txBox="1"/>
          <p:nvPr/>
        </p:nvSpPr>
        <p:spPr>
          <a:xfrm>
            <a:off x="6949440" y="4297680"/>
            <a:ext cx="841248" cy="274320"/>
          </a:xfrm>
          <a:prstGeom prst="rect">
            <a:avLst/>
          </a:prstGeom>
          <a:noFill/>
          <a:ln/>
        </p:spPr>
        <p:txBody>
          <a:bodyPr wrap="square" lIns="0" tIns="0" rIns="0" bIns="0" rtlCol="0" anchor="t"/>
          <a:lstStyle/>
          <a:p>
            <a:pPr marL="0" indent="0" algn="r">
              <a:buNone/>
            </a:pPr>
            <a:r>
              <a:rPr lang="en-US" sz="1000" b="1" dirty="0">
                <a:solidFill>
                  <a:srgbClr val="5A544F"/>
                </a:solidFill>
                <a:latin typeface="Arial" pitchFamily="34" charset="0"/>
                <a:ea typeface="Arial" pitchFamily="34" charset="-122"/>
                <a:cs typeface="Arial" pitchFamily="34" charset="-120"/>
              </a:rPr>
              <a:t>Python, TS</a:t>
            </a:r>
            <a:endParaRPr lang="en-US" sz="1000" dirty="0"/>
          </a:p>
        </p:txBody>
      </p:sp>
      <p:sp>
        <p:nvSpPr>
          <p:cNvPr id="31" name="Text 29"/>
          <p:cNvSpPr txBox="1"/>
          <p:nvPr/>
        </p:nvSpPr>
        <p:spPr>
          <a:xfrm>
            <a:off x="4526280" y="4617720"/>
            <a:ext cx="3246120" cy="36576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Stateful graphs with human-in-the-loop</a:t>
            </a:r>
            <a:endParaRPr lang="en-US" sz="1150" dirty="0"/>
          </a:p>
        </p:txBody>
      </p:sp>
      <p:sp>
        <p:nvSpPr>
          <p:cNvPr id="32" name="Shape 30"/>
          <p:cNvSpPr/>
          <p:nvPr/>
        </p:nvSpPr>
        <p:spPr>
          <a:xfrm>
            <a:off x="457200" y="5166360"/>
            <a:ext cx="3657600" cy="896112"/>
          </a:xfrm>
          <a:prstGeom prst="roundRect">
            <a:avLst>
              <a:gd name="adj" fmla="val 12245"/>
            </a:avLst>
          </a:prstGeom>
          <a:solidFill>
            <a:srgbClr val="E4DED8"/>
          </a:solidFill>
          <a:ln w="12700">
            <a:solidFill>
              <a:srgbClr val="E4DED8"/>
            </a:solidFill>
            <a:prstDash val="solid"/>
          </a:ln>
        </p:spPr>
        <p:txBody>
          <a:bodyPr/>
          <a:lstStyle/>
          <a:p>
            <a:endParaRPr lang="en-US"/>
          </a:p>
        </p:txBody>
      </p:sp>
      <p:sp>
        <p:nvSpPr>
          <p:cNvPr id="33" name="Text 31"/>
          <p:cNvSpPr txBox="1"/>
          <p:nvPr/>
        </p:nvSpPr>
        <p:spPr>
          <a:xfrm>
            <a:off x="685800" y="5285232"/>
            <a:ext cx="2514600" cy="320040"/>
          </a:xfrm>
          <a:prstGeom prst="rect">
            <a:avLst/>
          </a:prstGeom>
          <a:noFill/>
          <a:ln/>
        </p:spPr>
        <p:txBody>
          <a:bodyPr wrap="square" lIns="0" tIns="0" rIns="0" bIns="0" rtlCol="0" anchor="t"/>
          <a:lstStyle/>
          <a:p>
            <a:pPr marL="0" indent="0">
              <a:buNone/>
            </a:pPr>
            <a:r>
              <a:rPr lang="en-US" sz="1350" b="1" dirty="0">
                <a:solidFill>
                  <a:srgbClr val="2D2926"/>
                </a:solidFill>
                <a:latin typeface="Arial" pitchFamily="34" charset="0"/>
                <a:ea typeface="Arial" pitchFamily="34" charset="-122"/>
                <a:cs typeface="Arial" pitchFamily="34" charset="-120"/>
              </a:rPr>
              <a:t>Mastra</a:t>
            </a:r>
            <a:endParaRPr lang="en-US" sz="1350" dirty="0"/>
          </a:p>
        </p:txBody>
      </p:sp>
      <p:sp>
        <p:nvSpPr>
          <p:cNvPr id="34" name="Text 32"/>
          <p:cNvSpPr txBox="1"/>
          <p:nvPr/>
        </p:nvSpPr>
        <p:spPr>
          <a:xfrm>
            <a:off x="3108960" y="5303520"/>
            <a:ext cx="841248" cy="274320"/>
          </a:xfrm>
          <a:prstGeom prst="rect">
            <a:avLst/>
          </a:prstGeom>
          <a:noFill/>
          <a:ln/>
        </p:spPr>
        <p:txBody>
          <a:bodyPr wrap="square" lIns="0" tIns="0" rIns="0" bIns="0" rtlCol="0" anchor="t"/>
          <a:lstStyle/>
          <a:p>
            <a:pPr marL="0" indent="0" algn="r">
              <a:buNone/>
            </a:pPr>
            <a:r>
              <a:rPr lang="en-US" sz="1000" b="1" dirty="0">
                <a:solidFill>
                  <a:srgbClr val="5A544F"/>
                </a:solidFill>
                <a:latin typeface="Arial" pitchFamily="34" charset="0"/>
                <a:ea typeface="Arial" pitchFamily="34" charset="-122"/>
                <a:cs typeface="Arial" pitchFamily="34" charset="-120"/>
              </a:rPr>
              <a:t>TypeScript</a:t>
            </a:r>
            <a:endParaRPr lang="en-US" sz="1000" dirty="0"/>
          </a:p>
        </p:txBody>
      </p:sp>
      <p:sp>
        <p:nvSpPr>
          <p:cNvPr id="35" name="Text 33"/>
          <p:cNvSpPr txBox="1"/>
          <p:nvPr/>
        </p:nvSpPr>
        <p:spPr>
          <a:xfrm>
            <a:off x="685800" y="5623560"/>
            <a:ext cx="3246120" cy="36576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Agents and workflows for JavaScript teams</a:t>
            </a:r>
            <a:endParaRPr lang="en-US" sz="1150" dirty="0"/>
          </a:p>
        </p:txBody>
      </p:sp>
      <p:sp>
        <p:nvSpPr>
          <p:cNvPr id="36" name="Shape 34"/>
          <p:cNvSpPr/>
          <p:nvPr/>
        </p:nvSpPr>
        <p:spPr>
          <a:xfrm>
            <a:off x="4297680" y="5166360"/>
            <a:ext cx="3657600" cy="896112"/>
          </a:xfrm>
          <a:prstGeom prst="roundRect">
            <a:avLst>
              <a:gd name="adj" fmla="val 12245"/>
            </a:avLst>
          </a:prstGeom>
          <a:solidFill>
            <a:srgbClr val="E4DED8"/>
          </a:solidFill>
          <a:ln w="12700">
            <a:solidFill>
              <a:srgbClr val="E4DED8"/>
            </a:solidFill>
            <a:prstDash val="solid"/>
          </a:ln>
        </p:spPr>
        <p:txBody>
          <a:bodyPr/>
          <a:lstStyle/>
          <a:p>
            <a:endParaRPr lang="en-US"/>
          </a:p>
        </p:txBody>
      </p:sp>
      <p:sp>
        <p:nvSpPr>
          <p:cNvPr id="37" name="Text 35"/>
          <p:cNvSpPr txBox="1"/>
          <p:nvPr/>
        </p:nvSpPr>
        <p:spPr>
          <a:xfrm>
            <a:off x="4526280" y="5285232"/>
            <a:ext cx="2514600" cy="320040"/>
          </a:xfrm>
          <a:prstGeom prst="rect">
            <a:avLst/>
          </a:prstGeom>
          <a:noFill/>
          <a:ln/>
        </p:spPr>
        <p:txBody>
          <a:bodyPr wrap="square" lIns="0" tIns="0" rIns="0" bIns="0" rtlCol="0" anchor="t"/>
          <a:lstStyle/>
          <a:p>
            <a:pPr marL="0" indent="0">
              <a:buNone/>
            </a:pPr>
            <a:r>
              <a:rPr lang="en-US" sz="1350" b="1" dirty="0">
                <a:solidFill>
                  <a:srgbClr val="2D2926"/>
                </a:solidFill>
                <a:latin typeface="Arial" pitchFamily="34" charset="0"/>
                <a:ea typeface="Arial" pitchFamily="34" charset="-122"/>
                <a:cs typeface="Arial" pitchFamily="34" charset="-120"/>
              </a:rPr>
              <a:t>CrewAI</a:t>
            </a:r>
            <a:endParaRPr lang="en-US" sz="1350" dirty="0"/>
          </a:p>
        </p:txBody>
      </p:sp>
      <p:sp>
        <p:nvSpPr>
          <p:cNvPr id="38" name="Text 36"/>
          <p:cNvSpPr txBox="1"/>
          <p:nvPr/>
        </p:nvSpPr>
        <p:spPr>
          <a:xfrm>
            <a:off x="6949440" y="5303520"/>
            <a:ext cx="841248" cy="274320"/>
          </a:xfrm>
          <a:prstGeom prst="rect">
            <a:avLst/>
          </a:prstGeom>
          <a:noFill/>
          <a:ln/>
        </p:spPr>
        <p:txBody>
          <a:bodyPr wrap="square" lIns="0" tIns="0" rIns="0" bIns="0" rtlCol="0" anchor="t"/>
          <a:lstStyle/>
          <a:p>
            <a:pPr marL="0" indent="0" algn="r">
              <a:buNone/>
            </a:pPr>
            <a:r>
              <a:rPr lang="en-US" sz="1000" b="1" dirty="0">
                <a:solidFill>
                  <a:srgbClr val="5A544F"/>
                </a:solidFill>
                <a:latin typeface="Arial" pitchFamily="34" charset="0"/>
                <a:ea typeface="Arial" pitchFamily="34" charset="-122"/>
                <a:cs typeface="Arial" pitchFamily="34" charset="-120"/>
              </a:rPr>
              <a:t>Python</a:t>
            </a:r>
            <a:endParaRPr lang="en-US" sz="1000" dirty="0"/>
          </a:p>
        </p:txBody>
      </p:sp>
      <p:sp>
        <p:nvSpPr>
          <p:cNvPr id="39" name="Text 37"/>
          <p:cNvSpPr txBox="1"/>
          <p:nvPr/>
        </p:nvSpPr>
        <p:spPr>
          <a:xfrm>
            <a:off x="4526280" y="5623560"/>
            <a:ext cx="3246120" cy="36576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Role-based teams of cooperating agents</a:t>
            </a:r>
            <a:endParaRPr lang="en-US" sz="1150" dirty="0"/>
          </a:p>
        </p:txBody>
      </p:sp>
      <p:sp>
        <p:nvSpPr>
          <p:cNvPr id="40" name="Shape 38"/>
          <p:cNvSpPr/>
          <p:nvPr/>
        </p:nvSpPr>
        <p:spPr>
          <a:xfrm>
            <a:off x="8229600" y="1783080"/>
            <a:ext cx="3474720" cy="4279392"/>
          </a:xfrm>
          <a:prstGeom prst="roundRect">
            <a:avLst>
              <a:gd name="adj" fmla="val 3158"/>
            </a:avLst>
          </a:prstGeom>
          <a:solidFill>
            <a:srgbClr val="2D2926"/>
          </a:solidFill>
          <a:ln w="12700">
            <a:solidFill>
              <a:srgbClr val="2D2926"/>
            </a:solidFill>
            <a:prstDash val="solid"/>
          </a:ln>
        </p:spPr>
        <p:txBody>
          <a:bodyPr/>
          <a:lstStyle/>
          <a:p>
            <a:endParaRPr lang="en-US"/>
          </a:p>
        </p:txBody>
      </p:sp>
      <p:sp>
        <p:nvSpPr>
          <p:cNvPr id="41" name="Text 39"/>
          <p:cNvSpPr txBox="1"/>
          <p:nvPr/>
        </p:nvSpPr>
        <p:spPr>
          <a:xfrm>
            <a:off x="8503920" y="2011680"/>
            <a:ext cx="3017520" cy="274320"/>
          </a:xfrm>
          <a:prstGeom prst="rect">
            <a:avLst/>
          </a:prstGeom>
          <a:noFill/>
          <a:ln/>
        </p:spPr>
        <p:txBody>
          <a:bodyPr wrap="square" lIns="0" tIns="0" rIns="0" bIns="0" rtlCol="0" anchor="t"/>
          <a:lstStyle/>
          <a:p>
            <a:pPr marL="0" indent="0">
              <a:buNone/>
            </a:pPr>
            <a:r>
              <a:rPr lang="en-US" sz="1100" b="1" kern="0" spc="100" dirty="0">
                <a:solidFill>
                  <a:srgbClr val="F6921E"/>
                </a:solidFill>
                <a:latin typeface="Arial" pitchFamily="34" charset="0"/>
                <a:ea typeface="Arial" pitchFamily="34" charset="-122"/>
                <a:cs typeface="Arial" pitchFamily="34" charset="-120"/>
              </a:rPr>
              <a:t>AGENTS YOU SUBSCRIBE TO</a:t>
            </a:r>
            <a:endParaRPr lang="en-US" sz="1100" dirty="0"/>
          </a:p>
        </p:txBody>
      </p:sp>
      <p:sp>
        <p:nvSpPr>
          <p:cNvPr id="42" name="Text 40"/>
          <p:cNvSpPr txBox="1"/>
          <p:nvPr/>
        </p:nvSpPr>
        <p:spPr>
          <a:xfrm>
            <a:off x="8503920" y="2468880"/>
            <a:ext cx="3017520" cy="36576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OpenAI Dots</a:t>
            </a:r>
            <a:endParaRPr lang="en-US" sz="1700" dirty="0"/>
          </a:p>
        </p:txBody>
      </p:sp>
      <p:sp>
        <p:nvSpPr>
          <p:cNvPr id="43" name="Text 41"/>
          <p:cNvSpPr txBox="1"/>
          <p:nvPr/>
        </p:nvSpPr>
        <p:spPr>
          <a:xfrm>
            <a:off x="8503920" y="2852928"/>
            <a:ext cx="3017520" cy="868680"/>
          </a:xfrm>
          <a:prstGeom prst="rect">
            <a:avLst/>
          </a:prstGeom>
          <a:noFill/>
          <a:ln/>
        </p:spPr>
        <p:txBody>
          <a:bodyPr wrap="square" lIns="0" tIns="0" rIns="0" bIns="0" rtlCol="0" anchor="t"/>
          <a:lstStyle/>
          <a:p>
            <a:pPr marL="0" indent="0">
              <a:buNone/>
            </a:pPr>
            <a:r>
              <a:rPr lang="en-US" sz="1200" dirty="0">
                <a:solidFill>
                  <a:srgbClr val="E4DED8"/>
                </a:solidFill>
                <a:latin typeface="Arial" pitchFamily="34" charset="0"/>
                <a:ea typeface="Arial" pitchFamily="34" charset="-122"/>
                <a:cs typeface="Arial" pitchFamily="34" charset="-120"/>
              </a:rPr>
              <a:t>Always-on coworkers with their own cloud computer and memory. DevDay, Sept 2026.</a:t>
            </a:r>
            <a:endParaRPr lang="en-US" sz="1200" dirty="0"/>
          </a:p>
        </p:txBody>
      </p:sp>
      <p:sp>
        <p:nvSpPr>
          <p:cNvPr id="44" name="Text 42"/>
          <p:cNvSpPr txBox="1"/>
          <p:nvPr/>
        </p:nvSpPr>
        <p:spPr>
          <a:xfrm>
            <a:off x="8503920" y="3794760"/>
            <a:ext cx="3017520" cy="36576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Meta Muse</a:t>
            </a:r>
            <a:endParaRPr lang="en-US" sz="1700" dirty="0"/>
          </a:p>
        </p:txBody>
      </p:sp>
      <p:sp>
        <p:nvSpPr>
          <p:cNvPr id="45" name="Text 43"/>
          <p:cNvSpPr txBox="1"/>
          <p:nvPr/>
        </p:nvSpPr>
        <p:spPr>
          <a:xfrm>
            <a:off x="8503920" y="4178808"/>
            <a:ext cx="3017520" cy="868680"/>
          </a:xfrm>
          <a:prstGeom prst="rect">
            <a:avLst/>
          </a:prstGeom>
          <a:noFill/>
          <a:ln/>
        </p:spPr>
        <p:txBody>
          <a:bodyPr wrap="square" lIns="0" tIns="0" rIns="0" bIns="0" rtlCol="0" anchor="t"/>
          <a:lstStyle/>
          <a:p>
            <a:pPr marL="0" indent="0">
              <a:buNone/>
            </a:pPr>
            <a:r>
              <a:rPr lang="en-US" sz="1200" dirty="0">
                <a:solidFill>
                  <a:srgbClr val="E4DED8"/>
                </a:solidFill>
                <a:latin typeface="Arial" pitchFamily="34" charset="0"/>
                <a:ea typeface="Arial" pitchFamily="34" charset="-122"/>
                <a:cs typeface="Arial" pitchFamily="34" charset="-120"/>
              </a:rPr>
              <a:t>A business agent across Meta’s apps and 14+ tools like Slack, Stripe and QuickBooks. Sept 2026.</a:t>
            </a:r>
            <a:endParaRPr lang="en-US" sz="1200" dirty="0"/>
          </a:p>
        </p:txBody>
      </p:sp>
      <p:sp>
        <p:nvSpPr>
          <p:cNvPr id="46" name="Text 44"/>
          <p:cNvSpPr txBox="1"/>
          <p:nvPr/>
        </p:nvSpPr>
        <p:spPr>
          <a:xfrm>
            <a:off x="8503920" y="5166360"/>
            <a:ext cx="3017520" cy="777240"/>
          </a:xfrm>
          <a:prstGeom prst="rect">
            <a:avLst/>
          </a:prstGeom>
          <a:noFill/>
          <a:ln/>
        </p:spPr>
        <p:txBody>
          <a:bodyPr wrap="square" lIns="0" tIns="0" rIns="0" bIns="0" rtlCol="0" anchor="t"/>
          <a:lstStyle/>
          <a:p>
            <a:pPr marL="0" indent="0">
              <a:buNone/>
            </a:pPr>
            <a:r>
              <a:rPr lang="en-US" sz="1150" i="1" dirty="0">
                <a:solidFill>
                  <a:srgbClr val="BFB8B1"/>
                </a:solidFill>
                <a:latin typeface="Arial" pitchFamily="34" charset="0"/>
                <a:ea typeface="Arial" pitchFamily="34" charset="-122"/>
                <a:cs typeface="Arial" pitchFamily="34" charset="-120"/>
              </a:rPr>
              <a:t>Products, not frameworks: autonomous agents someone else built and runs. Same checklist applies.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20700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20700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LIVE DEMO</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A lapsed-participant sweep, start to finish</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16</a:t>
            </a:r>
            <a:endParaRPr lang="en-US" sz="900" dirty="0"/>
          </a:p>
        </p:txBody>
      </p:sp>
      <p:sp>
        <p:nvSpPr>
          <p:cNvPr id="7" name="Shape 5"/>
          <p:cNvSpPr/>
          <p:nvPr/>
        </p:nvSpPr>
        <p:spPr>
          <a:xfrm>
            <a:off x="1623060" y="2514600"/>
            <a:ext cx="1271016" cy="0"/>
          </a:xfrm>
          <a:prstGeom prst="line">
            <a:avLst/>
          </a:prstGeom>
          <a:noFill/>
          <a:ln w="25400">
            <a:solidFill>
              <a:srgbClr val="E4DED8"/>
            </a:solidFill>
            <a:prstDash val="solid"/>
          </a:ln>
        </p:spPr>
        <p:txBody>
          <a:bodyPr/>
          <a:lstStyle/>
          <a:p>
            <a:endParaRPr lang="en-US"/>
          </a:p>
        </p:txBody>
      </p:sp>
      <p:sp>
        <p:nvSpPr>
          <p:cNvPr id="8" name="Shape 6"/>
          <p:cNvSpPr/>
          <p:nvPr/>
        </p:nvSpPr>
        <p:spPr>
          <a:xfrm>
            <a:off x="982980" y="2194560"/>
            <a:ext cx="640080" cy="640080"/>
          </a:xfrm>
          <a:prstGeom prst="ellipse">
            <a:avLst/>
          </a:prstGeom>
          <a:solidFill>
            <a:srgbClr val="F6921E"/>
          </a:solidFill>
          <a:ln w="12700">
            <a:solidFill>
              <a:srgbClr val="F6921E"/>
            </a:solidFill>
            <a:prstDash val="solid"/>
          </a:ln>
        </p:spPr>
        <p:txBody>
          <a:bodyPr/>
          <a:lstStyle/>
          <a:p>
            <a:endParaRPr lang="en-US"/>
          </a:p>
        </p:txBody>
      </p:sp>
      <p:sp>
        <p:nvSpPr>
          <p:cNvPr id="9" name="Text 7"/>
          <p:cNvSpPr txBox="1"/>
          <p:nvPr/>
        </p:nvSpPr>
        <p:spPr>
          <a:xfrm>
            <a:off x="982980" y="2194560"/>
            <a:ext cx="640080" cy="640080"/>
          </a:xfrm>
          <a:prstGeom prst="rect">
            <a:avLst/>
          </a:prstGeom>
          <a:noFill/>
          <a:ln/>
        </p:spPr>
        <p:txBody>
          <a:bodyPr wrap="square" lIns="0" tIns="0" rIns="0" bIns="0" rtlCol="0" anchor="ctr"/>
          <a:lstStyle/>
          <a:p>
            <a:pPr marL="0" indent="0" algn="ctr">
              <a:buNone/>
            </a:pPr>
            <a:r>
              <a:rPr lang="en-US" sz="1800" b="1" dirty="0">
                <a:solidFill>
                  <a:srgbClr val="2D2926"/>
                </a:solidFill>
                <a:latin typeface="Arial" pitchFamily="34" charset="0"/>
                <a:ea typeface="Arial" pitchFamily="34" charset="-122"/>
                <a:cs typeface="Arial" pitchFamily="34" charset="-120"/>
              </a:rPr>
              <a:t>1</a:t>
            </a:r>
            <a:endParaRPr lang="en-US" sz="1800" dirty="0"/>
          </a:p>
        </p:txBody>
      </p:sp>
      <p:sp>
        <p:nvSpPr>
          <p:cNvPr id="10" name="Text 8"/>
          <p:cNvSpPr txBox="1"/>
          <p:nvPr/>
        </p:nvSpPr>
        <p:spPr>
          <a:xfrm>
            <a:off x="457200" y="3063240"/>
            <a:ext cx="1691640" cy="365760"/>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Ask</a:t>
            </a:r>
            <a:endParaRPr lang="en-US" sz="1400" dirty="0"/>
          </a:p>
        </p:txBody>
      </p:sp>
      <p:sp>
        <p:nvSpPr>
          <p:cNvPr id="11" name="Text 9"/>
          <p:cNvSpPr txBox="1"/>
          <p:nvPr/>
        </p:nvSpPr>
        <p:spPr>
          <a:xfrm>
            <a:off x="457200" y="3474720"/>
            <a:ext cx="1691640" cy="91440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Who hasn’t attended their group in 60 days?</a:t>
            </a:r>
            <a:endParaRPr lang="en-US" sz="1200" dirty="0"/>
          </a:p>
        </p:txBody>
      </p:sp>
      <p:sp>
        <p:nvSpPr>
          <p:cNvPr id="12" name="Shape 10"/>
          <p:cNvSpPr/>
          <p:nvPr/>
        </p:nvSpPr>
        <p:spPr>
          <a:xfrm>
            <a:off x="3534156" y="2514600"/>
            <a:ext cx="1271016" cy="0"/>
          </a:xfrm>
          <a:prstGeom prst="line">
            <a:avLst/>
          </a:prstGeom>
          <a:noFill/>
          <a:ln w="25400">
            <a:solidFill>
              <a:srgbClr val="E4DED8"/>
            </a:solidFill>
            <a:prstDash val="solid"/>
          </a:ln>
        </p:spPr>
        <p:txBody>
          <a:bodyPr/>
          <a:lstStyle/>
          <a:p>
            <a:endParaRPr lang="en-US"/>
          </a:p>
        </p:txBody>
      </p:sp>
      <p:sp>
        <p:nvSpPr>
          <p:cNvPr id="13" name="Shape 11"/>
          <p:cNvSpPr/>
          <p:nvPr/>
        </p:nvSpPr>
        <p:spPr>
          <a:xfrm>
            <a:off x="2894076" y="2194560"/>
            <a:ext cx="640080" cy="640080"/>
          </a:xfrm>
          <a:prstGeom prst="ellipse">
            <a:avLst/>
          </a:prstGeom>
          <a:solidFill>
            <a:srgbClr val="F6921E"/>
          </a:solidFill>
          <a:ln w="12700">
            <a:solidFill>
              <a:srgbClr val="F6921E"/>
            </a:solidFill>
            <a:prstDash val="solid"/>
          </a:ln>
        </p:spPr>
        <p:txBody>
          <a:bodyPr/>
          <a:lstStyle/>
          <a:p>
            <a:endParaRPr lang="en-US"/>
          </a:p>
        </p:txBody>
      </p:sp>
      <p:sp>
        <p:nvSpPr>
          <p:cNvPr id="14" name="Text 12"/>
          <p:cNvSpPr txBox="1"/>
          <p:nvPr/>
        </p:nvSpPr>
        <p:spPr>
          <a:xfrm>
            <a:off x="2894076" y="2194560"/>
            <a:ext cx="640080" cy="640080"/>
          </a:xfrm>
          <a:prstGeom prst="rect">
            <a:avLst/>
          </a:prstGeom>
          <a:noFill/>
          <a:ln/>
        </p:spPr>
        <p:txBody>
          <a:bodyPr wrap="square" lIns="0" tIns="0" rIns="0" bIns="0" rtlCol="0" anchor="ctr"/>
          <a:lstStyle/>
          <a:p>
            <a:pPr marL="0" indent="0" algn="ctr">
              <a:buNone/>
            </a:pPr>
            <a:r>
              <a:rPr lang="en-US" sz="1800" b="1" dirty="0">
                <a:solidFill>
                  <a:srgbClr val="2D2926"/>
                </a:solidFill>
                <a:latin typeface="Arial" pitchFamily="34" charset="0"/>
                <a:ea typeface="Arial" pitchFamily="34" charset="-122"/>
                <a:cs typeface="Arial" pitchFamily="34" charset="-120"/>
              </a:rPr>
              <a:t>2</a:t>
            </a:r>
            <a:endParaRPr lang="en-US" sz="1800" dirty="0"/>
          </a:p>
        </p:txBody>
      </p:sp>
      <p:sp>
        <p:nvSpPr>
          <p:cNvPr id="15" name="Text 13"/>
          <p:cNvSpPr txBox="1"/>
          <p:nvPr/>
        </p:nvSpPr>
        <p:spPr>
          <a:xfrm>
            <a:off x="2368296" y="3063240"/>
            <a:ext cx="1691640" cy="365760"/>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Watch the loop</a:t>
            </a:r>
            <a:endParaRPr lang="en-US" sz="1400" dirty="0"/>
          </a:p>
        </p:txBody>
      </p:sp>
      <p:sp>
        <p:nvSpPr>
          <p:cNvPr id="16" name="Text 14"/>
          <p:cNvSpPr txBox="1"/>
          <p:nvPr/>
        </p:nvSpPr>
        <p:spPr>
          <a:xfrm>
            <a:off x="2368296" y="3474720"/>
            <a:ext cx="1691640" cy="91440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Schema, lookup, query calls appear</a:t>
            </a:r>
            <a:endParaRPr lang="en-US" sz="1200" dirty="0"/>
          </a:p>
        </p:txBody>
      </p:sp>
      <p:sp>
        <p:nvSpPr>
          <p:cNvPr id="17" name="Shape 15"/>
          <p:cNvSpPr/>
          <p:nvPr/>
        </p:nvSpPr>
        <p:spPr>
          <a:xfrm>
            <a:off x="5445252" y="2514600"/>
            <a:ext cx="1271016" cy="0"/>
          </a:xfrm>
          <a:prstGeom prst="line">
            <a:avLst/>
          </a:prstGeom>
          <a:noFill/>
          <a:ln w="25400">
            <a:solidFill>
              <a:srgbClr val="E4DED8"/>
            </a:solidFill>
            <a:prstDash val="solid"/>
          </a:ln>
        </p:spPr>
        <p:txBody>
          <a:bodyPr/>
          <a:lstStyle/>
          <a:p>
            <a:endParaRPr lang="en-US"/>
          </a:p>
        </p:txBody>
      </p:sp>
      <p:sp>
        <p:nvSpPr>
          <p:cNvPr id="18" name="Shape 16"/>
          <p:cNvSpPr/>
          <p:nvPr/>
        </p:nvSpPr>
        <p:spPr>
          <a:xfrm>
            <a:off x="4805172" y="2194560"/>
            <a:ext cx="640080" cy="640080"/>
          </a:xfrm>
          <a:prstGeom prst="ellipse">
            <a:avLst/>
          </a:prstGeom>
          <a:solidFill>
            <a:srgbClr val="F6921E"/>
          </a:solidFill>
          <a:ln w="12700">
            <a:solidFill>
              <a:srgbClr val="F6921E"/>
            </a:solidFill>
            <a:prstDash val="solid"/>
          </a:ln>
        </p:spPr>
        <p:txBody>
          <a:bodyPr/>
          <a:lstStyle/>
          <a:p>
            <a:endParaRPr lang="en-US"/>
          </a:p>
        </p:txBody>
      </p:sp>
      <p:sp>
        <p:nvSpPr>
          <p:cNvPr id="19" name="Text 17"/>
          <p:cNvSpPr txBox="1"/>
          <p:nvPr/>
        </p:nvSpPr>
        <p:spPr>
          <a:xfrm>
            <a:off x="4805172" y="2194560"/>
            <a:ext cx="640080" cy="640080"/>
          </a:xfrm>
          <a:prstGeom prst="rect">
            <a:avLst/>
          </a:prstGeom>
          <a:noFill/>
          <a:ln/>
        </p:spPr>
        <p:txBody>
          <a:bodyPr wrap="square" lIns="0" tIns="0" rIns="0" bIns="0" rtlCol="0" anchor="ctr"/>
          <a:lstStyle/>
          <a:p>
            <a:pPr marL="0" indent="0" algn="ctr">
              <a:buNone/>
            </a:pPr>
            <a:r>
              <a:rPr lang="en-US" sz="1800" b="1" dirty="0">
                <a:solidFill>
                  <a:srgbClr val="2D2926"/>
                </a:solidFill>
                <a:latin typeface="Arial" pitchFamily="34" charset="0"/>
                <a:ea typeface="Arial" pitchFamily="34" charset="-122"/>
                <a:cs typeface="Arial" pitchFamily="34" charset="-120"/>
              </a:rPr>
              <a:t>3</a:t>
            </a:r>
            <a:endParaRPr lang="en-US" sz="1800" dirty="0"/>
          </a:p>
        </p:txBody>
      </p:sp>
      <p:sp>
        <p:nvSpPr>
          <p:cNvPr id="20" name="Text 18"/>
          <p:cNvSpPr txBox="1"/>
          <p:nvPr/>
        </p:nvSpPr>
        <p:spPr>
          <a:xfrm>
            <a:off x="4279392" y="3063240"/>
            <a:ext cx="1691640" cy="365760"/>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Self-correct</a:t>
            </a:r>
            <a:endParaRPr lang="en-US" sz="1400" dirty="0"/>
          </a:p>
        </p:txBody>
      </p:sp>
      <p:sp>
        <p:nvSpPr>
          <p:cNvPr id="21" name="Text 19"/>
          <p:cNvSpPr txBox="1"/>
          <p:nvPr/>
        </p:nvSpPr>
        <p:spPr>
          <a:xfrm>
            <a:off x="4279392" y="3474720"/>
            <a:ext cx="1691640" cy="91440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It reads an error and retries</a:t>
            </a:r>
            <a:endParaRPr lang="en-US" sz="1200" dirty="0"/>
          </a:p>
        </p:txBody>
      </p:sp>
      <p:sp>
        <p:nvSpPr>
          <p:cNvPr id="22" name="Shape 20"/>
          <p:cNvSpPr/>
          <p:nvPr/>
        </p:nvSpPr>
        <p:spPr>
          <a:xfrm>
            <a:off x="7356348" y="2514600"/>
            <a:ext cx="1271016" cy="0"/>
          </a:xfrm>
          <a:prstGeom prst="line">
            <a:avLst/>
          </a:prstGeom>
          <a:noFill/>
          <a:ln w="25400">
            <a:solidFill>
              <a:srgbClr val="E4DED8"/>
            </a:solidFill>
            <a:prstDash val="solid"/>
          </a:ln>
        </p:spPr>
        <p:txBody>
          <a:bodyPr/>
          <a:lstStyle/>
          <a:p>
            <a:endParaRPr lang="en-US"/>
          </a:p>
        </p:txBody>
      </p:sp>
      <p:sp>
        <p:nvSpPr>
          <p:cNvPr id="23" name="Shape 21"/>
          <p:cNvSpPr/>
          <p:nvPr/>
        </p:nvSpPr>
        <p:spPr>
          <a:xfrm>
            <a:off x="6716268" y="2194560"/>
            <a:ext cx="640080" cy="640080"/>
          </a:xfrm>
          <a:prstGeom prst="ellipse">
            <a:avLst/>
          </a:prstGeom>
          <a:solidFill>
            <a:srgbClr val="F6921E"/>
          </a:solidFill>
          <a:ln w="12700">
            <a:solidFill>
              <a:srgbClr val="F6921E"/>
            </a:solidFill>
            <a:prstDash val="solid"/>
          </a:ln>
        </p:spPr>
        <p:txBody>
          <a:bodyPr/>
          <a:lstStyle/>
          <a:p>
            <a:endParaRPr lang="en-US"/>
          </a:p>
        </p:txBody>
      </p:sp>
      <p:sp>
        <p:nvSpPr>
          <p:cNvPr id="24" name="Text 22"/>
          <p:cNvSpPr txBox="1"/>
          <p:nvPr/>
        </p:nvSpPr>
        <p:spPr>
          <a:xfrm>
            <a:off x="6716268" y="2194560"/>
            <a:ext cx="640080" cy="640080"/>
          </a:xfrm>
          <a:prstGeom prst="rect">
            <a:avLst/>
          </a:prstGeom>
          <a:noFill/>
          <a:ln/>
        </p:spPr>
        <p:txBody>
          <a:bodyPr wrap="square" lIns="0" tIns="0" rIns="0" bIns="0" rtlCol="0" anchor="ctr"/>
          <a:lstStyle/>
          <a:p>
            <a:pPr marL="0" indent="0" algn="ctr">
              <a:buNone/>
            </a:pPr>
            <a:r>
              <a:rPr lang="en-US" sz="1800" b="1" dirty="0">
                <a:solidFill>
                  <a:srgbClr val="2D2926"/>
                </a:solidFill>
                <a:latin typeface="Arial" pitchFamily="34" charset="0"/>
                <a:ea typeface="Arial" pitchFamily="34" charset="-122"/>
                <a:cs typeface="Arial" pitchFamily="34" charset="-120"/>
              </a:rPr>
              <a:t>4</a:t>
            </a:r>
            <a:endParaRPr lang="en-US" sz="1800" dirty="0"/>
          </a:p>
        </p:txBody>
      </p:sp>
      <p:sp>
        <p:nvSpPr>
          <p:cNvPr id="25" name="Text 23"/>
          <p:cNvSpPr txBox="1"/>
          <p:nvPr/>
        </p:nvSpPr>
        <p:spPr>
          <a:xfrm>
            <a:off x="6190488" y="3063240"/>
            <a:ext cx="1691640" cy="365760"/>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Draft</a:t>
            </a:r>
            <a:endParaRPr lang="en-US" sz="1400" dirty="0"/>
          </a:p>
        </p:txBody>
      </p:sp>
      <p:sp>
        <p:nvSpPr>
          <p:cNvPr id="26" name="Text 24"/>
          <p:cNvSpPr txBox="1"/>
          <p:nvPr/>
        </p:nvSpPr>
        <p:spPr>
          <a:xfrm>
            <a:off x="6190488" y="3474720"/>
            <a:ext cx="1691640" cy="91440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A note to each leader; nothing sent</a:t>
            </a:r>
            <a:endParaRPr lang="en-US" sz="1200" dirty="0"/>
          </a:p>
        </p:txBody>
      </p:sp>
      <p:sp>
        <p:nvSpPr>
          <p:cNvPr id="27" name="Shape 25"/>
          <p:cNvSpPr/>
          <p:nvPr/>
        </p:nvSpPr>
        <p:spPr>
          <a:xfrm>
            <a:off x="9267444" y="2514600"/>
            <a:ext cx="1271016" cy="0"/>
          </a:xfrm>
          <a:prstGeom prst="line">
            <a:avLst/>
          </a:prstGeom>
          <a:noFill/>
          <a:ln w="25400">
            <a:solidFill>
              <a:srgbClr val="E4DED8"/>
            </a:solidFill>
            <a:prstDash val="solid"/>
          </a:ln>
        </p:spPr>
        <p:txBody>
          <a:bodyPr/>
          <a:lstStyle/>
          <a:p>
            <a:endParaRPr lang="en-US"/>
          </a:p>
        </p:txBody>
      </p:sp>
      <p:sp>
        <p:nvSpPr>
          <p:cNvPr id="28" name="Shape 26"/>
          <p:cNvSpPr/>
          <p:nvPr/>
        </p:nvSpPr>
        <p:spPr>
          <a:xfrm>
            <a:off x="8627364" y="2194560"/>
            <a:ext cx="640080" cy="640080"/>
          </a:xfrm>
          <a:prstGeom prst="ellipse">
            <a:avLst/>
          </a:prstGeom>
          <a:solidFill>
            <a:srgbClr val="2D2926"/>
          </a:solidFill>
          <a:ln w="12700">
            <a:solidFill>
              <a:srgbClr val="2D2926"/>
            </a:solidFill>
            <a:prstDash val="solid"/>
          </a:ln>
        </p:spPr>
        <p:txBody>
          <a:bodyPr/>
          <a:lstStyle/>
          <a:p>
            <a:endParaRPr lang="en-US"/>
          </a:p>
        </p:txBody>
      </p:sp>
      <p:sp>
        <p:nvSpPr>
          <p:cNvPr id="29" name="Text 27"/>
          <p:cNvSpPr txBox="1"/>
          <p:nvPr/>
        </p:nvSpPr>
        <p:spPr>
          <a:xfrm>
            <a:off x="8627364" y="219456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8"/>
          <p:cNvSpPr txBox="1"/>
          <p:nvPr/>
        </p:nvSpPr>
        <p:spPr>
          <a:xfrm>
            <a:off x="8101584" y="3063240"/>
            <a:ext cx="1691640" cy="365760"/>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Approve a write</a:t>
            </a:r>
            <a:endParaRPr lang="en-US" sz="1400" dirty="0"/>
          </a:p>
        </p:txBody>
      </p:sp>
      <p:sp>
        <p:nvSpPr>
          <p:cNvPr id="31" name="Text 29"/>
          <p:cNvSpPr txBox="1"/>
          <p:nvPr/>
        </p:nvSpPr>
        <p:spPr>
          <a:xfrm>
            <a:off x="8101584" y="3474720"/>
            <a:ext cx="1691640" cy="91440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Approve one task, decline one</a:t>
            </a:r>
            <a:endParaRPr lang="en-US" sz="1200" dirty="0"/>
          </a:p>
        </p:txBody>
      </p:sp>
      <p:sp>
        <p:nvSpPr>
          <p:cNvPr id="32" name="Shape 30"/>
          <p:cNvSpPr/>
          <p:nvPr/>
        </p:nvSpPr>
        <p:spPr>
          <a:xfrm>
            <a:off x="10538460" y="2194560"/>
            <a:ext cx="640080" cy="640080"/>
          </a:xfrm>
          <a:prstGeom prst="ellipse">
            <a:avLst/>
          </a:prstGeom>
          <a:solidFill>
            <a:srgbClr val="F6921E"/>
          </a:solidFill>
          <a:ln w="12700">
            <a:solidFill>
              <a:srgbClr val="F6921E"/>
            </a:solidFill>
            <a:prstDash val="solid"/>
          </a:ln>
        </p:spPr>
        <p:txBody>
          <a:bodyPr/>
          <a:lstStyle/>
          <a:p>
            <a:endParaRPr lang="en-US"/>
          </a:p>
        </p:txBody>
      </p:sp>
      <p:sp>
        <p:nvSpPr>
          <p:cNvPr id="33" name="Text 31"/>
          <p:cNvSpPr txBox="1"/>
          <p:nvPr/>
        </p:nvSpPr>
        <p:spPr>
          <a:xfrm>
            <a:off x="10538460" y="2194560"/>
            <a:ext cx="640080" cy="640080"/>
          </a:xfrm>
          <a:prstGeom prst="rect">
            <a:avLst/>
          </a:prstGeom>
          <a:noFill/>
          <a:ln/>
        </p:spPr>
        <p:txBody>
          <a:bodyPr wrap="square" lIns="0" tIns="0" rIns="0" bIns="0" rtlCol="0" anchor="ctr"/>
          <a:lstStyle/>
          <a:p>
            <a:pPr marL="0" indent="0" algn="ctr">
              <a:buNone/>
            </a:pPr>
            <a:r>
              <a:rPr lang="en-US" sz="1800" b="1" dirty="0">
                <a:solidFill>
                  <a:srgbClr val="2D2926"/>
                </a:solidFill>
                <a:latin typeface="Arial" pitchFamily="34" charset="0"/>
                <a:ea typeface="Arial" pitchFamily="34" charset="-122"/>
                <a:cs typeface="Arial" pitchFamily="34" charset="-120"/>
              </a:rPr>
              <a:t>6</a:t>
            </a:r>
            <a:endParaRPr lang="en-US" sz="1800" dirty="0"/>
          </a:p>
        </p:txBody>
      </p:sp>
      <p:sp>
        <p:nvSpPr>
          <p:cNvPr id="34" name="Text 32"/>
          <p:cNvSpPr txBox="1"/>
          <p:nvPr/>
        </p:nvSpPr>
        <p:spPr>
          <a:xfrm>
            <a:off x="10012680" y="3063240"/>
            <a:ext cx="1691640" cy="365760"/>
          </a:xfrm>
          <a:prstGeom prst="rect">
            <a:avLst/>
          </a:prstGeom>
          <a:noFill/>
          <a:ln/>
        </p:spPr>
        <p:txBody>
          <a:bodyPr wrap="square" lIns="0" tIns="0" rIns="0" bIns="0" rtlCol="0" anchor="t"/>
          <a:lstStyle/>
          <a:p>
            <a:pPr marL="0" indent="0" algn="ctr">
              <a:buNone/>
            </a:pPr>
            <a:r>
              <a:rPr lang="en-US" sz="1400" b="1" dirty="0">
                <a:solidFill>
                  <a:srgbClr val="2D2926"/>
                </a:solidFill>
                <a:latin typeface="Arial" pitchFamily="34" charset="0"/>
                <a:ea typeface="Arial" pitchFamily="34" charset="-122"/>
                <a:cs typeface="Arial" pitchFamily="34" charset="-120"/>
              </a:rPr>
              <a:t>Check the log</a:t>
            </a:r>
            <a:endParaRPr lang="en-US" sz="1400" dirty="0"/>
          </a:p>
        </p:txBody>
      </p:sp>
      <p:sp>
        <p:nvSpPr>
          <p:cNvPr id="35" name="Text 33"/>
          <p:cNvSpPr txBox="1"/>
          <p:nvPr/>
        </p:nvSpPr>
        <p:spPr>
          <a:xfrm>
            <a:off x="10012680" y="3474720"/>
            <a:ext cx="1691640" cy="914400"/>
          </a:xfrm>
          <a:prstGeom prst="rect">
            <a:avLst/>
          </a:prstGeom>
          <a:noFill/>
          <a:ln/>
        </p:spPr>
        <p:txBody>
          <a:bodyPr wrap="square" lIns="0" tIns="0" rIns="0" bIns="0" rtlCol="0" anchor="t"/>
          <a:lstStyle/>
          <a:p>
            <a:pPr marL="0" indent="0" algn="ctr">
              <a:buNone/>
            </a:pPr>
            <a:r>
              <a:rPr lang="en-US" sz="1200" dirty="0">
                <a:solidFill>
                  <a:srgbClr val="5A544F"/>
                </a:solidFill>
                <a:latin typeface="Arial" pitchFamily="34" charset="0"/>
                <a:ea typeface="Arial" pitchFamily="34" charset="-122"/>
                <a:cs typeface="Arial" pitchFamily="34" charset="-120"/>
              </a:rPr>
              <a:t>Audit entry, step count, tokens</a:t>
            </a:r>
            <a:endParaRPr lang="en-US" sz="1200" dirty="0"/>
          </a:p>
        </p:txBody>
      </p:sp>
      <p:sp>
        <p:nvSpPr>
          <p:cNvPr id="36" name="Shape 34"/>
          <p:cNvSpPr/>
          <p:nvPr/>
        </p:nvSpPr>
        <p:spPr>
          <a:xfrm>
            <a:off x="457200" y="4754880"/>
            <a:ext cx="11247120" cy="1005840"/>
          </a:xfrm>
          <a:prstGeom prst="roundRect">
            <a:avLst>
              <a:gd name="adj" fmla="val 10909"/>
            </a:avLst>
          </a:prstGeom>
          <a:solidFill>
            <a:srgbClr val="E4DED8"/>
          </a:solidFill>
          <a:ln w="12700">
            <a:solidFill>
              <a:srgbClr val="E4DED8"/>
            </a:solidFill>
            <a:prstDash val="solid"/>
          </a:ln>
        </p:spPr>
        <p:txBody>
          <a:bodyPr/>
          <a:lstStyle/>
          <a:p>
            <a:endParaRPr lang="en-US"/>
          </a:p>
        </p:txBody>
      </p:sp>
      <p:sp>
        <p:nvSpPr>
          <p:cNvPr id="37" name="Shape 35"/>
          <p:cNvSpPr/>
          <p:nvPr/>
        </p:nvSpPr>
        <p:spPr>
          <a:xfrm>
            <a:off x="731520" y="4937760"/>
            <a:ext cx="640080" cy="640080"/>
          </a:xfrm>
          <a:prstGeom prst="ellipse">
            <a:avLst/>
          </a:prstGeom>
          <a:solidFill>
            <a:srgbClr val="F6921E"/>
          </a:solidFill>
          <a:ln w="12700">
            <a:solidFill>
              <a:srgbClr val="F6921E"/>
            </a:solidFill>
            <a:prstDash val="solid"/>
          </a:ln>
        </p:spPr>
        <p:txBody>
          <a:bodyPr/>
          <a:lstStyle/>
          <a:p>
            <a:endParaRPr lang="en-US"/>
          </a:p>
        </p:txBody>
      </p:sp>
      <p:pic>
        <p:nvPicPr>
          <p:cNvPr id="38" name="Image 0" descr="preencoded.png"/>
          <p:cNvPicPr>
            <a:picLocks noChangeAspect="1"/>
          </p:cNvPicPr>
          <p:nvPr/>
        </p:nvPicPr>
        <p:blipFill>
          <a:blip r:embed="rId3"/>
          <a:stretch>
            <a:fillRect/>
          </a:stretch>
        </p:blipFill>
        <p:spPr>
          <a:xfrm>
            <a:off x="885139" y="5091379"/>
            <a:ext cx="332842" cy="332842"/>
          </a:xfrm>
          <a:prstGeom prst="rect">
            <a:avLst/>
          </a:prstGeom>
        </p:spPr>
      </p:pic>
      <p:sp>
        <p:nvSpPr>
          <p:cNvPr id="39" name="Text 36"/>
          <p:cNvSpPr txBox="1"/>
          <p:nvPr/>
        </p:nvSpPr>
        <p:spPr>
          <a:xfrm>
            <a:off x="1600200" y="4754880"/>
            <a:ext cx="9875520" cy="1005840"/>
          </a:xfrm>
          <a:prstGeom prst="rect">
            <a:avLst/>
          </a:prstGeom>
          <a:noFill/>
          <a:ln/>
        </p:spPr>
        <p:txBody>
          <a:bodyPr wrap="square" lIns="0" tIns="0" rIns="0" bIns="0" rtlCol="0" anchor="ctr"/>
          <a:lstStyle/>
          <a:p>
            <a:pPr marL="0" indent="0">
              <a:buNone/>
            </a:pPr>
            <a:r>
              <a:rPr lang="en-US" sz="1400" dirty="0">
                <a:solidFill>
                  <a:srgbClr val="2D2926"/>
                </a:solidFill>
                <a:latin typeface="Arial" pitchFamily="34" charset="0"/>
                <a:ea typeface="Arial" pitchFamily="34" charset="-122"/>
                <a:cs typeface="Arial" pitchFamily="34" charset="-120"/>
              </a:rPr>
              <a:t>Running against a demo tenant with synthetic contacts. Real member data never goes on a conference projector, and that is the first guardrail.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D2926"/>
        </a:solidFill>
        <a:effectLst/>
      </p:bgPr>
    </p:bg>
    <p:spTree>
      <p:nvGrpSpPr>
        <p:cNvPr id="1" name=""/>
        <p:cNvGrpSpPr/>
        <p:nvPr/>
      </p:nvGrpSpPr>
      <p:grpSpPr>
        <a:xfrm>
          <a:off x="0" y="0"/>
          <a:ext cx="0" cy="0"/>
          <a:chOff x="0" y="0"/>
          <a:chExt cx="0" cy="0"/>
        </a:xfrm>
      </p:grpSpPr>
      <p:pic>
        <p:nvPicPr>
          <p:cNvPr id="2" name="Image 0" descr="img/road.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457200" y="411480"/>
            <a:ext cx="129844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4" name="Text 1"/>
          <p:cNvSpPr txBox="1"/>
          <p:nvPr/>
        </p:nvSpPr>
        <p:spPr>
          <a:xfrm>
            <a:off x="457200" y="411480"/>
            <a:ext cx="129844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GUARDRAILS</a:t>
            </a:r>
            <a:endParaRPr lang="en-US" sz="1100" dirty="0"/>
          </a:p>
        </p:txBody>
      </p:sp>
      <p:sp>
        <p:nvSpPr>
          <p:cNvPr id="5" name="Text 2"/>
          <p:cNvSpPr txBox="1"/>
          <p:nvPr/>
        </p:nvSpPr>
        <p:spPr>
          <a:xfrm>
            <a:off x="457200" y="2103120"/>
            <a:ext cx="5669280" cy="822960"/>
          </a:xfrm>
          <a:prstGeom prst="rect">
            <a:avLst/>
          </a:prstGeom>
          <a:noFill/>
          <a:ln/>
        </p:spPr>
        <p:txBody>
          <a:bodyPr wrap="square" lIns="0" tIns="0" rIns="0" bIns="0" rtlCol="0" anchor="b"/>
          <a:lstStyle/>
          <a:p>
            <a:pPr marL="0" indent="0">
              <a:buNone/>
            </a:pPr>
            <a:r>
              <a:rPr lang="en-US" sz="4000" b="1" dirty="0">
                <a:solidFill>
                  <a:srgbClr val="FFFFFF"/>
                </a:solidFill>
                <a:latin typeface="Arial" pitchFamily="34" charset="0"/>
                <a:ea typeface="Arial" pitchFamily="34" charset="-122"/>
                <a:cs typeface="Arial" pitchFamily="34" charset="-120"/>
              </a:rPr>
              <a:t>Keep it</a:t>
            </a:r>
            <a:endParaRPr lang="en-US" sz="4000" dirty="0"/>
          </a:p>
        </p:txBody>
      </p:sp>
      <p:sp>
        <p:nvSpPr>
          <p:cNvPr id="6" name="Text 3"/>
          <p:cNvSpPr txBox="1"/>
          <p:nvPr/>
        </p:nvSpPr>
        <p:spPr>
          <a:xfrm>
            <a:off x="457200" y="2926080"/>
            <a:ext cx="5669280" cy="822960"/>
          </a:xfrm>
          <a:prstGeom prst="rect">
            <a:avLst/>
          </a:prstGeom>
          <a:noFill/>
          <a:ln/>
        </p:spPr>
        <p:txBody>
          <a:bodyPr wrap="square" lIns="0" tIns="0" rIns="0" bIns="0" rtlCol="0" anchor="t"/>
          <a:lstStyle/>
          <a:p>
            <a:pPr marL="0" indent="0">
              <a:buNone/>
            </a:pPr>
            <a:r>
              <a:rPr lang="en-US" sz="4000" b="1" dirty="0">
                <a:solidFill>
                  <a:srgbClr val="F6921E"/>
                </a:solidFill>
                <a:latin typeface="Arial" pitchFamily="34" charset="0"/>
                <a:ea typeface="Arial" pitchFamily="34" charset="-122"/>
                <a:cs typeface="Arial" pitchFamily="34" charset="-120"/>
              </a:rPr>
              <a:t>on the road.</a:t>
            </a:r>
            <a:endParaRPr lang="en-US" sz="4000" dirty="0"/>
          </a:p>
        </p:txBody>
      </p:sp>
      <p:sp>
        <p:nvSpPr>
          <p:cNvPr id="7" name="Text 4"/>
          <p:cNvSpPr txBox="1"/>
          <p:nvPr/>
        </p:nvSpPr>
        <p:spPr>
          <a:xfrm>
            <a:off x="457200" y="3977640"/>
            <a:ext cx="4114800" cy="1097280"/>
          </a:xfrm>
          <a:prstGeom prst="rect">
            <a:avLst/>
          </a:prstGeom>
          <a:noFill/>
          <a:ln/>
        </p:spPr>
        <p:txBody>
          <a:bodyPr wrap="square" lIns="0" tIns="0" rIns="0" bIns="0" rtlCol="0" anchor="t"/>
          <a:lstStyle/>
          <a:p>
            <a:pPr marL="0" indent="0">
              <a:buNone/>
            </a:pPr>
            <a:r>
              <a:rPr lang="en-US" sz="1600" dirty="0">
                <a:solidFill>
                  <a:srgbClr val="E4DED8"/>
                </a:solidFill>
                <a:latin typeface="Arial" pitchFamily="34" charset="0"/>
                <a:ea typeface="Arial" pitchFamily="34" charset="-122"/>
                <a:cs typeface="Arial" pitchFamily="34" charset="-120"/>
              </a:rPr>
              <a:t>Approvals, PII, spend caps and audit trails: what you’d have to explain to your exec pastor.</a:t>
            </a:r>
            <a:endParaRPr lang="en-US" sz="1600" dirty="0"/>
          </a:p>
        </p:txBody>
      </p:sp>
      <p:sp>
        <p:nvSpPr>
          <p:cNvPr id="8" name="Text 5"/>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BFB8B1"/>
                </a:solidFill>
                <a:latin typeface="Arial" pitchFamily="34" charset="0"/>
                <a:ea typeface="Arial" pitchFamily="34" charset="-122"/>
                <a:cs typeface="Arial" pitchFamily="34" charset="-120"/>
              </a:rPr>
              <a:t>All About Agents: A Church IT Reality Check   ·   CITN26</a:t>
            </a:r>
            <a:endParaRPr lang="en-US" sz="900" dirty="0"/>
          </a:p>
        </p:txBody>
      </p:sp>
      <p:sp>
        <p:nvSpPr>
          <p:cNvPr id="9" name="Text 6"/>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B8B1"/>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29844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29844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GUARDRAILS</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Four things you’d have to explain to your exec pastor</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18</a:t>
            </a:r>
            <a:endParaRPr lang="en-US" sz="900" dirty="0"/>
          </a:p>
        </p:txBody>
      </p:sp>
      <p:sp>
        <p:nvSpPr>
          <p:cNvPr id="7" name="Shape 5"/>
          <p:cNvSpPr/>
          <p:nvPr/>
        </p:nvSpPr>
        <p:spPr>
          <a:xfrm>
            <a:off x="457200" y="1874520"/>
            <a:ext cx="5486400" cy="1737360"/>
          </a:xfrm>
          <a:prstGeom prst="roundRect">
            <a:avLst>
              <a:gd name="adj" fmla="val 6316"/>
            </a:avLst>
          </a:prstGeom>
          <a:solidFill>
            <a:srgbClr val="E4DED8"/>
          </a:solidFill>
          <a:ln w="12700">
            <a:solidFill>
              <a:srgbClr val="E4DED8"/>
            </a:solidFill>
            <a:prstDash val="solid"/>
          </a:ln>
        </p:spPr>
        <p:txBody>
          <a:bodyPr/>
          <a:lstStyle/>
          <a:p>
            <a:endParaRPr lang="en-US"/>
          </a:p>
        </p:txBody>
      </p:sp>
      <p:sp>
        <p:nvSpPr>
          <p:cNvPr id="8" name="Shape 6"/>
          <p:cNvSpPr/>
          <p:nvPr/>
        </p:nvSpPr>
        <p:spPr>
          <a:xfrm>
            <a:off x="777240" y="2286000"/>
            <a:ext cx="914400" cy="914400"/>
          </a:xfrm>
          <a:prstGeom prst="ellipse">
            <a:avLst/>
          </a:prstGeom>
          <a:solidFill>
            <a:srgbClr val="F6921E"/>
          </a:solidFill>
          <a:ln w="12700">
            <a:solidFill>
              <a:srgbClr val="F6921E"/>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996696" y="2505456"/>
            <a:ext cx="475488" cy="475488"/>
          </a:xfrm>
          <a:prstGeom prst="rect">
            <a:avLst/>
          </a:prstGeom>
        </p:spPr>
      </p:pic>
      <p:sp>
        <p:nvSpPr>
          <p:cNvPr id="10" name="Text 7"/>
          <p:cNvSpPr txBox="1"/>
          <p:nvPr/>
        </p:nvSpPr>
        <p:spPr>
          <a:xfrm>
            <a:off x="1965960" y="2148840"/>
            <a:ext cx="3703320" cy="411480"/>
          </a:xfrm>
          <a:prstGeom prst="rect">
            <a:avLst/>
          </a:prstGeom>
          <a:noFill/>
          <a:ln/>
        </p:spPr>
        <p:txBody>
          <a:bodyPr wrap="square" lIns="0" tIns="0" rIns="0" bIns="0" rtlCol="0" anchor="t"/>
          <a:lstStyle/>
          <a:p>
            <a:pPr marL="0" indent="0">
              <a:buNone/>
            </a:pPr>
            <a:r>
              <a:rPr lang="en-US" sz="1900" b="1" dirty="0">
                <a:solidFill>
                  <a:srgbClr val="2D2926"/>
                </a:solidFill>
                <a:latin typeface="Arial" pitchFamily="34" charset="0"/>
                <a:ea typeface="Arial" pitchFamily="34" charset="-122"/>
                <a:cs typeface="Arial" pitchFamily="34" charset="-120"/>
              </a:rPr>
              <a:t>Approvals</a:t>
            </a:r>
            <a:endParaRPr lang="en-US" sz="1900" dirty="0"/>
          </a:p>
        </p:txBody>
      </p:sp>
      <p:sp>
        <p:nvSpPr>
          <p:cNvPr id="11" name="Text 8"/>
          <p:cNvSpPr txBox="1"/>
          <p:nvPr/>
        </p:nvSpPr>
        <p:spPr>
          <a:xfrm>
            <a:off x="1965960" y="2606040"/>
            <a:ext cx="3703320" cy="868680"/>
          </a:xfrm>
          <a:prstGeom prst="rect">
            <a:avLst/>
          </a:prstGeom>
          <a:noFill/>
          <a:ln/>
        </p:spPr>
        <p:txBody>
          <a:bodyPr wrap="square" lIns="0" tIns="0" rIns="0" bIns="0" rtlCol="0" anchor="t"/>
          <a:lstStyle/>
          <a:p>
            <a:pPr marL="0" indent="0">
              <a:buNone/>
            </a:pPr>
            <a:r>
              <a:rPr lang="en-US" sz="1350" dirty="0">
                <a:solidFill>
                  <a:srgbClr val="5A544F"/>
                </a:solidFill>
                <a:latin typeface="Arial" pitchFamily="34" charset="0"/>
                <a:ea typeface="Arial" pitchFamily="34" charset="-122"/>
                <a:cs typeface="Arial" pitchFamily="34" charset="-120"/>
              </a:rPr>
              <a:t>Read and draft freely. Writes need a human confirm. Some actions never.</a:t>
            </a:r>
            <a:endParaRPr lang="en-US" sz="1350" dirty="0"/>
          </a:p>
        </p:txBody>
      </p:sp>
      <p:sp>
        <p:nvSpPr>
          <p:cNvPr id="12" name="Shape 9"/>
          <p:cNvSpPr/>
          <p:nvPr/>
        </p:nvSpPr>
        <p:spPr>
          <a:xfrm>
            <a:off x="6245352" y="1874520"/>
            <a:ext cx="5486400" cy="1737360"/>
          </a:xfrm>
          <a:prstGeom prst="roundRect">
            <a:avLst>
              <a:gd name="adj" fmla="val 6316"/>
            </a:avLst>
          </a:prstGeom>
          <a:solidFill>
            <a:srgbClr val="E4DED8"/>
          </a:solidFill>
          <a:ln w="12700">
            <a:solidFill>
              <a:srgbClr val="E4DED8"/>
            </a:solidFill>
            <a:prstDash val="solid"/>
          </a:ln>
        </p:spPr>
        <p:txBody>
          <a:bodyPr/>
          <a:lstStyle/>
          <a:p>
            <a:endParaRPr lang="en-US"/>
          </a:p>
        </p:txBody>
      </p:sp>
      <p:sp>
        <p:nvSpPr>
          <p:cNvPr id="13" name="Shape 10"/>
          <p:cNvSpPr/>
          <p:nvPr/>
        </p:nvSpPr>
        <p:spPr>
          <a:xfrm>
            <a:off x="6565392" y="2286000"/>
            <a:ext cx="914400" cy="914400"/>
          </a:xfrm>
          <a:prstGeom prst="ellipse">
            <a:avLst/>
          </a:prstGeom>
          <a:solidFill>
            <a:srgbClr val="F6921E"/>
          </a:solidFill>
          <a:ln w="12700">
            <a:solidFill>
              <a:srgbClr val="F6921E"/>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6784848" y="2505456"/>
            <a:ext cx="475488" cy="475488"/>
          </a:xfrm>
          <a:prstGeom prst="rect">
            <a:avLst/>
          </a:prstGeom>
        </p:spPr>
      </p:pic>
      <p:sp>
        <p:nvSpPr>
          <p:cNvPr id="15" name="Text 11"/>
          <p:cNvSpPr txBox="1"/>
          <p:nvPr/>
        </p:nvSpPr>
        <p:spPr>
          <a:xfrm>
            <a:off x="7754112" y="2148840"/>
            <a:ext cx="3703320" cy="411480"/>
          </a:xfrm>
          <a:prstGeom prst="rect">
            <a:avLst/>
          </a:prstGeom>
          <a:noFill/>
          <a:ln/>
        </p:spPr>
        <p:txBody>
          <a:bodyPr wrap="square" lIns="0" tIns="0" rIns="0" bIns="0" rtlCol="0" anchor="t"/>
          <a:lstStyle/>
          <a:p>
            <a:pPr marL="0" indent="0">
              <a:buNone/>
            </a:pPr>
            <a:r>
              <a:rPr lang="en-US" sz="1900" b="1" dirty="0">
                <a:solidFill>
                  <a:srgbClr val="2D2926"/>
                </a:solidFill>
                <a:latin typeface="Arial" pitchFamily="34" charset="0"/>
                <a:ea typeface="Arial" pitchFamily="34" charset="-122"/>
                <a:cs typeface="Arial" pitchFamily="34" charset="-120"/>
              </a:rPr>
              <a:t>PII</a:t>
            </a:r>
            <a:endParaRPr lang="en-US" sz="1900" dirty="0"/>
          </a:p>
        </p:txBody>
      </p:sp>
      <p:sp>
        <p:nvSpPr>
          <p:cNvPr id="16" name="Text 12"/>
          <p:cNvSpPr txBox="1"/>
          <p:nvPr/>
        </p:nvSpPr>
        <p:spPr>
          <a:xfrm>
            <a:off x="7754112" y="2606040"/>
            <a:ext cx="3703320" cy="868680"/>
          </a:xfrm>
          <a:prstGeom prst="rect">
            <a:avLst/>
          </a:prstGeom>
          <a:noFill/>
          <a:ln/>
        </p:spPr>
        <p:txBody>
          <a:bodyPr wrap="square" lIns="0" tIns="0" rIns="0" bIns="0" rtlCol="0" anchor="t"/>
          <a:lstStyle/>
          <a:p>
            <a:pPr marL="0" indent="0">
              <a:buNone/>
            </a:pPr>
            <a:r>
              <a:rPr lang="en-US" sz="1350" dirty="0">
                <a:solidFill>
                  <a:srgbClr val="5A544F"/>
                </a:solidFill>
                <a:latin typeface="Arial" pitchFamily="34" charset="0"/>
                <a:ea typeface="Arial" pitchFamily="34" charset="-122"/>
                <a:cs typeface="Arial" pitchFamily="34" charset="-120"/>
              </a:rPr>
              <a:t>Least privilege: your identity or a scoped account, limited tables, no bulk export.</a:t>
            </a:r>
            <a:endParaRPr lang="en-US" sz="1350" dirty="0"/>
          </a:p>
        </p:txBody>
      </p:sp>
      <p:sp>
        <p:nvSpPr>
          <p:cNvPr id="17" name="Shape 13"/>
          <p:cNvSpPr/>
          <p:nvPr/>
        </p:nvSpPr>
        <p:spPr>
          <a:xfrm>
            <a:off x="457200" y="3840480"/>
            <a:ext cx="5486400" cy="1737360"/>
          </a:xfrm>
          <a:prstGeom prst="roundRect">
            <a:avLst>
              <a:gd name="adj" fmla="val 6316"/>
            </a:avLst>
          </a:prstGeom>
          <a:solidFill>
            <a:srgbClr val="E4DED8"/>
          </a:solidFill>
          <a:ln w="12700">
            <a:solidFill>
              <a:srgbClr val="E4DED8"/>
            </a:solidFill>
            <a:prstDash val="solid"/>
          </a:ln>
        </p:spPr>
        <p:txBody>
          <a:bodyPr/>
          <a:lstStyle/>
          <a:p>
            <a:endParaRPr lang="en-US"/>
          </a:p>
        </p:txBody>
      </p:sp>
      <p:sp>
        <p:nvSpPr>
          <p:cNvPr id="18" name="Shape 14"/>
          <p:cNvSpPr/>
          <p:nvPr/>
        </p:nvSpPr>
        <p:spPr>
          <a:xfrm>
            <a:off x="777240" y="4251960"/>
            <a:ext cx="914400" cy="914400"/>
          </a:xfrm>
          <a:prstGeom prst="ellipse">
            <a:avLst/>
          </a:prstGeom>
          <a:solidFill>
            <a:srgbClr val="F6921E"/>
          </a:solidFill>
          <a:ln w="12700">
            <a:solidFill>
              <a:srgbClr val="F6921E"/>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996696" y="4471416"/>
            <a:ext cx="475488" cy="475488"/>
          </a:xfrm>
          <a:prstGeom prst="rect">
            <a:avLst/>
          </a:prstGeom>
        </p:spPr>
      </p:pic>
      <p:sp>
        <p:nvSpPr>
          <p:cNvPr id="20" name="Text 15"/>
          <p:cNvSpPr txBox="1"/>
          <p:nvPr/>
        </p:nvSpPr>
        <p:spPr>
          <a:xfrm>
            <a:off x="1965960" y="4114800"/>
            <a:ext cx="3703320" cy="411480"/>
          </a:xfrm>
          <a:prstGeom prst="rect">
            <a:avLst/>
          </a:prstGeom>
          <a:noFill/>
          <a:ln/>
        </p:spPr>
        <p:txBody>
          <a:bodyPr wrap="square" lIns="0" tIns="0" rIns="0" bIns="0" rtlCol="0" anchor="t"/>
          <a:lstStyle/>
          <a:p>
            <a:pPr marL="0" indent="0">
              <a:buNone/>
            </a:pPr>
            <a:r>
              <a:rPr lang="en-US" sz="1900" b="1" dirty="0">
                <a:solidFill>
                  <a:srgbClr val="2D2926"/>
                </a:solidFill>
                <a:latin typeface="Arial" pitchFamily="34" charset="0"/>
                <a:ea typeface="Arial" pitchFamily="34" charset="-122"/>
                <a:cs typeface="Arial" pitchFamily="34" charset="-120"/>
              </a:rPr>
              <a:t>Spend caps</a:t>
            </a:r>
            <a:endParaRPr lang="en-US" sz="1900" dirty="0"/>
          </a:p>
        </p:txBody>
      </p:sp>
      <p:sp>
        <p:nvSpPr>
          <p:cNvPr id="21" name="Text 16"/>
          <p:cNvSpPr txBox="1"/>
          <p:nvPr/>
        </p:nvSpPr>
        <p:spPr>
          <a:xfrm>
            <a:off x="1965960" y="4572000"/>
            <a:ext cx="3703320" cy="868680"/>
          </a:xfrm>
          <a:prstGeom prst="rect">
            <a:avLst/>
          </a:prstGeom>
          <a:noFill/>
          <a:ln/>
        </p:spPr>
        <p:txBody>
          <a:bodyPr wrap="square" lIns="0" tIns="0" rIns="0" bIns="0" rtlCol="0" anchor="t"/>
          <a:lstStyle/>
          <a:p>
            <a:pPr marL="0" indent="0">
              <a:buNone/>
            </a:pPr>
            <a:r>
              <a:rPr lang="en-US" sz="1350" dirty="0">
                <a:solidFill>
                  <a:srgbClr val="5A544F"/>
                </a:solidFill>
                <a:latin typeface="Arial" pitchFamily="34" charset="0"/>
                <a:ea typeface="Arial" pitchFamily="34" charset="-122"/>
                <a:cs typeface="Arial" pitchFamily="34" charset="-120"/>
              </a:rPr>
              <a:t>Max steps per run, a cost ceiling per run, and an org budget alert.</a:t>
            </a:r>
            <a:endParaRPr lang="en-US" sz="1350" dirty="0"/>
          </a:p>
        </p:txBody>
      </p:sp>
      <p:sp>
        <p:nvSpPr>
          <p:cNvPr id="22" name="Shape 17"/>
          <p:cNvSpPr/>
          <p:nvPr/>
        </p:nvSpPr>
        <p:spPr>
          <a:xfrm>
            <a:off x="6245352" y="3840480"/>
            <a:ext cx="5486400" cy="1737360"/>
          </a:xfrm>
          <a:prstGeom prst="roundRect">
            <a:avLst>
              <a:gd name="adj" fmla="val 6316"/>
            </a:avLst>
          </a:prstGeom>
          <a:solidFill>
            <a:srgbClr val="E4DED8"/>
          </a:solidFill>
          <a:ln w="12700">
            <a:solidFill>
              <a:srgbClr val="E4DED8"/>
            </a:solidFill>
            <a:prstDash val="solid"/>
          </a:ln>
        </p:spPr>
        <p:txBody>
          <a:bodyPr/>
          <a:lstStyle/>
          <a:p>
            <a:endParaRPr lang="en-US"/>
          </a:p>
        </p:txBody>
      </p:sp>
      <p:sp>
        <p:nvSpPr>
          <p:cNvPr id="23" name="Shape 18"/>
          <p:cNvSpPr/>
          <p:nvPr/>
        </p:nvSpPr>
        <p:spPr>
          <a:xfrm>
            <a:off x="6565392" y="4251960"/>
            <a:ext cx="914400" cy="914400"/>
          </a:xfrm>
          <a:prstGeom prst="ellipse">
            <a:avLst/>
          </a:prstGeom>
          <a:solidFill>
            <a:srgbClr val="F6921E"/>
          </a:solidFill>
          <a:ln w="12700">
            <a:solidFill>
              <a:srgbClr val="F6921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784848" y="4471416"/>
            <a:ext cx="475488" cy="475488"/>
          </a:xfrm>
          <a:prstGeom prst="rect">
            <a:avLst/>
          </a:prstGeom>
        </p:spPr>
      </p:pic>
      <p:sp>
        <p:nvSpPr>
          <p:cNvPr id="25" name="Text 19"/>
          <p:cNvSpPr txBox="1"/>
          <p:nvPr/>
        </p:nvSpPr>
        <p:spPr>
          <a:xfrm>
            <a:off x="7754112" y="4114800"/>
            <a:ext cx="3703320" cy="411480"/>
          </a:xfrm>
          <a:prstGeom prst="rect">
            <a:avLst/>
          </a:prstGeom>
          <a:noFill/>
          <a:ln/>
        </p:spPr>
        <p:txBody>
          <a:bodyPr wrap="square" lIns="0" tIns="0" rIns="0" bIns="0" rtlCol="0" anchor="t"/>
          <a:lstStyle/>
          <a:p>
            <a:pPr marL="0" indent="0">
              <a:buNone/>
            </a:pPr>
            <a:r>
              <a:rPr lang="en-US" sz="1900" b="1" dirty="0">
                <a:solidFill>
                  <a:srgbClr val="2D2926"/>
                </a:solidFill>
                <a:latin typeface="Arial" pitchFamily="34" charset="0"/>
                <a:ea typeface="Arial" pitchFamily="34" charset="-122"/>
                <a:cs typeface="Arial" pitchFamily="34" charset="-120"/>
              </a:rPr>
              <a:t>Audit trails</a:t>
            </a:r>
            <a:endParaRPr lang="en-US" sz="1900" dirty="0"/>
          </a:p>
        </p:txBody>
      </p:sp>
      <p:sp>
        <p:nvSpPr>
          <p:cNvPr id="26" name="Text 20"/>
          <p:cNvSpPr txBox="1"/>
          <p:nvPr/>
        </p:nvSpPr>
        <p:spPr>
          <a:xfrm>
            <a:off x="7754112" y="4572000"/>
            <a:ext cx="3703320" cy="868680"/>
          </a:xfrm>
          <a:prstGeom prst="rect">
            <a:avLst/>
          </a:prstGeom>
          <a:noFill/>
          <a:ln/>
        </p:spPr>
        <p:txBody>
          <a:bodyPr wrap="square" lIns="0" tIns="0" rIns="0" bIns="0" rtlCol="0" anchor="t"/>
          <a:lstStyle/>
          <a:p>
            <a:pPr marL="0" indent="0">
              <a:buNone/>
            </a:pPr>
            <a:r>
              <a:rPr lang="en-US" sz="1350" dirty="0">
                <a:solidFill>
                  <a:srgbClr val="5A544F"/>
                </a:solidFill>
                <a:latin typeface="Arial" pitchFamily="34" charset="0"/>
                <a:ea typeface="Arial" pitchFamily="34" charset="-122"/>
                <a:cs typeface="Arial" pitchFamily="34" charset="-120"/>
              </a:rPr>
              <a:t>Every tool call logged: who, what, when, and who approved it.</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20700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20700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APPROVALS</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Tier every tool before you connect it</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19</a:t>
            </a:r>
            <a:endParaRPr lang="en-US" sz="900" dirty="0"/>
          </a:p>
        </p:txBody>
      </p:sp>
      <p:sp>
        <p:nvSpPr>
          <p:cNvPr id="7" name="Shape 5"/>
          <p:cNvSpPr/>
          <p:nvPr/>
        </p:nvSpPr>
        <p:spPr>
          <a:xfrm>
            <a:off x="457200" y="3703320"/>
            <a:ext cx="2606040" cy="2057400"/>
          </a:xfrm>
          <a:prstGeom prst="roundRect">
            <a:avLst>
              <a:gd name="adj" fmla="val 5333"/>
            </a:avLst>
          </a:prstGeom>
          <a:solidFill>
            <a:srgbClr val="FFFFFF"/>
          </a:solidFill>
          <a:ln w="12700">
            <a:solidFill>
              <a:srgbClr val="E4DED8"/>
            </a:solidFill>
            <a:prstDash val="solid"/>
          </a:ln>
        </p:spPr>
        <p:txBody>
          <a:bodyPr/>
          <a:lstStyle/>
          <a:p>
            <a:endParaRPr lang="en-US"/>
          </a:p>
        </p:txBody>
      </p:sp>
      <p:sp>
        <p:nvSpPr>
          <p:cNvPr id="8" name="Shape 6"/>
          <p:cNvSpPr/>
          <p:nvPr/>
        </p:nvSpPr>
        <p:spPr>
          <a:xfrm>
            <a:off x="731520" y="3977640"/>
            <a:ext cx="548640" cy="548640"/>
          </a:xfrm>
          <a:prstGeom prst="ellipse">
            <a:avLst/>
          </a:prstGeom>
          <a:solidFill>
            <a:srgbClr val="F6921E"/>
          </a:solidFill>
          <a:ln w="12700">
            <a:solidFill>
              <a:srgbClr val="F6921E"/>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863194" y="4109314"/>
            <a:ext cx="285293" cy="285293"/>
          </a:xfrm>
          <a:prstGeom prst="rect">
            <a:avLst/>
          </a:prstGeom>
        </p:spPr>
      </p:pic>
      <p:sp>
        <p:nvSpPr>
          <p:cNvPr id="10" name="Text 7"/>
          <p:cNvSpPr txBox="1"/>
          <p:nvPr/>
        </p:nvSpPr>
        <p:spPr>
          <a:xfrm>
            <a:off x="731520" y="4617720"/>
            <a:ext cx="205740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Read</a:t>
            </a:r>
            <a:endParaRPr lang="en-US" sz="1600" dirty="0"/>
          </a:p>
        </p:txBody>
      </p:sp>
      <p:sp>
        <p:nvSpPr>
          <p:cNvPr id="11" name="Text 8"/>
          <p:cNvSpPr txBox="1"/>
          <p:nvPr/>
        </p:nvSpPr>
        <p:spPr>
          <a:xfrm>
            <a:off x="731520" y="4983480"/>
            <a:ext cx="2057400" cy="82296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Query people, groups, attendance</a:t>
            </a:r>
            <a:endParaRPr lang="en-US" sz="1250" dirty="0"/>
          </a:p>
        </p:txBody>
      </p:sp>
      <p:sp>
        <p:nvSpPr>
          <p:cNvPr id="12" name="Shape 9"/>
          <p:cNvSpPr/>
          <p:nvPr/>
        </p:nvSpPr>
        <p:spPr>
          <a:xfrm>
            <a:off x="3337560" y="3246120"/>
            <a:ext cx="2606040" cy="2514600"/>
          </a:xfrm>
          <a:prstGeom prst="roundRect">
            <a:avLst>
              <a:gd name="adj" fmla="val 4364"/>
            </a:avLst>
          </a:prstGeom>
          <a:solidFill>
            <a:srgbClr val="E4DED8"/>
          </a:solidFill>
          <a:ln w="12700">
            <a:solidFill>
              <a:srgbClr val="E4DED8"/>
            </a:solidFill>
            <a:prstDash val="solid"/>
          </a:ln>
        </p:spPr>
        <p:txBody>
          <a:bodyPr/>
          <a:lstStyle/>
          <a:p>
            <a:endParaRPr lang="en-US"/>
          </a:p>
        </p:txBody>
      </p:sp>
      <p:sp>
        <p:nvSpPr>
          <p:cNvPr id="13" name="Shape 10"/>
          <p:cNvSpPr/>
          <p:nvPr/>
        </p:nvSpPr>
        <p:spPr>
          <a:xfrm>
            <a:off x="3611880" y="3520440"/>
            <a:ext cx="548640" cy="548640"/>
          </a:xfrm>
          <a:prstGeom prst="ellipse">
            <a:avLst/>
          </a:prstGeom>
          <a:solidFill>
            <a:srgbClr val="F6921E"/>
          </a:solidFill>
          <a:ln w="12700">
            <a:solidFill>
              <a:srgbClr val="F6921E"/>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743554" y="3652114"/>
            <a:ext cx="285293" cy="285293"/>
          </a:xfrm>
          <a:prstGeom prst="rect">
            <a:avLst/>
          </a:prstGeom>
        </p:spPr>
      </p:pic>
      <p:sp>
        <p:nvSpPr>
          <p:cNvPr id="15" name="Text 11"/>
          <p:cNvSpPr txBox="1"/>
          <p:nvPr/>
        </p:nvSpPr>
        <p:spPr>
          <a:xfrm>
            <a:off x="3611880" y="4160520"/>
            <a:ext cx="205740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Draft</a:t>
            </a:r>
            <a:endParaRPr lang="en-US" sz="1600" dirty="0"/>
          </a:p>
        </p:txBody>
      </p:sp>
      <p:sp>
        <p:nvSpPr>
          <p:cNvPr id="16" name="Text 12"/>
          <p:cNvSpPr txBox="1"/>
          <p:nvPr/>
        </p:nvSpPr>
        <p:spPr>
          <a:xfrm>
            <a:off x="3611880" y="4526280"/>
            <a:ext cx="2057400" cy="82296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Emails, notes, reports, nothing sent</a:t>
            </a:r>
            <a:endParaRPr lang="en-US" sz="1250" dirty="0"/>
          </a:p>
        </p:txBody>
      </p:sp>
      <p:sp>
        <p:nvSpPr>
          <p:cNvPr id="17" name="Shape 13"/>
          <p:cNvSpPr/>
          <p:nvPr/>
        </p:nvSpPr>
        <p:spPr>
          <a:xfrm>
            <a:off x="6217920" y="2788920"/>
            <a:ext cx="2606040" cy="2971800"/>
          </a:xfrm>
          <a:prstGeom prst="roundRect">
            <a:avLst>
              <a:gd name="adj" fmla="val 4211"/>
            </a:avLst>
          </a:prstGeom>
          <a:solidFill>
            <a:srgbClr val="F6921E"/>
          </a:solidFill>
          <a:ln w="12700">
            <a:solidFill>
              <a:srgbClr val="F6921E"/>
            </a:solidFill>
            <a:prstDash val="solid"/>
          </a:ln>
        </p:spPr>
        <p:txBody>
          <a:bodyPr/>
          <a:lstStyle/>
          <a:p>
            <a:endParaRPr lang="en-US"/>
          </a:p>
        </p:txBody>
      </p:sp>
      <p:sp>
        <p:nvSpPr>
          <p:cNvPr id="18" name="Shape 14"/>
          <p:cNvSpPr/>
          <p:nvPr/>
        </p:nvSpPr>
        <p:spPr>
          <a:xfrm>
            <a:off x="6492240" y="3063240"/>
            <a:ext cx="548640" cy="548640"/>
          </a:xfrm>
          <a:prstGeom prst="ellipse">
            <a:avLst/>
          </a:prstGeom>
          <a:solidFill>
            <a:srgbClr val="2D2926"/>
          </a:solidFill>
          <a:ln w="12700">
            <a:solidFill>
              <a:srgbClr val="2D2926"/>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623914" y="3194914"/>
            <a:ext cx="285293" cy="285293"/>
          </a:xfrm>
          <a:prstGeom prst="rect">
            <a:avLst/>
          </a:prstGeom>
        </p:spPr>
      </p:pic>
      <p:sp>
        <p:nvSpPr>
          <p:cNvPr id="20" name="Text 15"/>
          <p:cNvSpPr txBox="1"/>
          <p:nvPr/>
        </p:nvSpPr>
        <p:spPr>
          <a:xfrm>
            <a:off x="6492240" y="3703320"/>
            <a:ext cx="2057400" cy="365760"/>
          </a:xfrm>
          <a:prstGeom prst="rect">
            <a:avLst/>
          </a:prstGeom>
          <a:noFill/>
          <a:ln/>
        </p:spPr>
        <p:txBody>
          <a:bodyPr wrap="square" lIns="0" tIns="0" rIns="0" bIns="0" rtlCol="0" anchor="t"/>
          <a:lstStyle/>
          <a:p>
            <a:pPr marL="0" indent="0">
              <a:buNone/>
            </a:pPr>
            <a:r>
              <a:rPr lang="en-US" sz="1600" b="1" dirty="0">
                <a:solidFill>
                  <a:srgbClr val="2D2926"/>
                </a:solidFill>
                <a:latin typeface="Arial" pitchFamily="34" charset="0"/>
                <a:ea typeface="Arial" pitchFamily="34" charset="-122"/>
                <a:cs typeface="Arial" pitchFamily="34" charset="-120"/>
              </a:rPr>
              <a:t>Write with approval</a:t>
            </a:r>
            <a:endParaRPr lang="en-US" sz="1600" dirty="0"/>
          </a:p>
        </p:txBody>
      </p:sp>
      <p:sp>
        <p:nvSpPr>
          <p:cNvPr id="21" name="Text 16"/>
          <p:cNvSpPr txBox="1"/>
          <p:nvPr/>
        </p:nvSpPr>
        <p:spPr>
          <a:xfrm>
            <a:off x="6492240" y="4069080"/>
            <a:ext cx="2057400" cy="822960"/>
          </a:xfrm>
          <a:prstGeom prst="rect">
            <a:avLst/>
          </a:prstGeom>
          <a:noFill/>
          <a:ln/>
        </p:spPr>
        <p:txBody>
          <a:bodyPr wrap="square" lIns="0" tIns="0" rIns="0" bIns="0" rtlCol="0" anchor="t"/>
          <a:lstStyle/>
          <a:p>
            <a:pPr marL="0" indent="0">
              <a:buNone/>
            </a:pPr>
            <a:r>
              <a:rPr lang="en-US" sz="1250" dirty="0">
                <a:solidFill>
                  <a:srgbClr val="2D2926"/>
                </a:solidFill>
                <a:latin typeface="Arial" pitchFamily="34" charset="0"/>
                <a:ea typeface="Arial" pitchFamily="34" charset="-122"/>
                <a:cs typeface="Arial" pitchFamily="34" charset="-120"/>
              </a:rPr>
              <a:t>Tasks, record updates, a named approver</a:t>
            </a:r>
            <a:endParaRPr lang="en-US" sz="1250" dirty="0"/>
          </a:p>
        </p:txBody>
      </p:sp>
      <p:sp>
        <p:nvSpPr>
          <p:cNvPr id="22" name="Shape 17"/>
          <p:cNvSpPr/>
          <p:nvPr/>
        </p:nvSpPr>
        <p:spPr>
          <a:xfrm>
            <a:off x="9098280" y="2331720"/>
            <a:ext cx="2606040" cy="3429000"/>
          </a:xfrm>
          <a:prstGeom prst="roundRect">
            <a:avLst>
              <a:gd name="adj" fmla="val 4211"/>
            </a:avLst>
          </a:prstGeom>
          <a:solidFill>
            <a:srgbClr val="2D2926"/>
          </a:solidFill>
          <a:ln w="12700">
            <a:solidFill>
              <a:srgbClr val="2D2926"/>
            </a:solidFill>
            <a:prstDash val="solid"/>
          </a:ln>
        </p:spPr>
        <p:txBody>
          <a:bodyPr/>
          <a:lstStyle/>
          <a:p>
            <a:endParaRPr lang="en-US"/>
          </a:p>
        </p:txBody>
      </p:sp>
      <p:sp>
        <p:nvSpPr>
          <p:cNvPr id="23" name="Shape 18"/>
          <p:cNvSpPr/>
          <p:nvPr/>
        </p:nvSpPr>
        <p:spPr>
          <a:xfrm>
            <a:off x="9372600" y="2606040"/>
            <a:ext cx="548640" cy="548640"/>
          </a:xfrm>
          <a:prstGeom prst="ellipse">
            <a:avLst/>
          </a:prstGeom>
          <a:solidFill>
            <a:srgbClr val="F6921E"/>
          </a:solidFill>
          <a:ln w="12700">
            <a:solidFill>
              <a:srgbClr val="F6921E"/>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9504274" y="2737714"/>
            <a:ext cx="285293" cy="285293"/>
          </a:xfrm>
          <a:prstGeom prst="rect">
            <a:avLst/>
          </a:prstGeom>
        </p:spPr>
      </p:pic>
      <p:sp>
        <p:nvSpPr>
          <p:cNvPr id="25" name="Text 19"/>
          <p:cNvSpPr txBox="1"/>
          <p:nvPr/>
        </p:nvSpPr>
        <p:spPr>
          <a:xfrm>
            <a:off x="9372600" y="3246120"/>
            <a:ext cx="2057400" cy="36576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Never</a:t>
            </a:r>
            <a:endParaRPr lang="en-US" sz="1600" dirty="0"/>
          </a:p>
        </p:txBody>
      </p:sp>
      <p:sp>
        <p:nvSpPr>
          <p:cNvPr id="26" name="Text 20"/>
          <p:cNvSpPr txBox="1"/>
          <p:nvPr/>
        </p:nvSpPr>
        <p:spPr>
          <a:xfrm>
            <a:off x="9372600" y="3611880"/>
            <a:ext cx="2057400" cy="822960"/>
          </a:xfrm>
          <a:prstGeom prst="rect">
            <a:avLst/>
          </a:prstGeom>
          <a:noFill/>
          <a:ln/>
        </p:spPr>
        <p:txBody>
          <a:bodyPr wrap="square" lIns="0" tIns="0" rIns="0" bIns="0" rtlCol="0" anchor="t"/>
          <a:lstStyle/>
          <a:p>
            <a:pPr marL="0" indent="0">
              <a:buNone/>
            </a:pPr>
            <a:r>
              <a:rPr lang="en-US" sz="1250" dirty="0">
                <a:solidFill>
                  <a:srgbClr val="E4DED8"/>
                </a:solidFill>
                <a:latin typeface="Arial" pitchFamily="34" charset="0"/>
                <a:ea typeface="Arial" pitchFamily="34" charset="-122"/>
                <a:cs typeface="Arial" pitchFamily="34" charset="-120"/>
              </a:rPr>
              <a:t>Giving changes, bulk deletes, messaging members unreviewed</a:t>
            </a:r>
            <a:endParaRPr lang="en-US" sz="1250" dirty="0"/>
          </a:p>
        </p:txBody>
      </p:sp>
      <p:sp>
        <p:nvSpPr>
          <p:cNvPr id="27" name="Text 21"/>
          <p:cNvSpPr txBox="1"/>
          <p:nvPr/>
        </p:nvSpPr>
        <p:spPr>
          <a:xfrm>
            <a:off x="8686800" y="1783080"/>
            <a:ext cx="3017520" cy="274320"/>
          </a:xfrm>
          <a:prstGeom prst="rect">
            <a:avLst/>
          </a:prstGeom>
          <a:noFill/>
          <a:ln/>
        </p:spPr>
        <p:txBody>
          <a:bodyPr wrap="square" lIns="0" tIns="0" rIns="0" bIns="0" rtlCol="0" anchor="t"/>
          <a:lstStyle/>
          <a:p>
            <a:pPr marL="0" indent="0" algn="r">
              <a:buNone/>
            </a:pPr>
            <a:r>
              <a:rPr lang="en-US" sz="1050" b="1" kern="0" spc="100" dirty="0">
                <a:solidFill>
                  <a:srgbClr val="5A544F"/>
                </a:solidFill>
                <a:latin typeface="Arial" pitchFamily="34" charset="0"/>
                <a:ea typeface="Arial" pitchFamily="34" charset="-122"/>
                <a:cs typeface="Arial" pitchFamily="34" charset="-120"/>
              </a:rPr>
              <a:t>MORE CONTROL →</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02412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02412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ROLLOUT</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Roll it out like a pilot, not a launch</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20</a:t>
            </a:r>
            <a:endParaRPr lang="en-US" sz="900" dirty="0"/>
          </a:p>
        </p:txBody>
      </p:sp>
      <p:pic>
        <p:nvPicPr>
          <p:cNvPr id="7" name="Image 0" descr="img/ring.png"/>
          <p:cNvPicPr>
            <a:picLocks noChangeAspect="1"/>
          </p:cNvPicPr>
          <p:nvPr/>
        </p:nvPicPr>
        <p:blipFill>
          <a:blip r:embed="rId3"/>
          <a:stretch>
            <a:fillRect/>
          </a:stretch>
        </p:blipFill>
        <p:spPr>
          <a:xfrm>
            <a:off x="457200" y="1691640"/>
            <a:ext cx="4572000" cy="4572000"/>
          </a:xfrm>
          <a:prstGeom prst="rect">
            <a:avLst/>
          </a:prstGeom>
        </p:spPr>
      </p:pic>
      <p:sp>
        <p:nvSpPr>
          <p:cNvPr id="8" name="Text 5"/>
          <p:cNvSpPr txBox="1"/>
          <p:nvPr/>
        </p:nvSpPr>
        <p:spPr>
          <a:xfrm>
            <a:off x="2103120" y="2770632"/>
            <a:ext cx="1280160" cy="22860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1 Pilot</a:t>
            </a:r>
            <a:endParaRPr lang="en-US" sz="1200" dirty="0"/>
          </a:p>
        </p:txBody>
      </p:sp>
      <p:sp>
        <p:nvSpPr>
          <p:cNvPr id="9" name="Text 6"/>
          <p:cNvSpPr txBox="1"/>
          <p:nvPr/>
        </p:nvSpPr>
        <p:spPr>
          <a:xfrm>
            <a:off x="2788920" y="3054096"/>
            <a:ext cx="822960" cy="228600"/>
          </a:xfrm>
          <a:prstGeom prst="rect">
            <a:avLst/>
          </a:prstGeom>
          <a:noFill/>
          <a:ln/>
        </p:spPr>
        <p:txBody>
          <a:bodyPr wrap="square" lIns="0" tIns="0" rIns="0" bIns="0" rtlCol="0" anchor="ctr"/>
          <a:lstStyle/>
          <a:p>
            <a:pPr marL="0" indent="0" algn="r">
              <a:buNone/>
            </a:pPr>
            <a:r>
              <a:rPr lang="en-US" sz="1200" b="1" dirty="0">
                <a:solidFill>
                  <a:srgbClr val="2D2926"/>
                </a:solidFill>
                <a:latin typeface="Arial" pitchFamily="34" charset="0"/>
                <a:ea typeface="Arial" pitchFamily="34" charset="-122"/>
                <a:cs typeface="Arial" pitchFamily="34" charset="-120"/>
              </a:rPr>
              <a:t>2 Scope</a:t>
            </a:r>
            <a:endParaRPr lang="en-US" sz="1200" dirty="0"/>
          </a:p>
        </p:txBody>
      </p:sp>
      <p:sp>
        <p:nvSpPr>
          <p:cNvPr id="10" name="Text 7"/>
          <p:cNvSpPr txBox="1"/>
          <p:nvPr/>
        </p:nvSpPr>
        <p:spPr>
          <a:xfrm>
            <a:off x="2697480" y="4425696"/>
            <a:ext cx="914400" cy="228600"/>
          </a:xfrm>
          <a:prstGeom prst="rect">
            <a:avLst/>
          </a:prstGeom>
          <a:noFill/>
          <a:ln/>
        </p:spPr>
        <p:txBody>
          <a:bodyPr wrap="square" lIns="0" tIns="0" rIns="0" bIns="0" rtlCol="0" anchor="ctr"/>
          <a:lstStyle/>
          <a:p>
            <a:pPr marL="0" indent="0" algn="r">
              <a:buNone/>
            </a:pPr>
            <a:r>
              <a:rPr lang="en-US" sz="1200" b="1" dirty="0">
                <a:solidFill>
                  <a:srgbClr val="2D2926"/>
                </a:solidFill>
                <a:latin typeface="Arial" pitchFamily="34" charset="0"/>
                <a:ea typeface="Arial" pitchFamily="34" charset="-122"/>
                <a:cs typeface="Arial" pitchFamily="34" charset="-120"/>
              </a:rPr>
              <a:t>3 Connect</a:t>
            </a:r>
            <a:endParaRPr lang="en-US" sz="1200" dirty="0"/>
          </a:p>
        </p:txBody>
      </p:sp>
      <p:sp>
        <p:nvSpPr>
          <p:cNvPr id="11" name="Text 8"/>
          <p:cNvSpPr txBox="1"/>
          <p:nvPr/>
        </p:nvSpPr>
        <p:spPr>
          <a:xfrm>
            <a:off x="2103120" y="4846320"/>
            <a:ext cx="1280160" cy="228600"/>
          </a:xfrm>
          <a:prstGeom prst="rect">
            <a:avLst/>
          </a:prstGeom>
          <a:noFill/>
          <a:ln/>
        </p:spPr>
        <p:txBody>
          <a:bodyPr wrap="square" lIns="0" tIns="0" rIns="0" bIns="0" rtlCol="0" anchor="ctr"/>
          <a:lstStyle/>
          <a:p>
            <a:pPr marL="0" indent="0" algn="ctr">
              <a:buNone/>
            </a:pPr>
            <a:r>
              <a:rPr lang="en-US" sz="1200" b="1" dirty="0">
                <a:solidFill>
                  <a:srgbClr val="2D2926"/>
                </a:solidFill>
                <a:latin typeface="Arial" pitchFamily="34" charset="0"/>
                <a:ea typeface="Arial" pitchFamily="34" charset="-122"/>
                <a:cs typeface="Arial" pitchFamily="34" charset="-120"/>
              </a:rPr>
              <a:t>4 Supervise</a:t>
            </a:r>
            <a:endParaRPr lang="en-US" sz="1200" dirty="0"/>
          </a:p>
        </p:txBody>
      </p:sp>
      <p:sp>
        <p:nvSpPr>
          <p:cNvPr id="12" name="Text 9"/>
          <p:cNvSpPr txBox="1"/>
          <p:nvPr/>
        </p:nvSpPr>
        <p:spPr>
          <a:xfrm>
            <a:off x="1874520" y="4425696"/>
            <a:ext cx="868680" cy="228600"/>
          </a:xfrm>
          <a:prstGeom prst="rect">
            <a:avLst/>
          </a:prstGeom>
          <a:noFill/>
          <a:ln/>
        </p:spPr>
        <p:txBody>
          <a:bodyPr wrap="square" lIns="0" tIns="0" rIns="0" bIns="0" rtlCol="0" anchor="ctr"/>
          <a:lstStyle/>
          <a:p>
            <a:pPr marL="0" indent="0" algn="l">
              <a:buNone/>
            </a:pPr>
            <a:r>
              <a:rPr lang="en-US" sz="1200" b="1" dirty="0">
                <a:solidFill>
                  <a:srgbClr val="2D2926"/>
                </a:solidFill>
                <a:latin typeface="Arial" pitchFamily="34" charset="0"/>
                <a:ea typeface="Arial" pitchFamily="34" charset="-122"/>
                <a:cs typeface="Arial" pitchFamily="34" charset="-120"/>
              </a:rPr>
              <a:t>5 Audit</a:t>
            </a:r>
            <a:endParaRPr lang="en-US" sz="1200" dirty="0"/>
          </a:p>
        </p:txBody>
      </p:sp>
      <p:sp>
        <p:nvSpPr>
          <p:cNvPr id="13" name="Text 10"/>
          <p:cNvSpPr txBox="1"/>
          <p:nvPr/>
        </p:nvSpPr>
        <p:spPr>
          <a:xfrm>
            <a:off x="1874520" y="3054096"/>
            <a:ext cx="868680" cy="228600"/>
          </a:xfrm>
          <a:prstGeom prst="rect">
            <a:avLst/>
          </a:prstGeom>
          <a:noFill/>
          <a:ln/>
        </p:spPr>
        <p:txBody>
          <a:bodyPr wrap="square" lIns="0" tIns="0" rIns="0" bIns="0" rtlCol="0" anchor="ctr"/>
          <a:lstStyle/>
          <a:p>
            <a:pPr marL="0" indent="0" algn="l">
              <a:buNone/>
            </a:pPr>
            <a:r>
              <a:rPr lang="en-US" sz="1200" b="1" dirty="0">
                <a:solidFill>
                  <a:srgbClr val="2D2926"/>
                </a:solidFill>
                <a:latin typeface="Arial" pitchFamily="34" charset="0"/>
                <a:ea typeface="Arial" pitchFamily="34" charset="-122"/>
                <a:cs typeface="Arial" pitchFamily="34" charset="-120"/>
              </a:rPr>
              <a:t>6 Expand</a:t>
            </a:r>
            <a:endParaRPr lang="en-US" sz="1200" dirty="0"/>
          </a:p>
        </p:txBody>
      </p:sp>
      <p:sp>
        <p:nvSpPr>
          <p:cNvPr id="14" name="Shape 11"/>
          <p:cNvSpPr/>
          <p:nvPr/>
        </p:nvSpPr>
        <p:spPr>
          <a:xfrm>
            <a:off x="5577840" y="1828800"/>
            <a:ext cx="457200" cy="457200"/>
          </a:xfrm>
          <a:prstGeom prst="ellipse">
            <a:avLst/>
          </a:prstGeom>
          <a:solidFill>
            <a:srgbClr val="F6921E"/>
          </a:solidFill>
          <a:ln w="12700">
            <a:solidFill>
              <a:srgbClr val="F6921E"/>
            </a:solidFill>
            <a:prstDash val="solid"/>
          </a:ln>
        </p:spPr>
        <p:txBody>
          <a:bodyPr/>
          <a:lstStyle/>
          <a:p>
            <a:endParaRPr lang="en-US"/>
          </a:p>
        </p:txBody>
      </p:sp>
      <p:sp>
        <p:nvSpPr>
          <p:cNvPr id="15" name="Text 12"/>
          <p:cNvSpPr txBox="1"/>
          <p:nvPr/>
        </p:nvSpPr>
        <p:spPr>
          <a:xfrm>
            <a:off x="5577840" y="1828800"/>
            <a:ext cx="457200" cy="457200"/>
          </a:xfrm>
          <a:prstGeom prst="rect">
            <a:avLst/>
          </a:prstGeom>
          <a:noFill/>
          <a:ln/>
        </p:spPr>
        <p:txBody>
          <a:bodyPr wrap="square" lIns="0" tIns="0" rIns="0" bIns="0" rtlCol="0" anchor="ctr"/>
          <a:lstStyle/>
          <a:p>
            <a:pPr marL="0" indent="0" algn="ctr">
              <a:buNone/>
            </a:pPr>
            <a:r>
              <a:rPr lang="en-US" sz="1400" b="1" dirty="0">
                <a:solidFill>
                  <a:srgbClr val="2D2926"/>
                </a:solidFill>
                <a:latin typeface="Arial" pitchFamily="34" charset="0"/>
                <a:ea typeface="Arial" pitchFamily="34" charset="-122"/>
                <a:cs typeface="Arial" pitchFamily="34" charset="-120"/>
              </a:rPr>
              <a:t>1</a:t>
            </a:r>
            <a:endParaRPr lang="en-US" sz="1400" dirty="0"/>
          </a:p>
        </p:txBody>
      </p:sp>
      <p:sp>
        <p:nvSpPr>
          <p:cNvPr id="16" name="Text 13"/>
          <p:cNvSpPr txBox="1"/>
          <p:nvPr/>
        </p:nvSpPr>
        <p:spPr>
          <a:xfrm>
            <a:off x="6263640" y="1828800"/>
            <a:ext cx="1463040" cy="457200"/>
          </a:xfrm>
          <a:prstGeom prst="rect">
            <a:avLst/>
          </a:prstGeom>
          <a:noFill/>
          <a:ln/>
        </p:spPr>
        <p:txBody>
          <a:bodyPr wrap="square" lIns="0" tIns="0" rIns="0" bIns="0" rtlCol="0" anchor="ctr"/>
          <a:lstStyle/>
          <a:p>
            <a:pPr marL="0" indent="0">
              <a:buNone/>
            </a:pPr>
            <a:r>
              <a:rPr lang="en-US" sz="1600" b="1" dirty="0">
                <a:solidFill>
                  <a:srgbClr val="2D2926"/>
                </a:solidFill>
                <a:latin typeface="Arial" pitchFamily="34" charset="0"/>
                <a:ea typeface="Arial" pitchFamily="34" charset="-122"/>
                <a:cs typeface="Arial" pitchFamily="34" charset="-120"/>
              </a:rPr>
              <a:t>Pilot</a:t>
            </a:r>
            <a:endParaRPr lang="en-US" sz="1600" dirty="0"/>
          </a:p>
        </p:txBody>
      </p:sp>
      <p:sp>
        <p:nvSpPr>
          <p:cNvPr id="17" name="Text 14"/>
          <p:cNvSpPr txBox="1"/>
          <p:nvPr/>
        </p:nvSpPr>
        <p:spPr>
          <a:xfrm>
            <a:off x="7772400" y="1828800"/>
            <a:ext cx="3931920" cy="457200"/>
          </a:xfrm>
          <a:prstGeom prst="rect">
            <a:avLst/>
          </a:prstGeom>
          <a:noFill/>
          <a:ln/>
        </p:spPr>
        <p:txBody>
          <a:bodyPr wrap="square" lIns="0" tIns="0" rIns="0" bIns="0" rtlCol="0" anchor="ctr"/>
          <a:lstStyle/>
          <a:p>
            <a:pPr marL="0" indent="0">
              <a:buNone/>
            </a:pPr>
            <a:r>
              <a:rPr lang="en-US" sz="1300" dirty="0">
                <a:solidFill>
                  <a:srgbClr val="5A544F"/>
                </a:solidFill>
                <a:latin typeface="Arial" pitchFamily="34" charset="0"/>
                <a:ea typeface="Arial" pitchFamily="34" charset="-122"/>
                <a:cs typeface="Arial" pitchFamily="34" charset="-120"/>
              </a:rPr>
              <a:t>One use case, one team, read-only to start</a:t>
            </a:r>
            <a:endParaRPr lang="en-US" sz="1300" dirty="0"/>
          </a:p>
        </p:txBody>
      </p:sp>
      <p:sp>
        <p:nvSpPr>
          <p:cNvPr id="18" name="Shape 15"/>
          <p:cNvSpPr/>
          <p:nvPr/>
        </p:nvSpPr>
        <p:spPr>
          <a:xfrm>
            <a:off x="5577840" y="2542032"/>
            <a:ext cx="457200" cy="457200"/>
          </a:xfrm>
          <a:prstGeom prst="ellipse">
            <a:avLst/>
          </a:prstGeom>
          <a:solidFill>
            <a:srgbClr val="F6921E"/>
          </a:solidFill>
          <a:ln w="12700">
            <a:solidFill>
              <a:srgbClr val="F6921E"/>
            </a:solidFill>
            <a:prstDash val="solid"/>
          </a:ln>
        </p:spPr>
        <p:txBody>
          <a:bodyPr/>
          <a:lstStyle/>
          <a:p>
            <a:endParaRPr lang="en-US"/>
          </a:p>
        </p:txBody>
      </p:sp>
      <p:sp>
        <p:nvSpPr>
          <p:cNvPr id="19" name="Text 16"/>
          <p:cNvSpPr txBox="1"/>
          <p:nvPr/>
        </p:nvSpPr>
        <p:spPr>
          <a:xfrm>
            <a:off x="5577840" y="2542032"/>
            <a:ext cx="457200" cy="457200"/>
          </a:xfrm>
          <a:prstGeom prst="rect">
            <a:avLst/>
          </a:prstGeom>
          <a:noFill/>
          <a:ln/>
        </p:spPr>
        <p:txBody>
          <a:bodyPr wrap="square" lIns="0" tIns="0" rIns="0" bIns="0" rtlCol="0" anchor="ctr"/>
          <a:lstStyle/>
          <a:p>
            <a:pPr marL="0" indent="0" algn="ctr">
              <a:buNone/>
            </a:pPr>
            <a:r>
              <a:rPr lang="en-US" sz="1400" b="1" dirty="0">
                <a:solidFill>
                  <a:srgbClr val="2D2926"/>
                </a:solidFill>
                <a:latin typeface="Arial" pitchFamily="34" charset="0"/>
                <a:ea typeface="Arial" pitchFamily="34" charset="-122"/>
                <a:cs typeface="Arial" pitchFamily="34" charset="-120"/>
              </a:rPr>
              <a:t>2</a:t>
            </a:r>
            <a:endParaRPr lang="en-US" sz="1400" dirty="0"/>
          </a:p>
        </p:txBody>
      </p:sp>
      <p:sp>
        <p:nvSpPr>
          <p:cNvPr id="20" name="Text 17"/>
          <p:cNvSpPr txBox="1"/>
          <p:nvPr/>
        </p:nvSpPr>
        <p:spPr>
          <a:xfrm>
            <a:off x="6263640" y="2542032"/>
            <a:ext cx="1463040" cy="457200"/>
          </a:xfrm>
          <a:prstGeom prst="rect">
            <a:avLst/>
          </a:prstGeom>
          <a:noFill/>
          <a:ln/>
        </p:spPr>
        <p:txBody>
          <a:bodyPr wrap="square" lIns="0" tIns="0" rIns="0" bIns="0" rtlCol="0" anchor="ctr"/>
          <a:lstStyle/>
          <a:p>
            <a:pPr marL="0" indent="0">
              <a:buNone/>
            </a:pPr>
            <a:r>
              <a:rPr lang="en-US" sz="1600" b="1" dirty="0">
                <a:solidFill>
                  <a:srgbClr val="2D2926"/>
                </a:solidFill>
                <a:latin typeface="Arial" pitchFamily="34" charset="0"/>
                <a:ea typeface="Arial" pitchFamily="34" charset="-122"/>
                <a:cs typeface="Arial" pitchFamily="34" charset="-120"/>
              </a:rPr>
              <a:t>Scope</a:t>
            </a:r>
            <a:endParaRPr lang="en-US" sz="1600" dirty="0"/>
          </a:p>
        </p:txBody>
      </p:sp>
      <p:sp>
        <p:nvSpPr>
          <p:cNvPr id="21" name="Text 18"/>
          <p:cNvSpPr txBox="1"/>
          <p:nvPr/>
        </p:nvSpPr>
        <p:spPr>
          <a:xfrm>
            <a:off x="7772400" y="2542032"/>
            <a:ext cx="3931920" cy="457200"/>
          </a:xfrm>
          <a:prstGeom prst="rect">
            <a:avLst/>
          </a:prstGeom>
          <a:noFill/>
          <a:ln/>
        </p:spPr>
        <p:txBody>
          <a:bodyPr wrap="square" lIns="0" tIns="0" rIns="0" bIns="0" rtlCol="0" anchor="ctr"/>
          <a:lstStyle/>
          <a:p>
            <a:pPr marL="0" indent="0">
              <a:buNone/>
            </a:pPr>
            <a:r>
              <a:rPr lang="en-US" sz="1300" dirty="0">
                <a:solidFill>
                  <a:srgbClr val="5A544F"/>
                </a:solidFill>
                <a:latin typeface="Arial" pitchFamily="34" charset="0"/>
                <a:ea typeface="Arial" pitchFamily="34" charset="-122"/>
                <a:cs typeface="Arial" pitchFamily="34" charset="-120"/>
              </a:rPr>
              <a:t>Pick the identity, tables and approval tiers</a:t>
            </a:r>
            <a:endParaRPr lang="en-US" sz="1300" dirty="0"/>
          </a:p>
        </p:txBody>
      </p:sp>
      <p:sp>
        <p:nvSpPr>
          <p:cNvPr id="22" name="Shape 19"/>
          <p:cNvSpPr/>
          <p:nvPr/>
        </p:nvSpPr>
        <p:spPr>
          <a:xfrm>
            <a:off x="5577840" y="3255264"/>
            <a:ext cx="457200" cy="457200"/>
          </a:xfrm>
          <a:prstGeom prst="ellipse">
            <a:avLst/>
          </a:prstGeom>
          <a:solidFill>
            <a:srgbClr val="F6921E"/>
          </a:solidFill>
          <a:ln w="12700">
            <a:solidFill>
              <a:srgbClr val="F6921E"/>
            </a:solidFill>
            <a:prstDash val="solid"/>
          </a:ln>
        </p:spPr>
        <p:txBody>
          <a:bodyPr/>
          <a:lstStyle/>
          <a:p>
            <a:endParaRPr lang="en-US"/>
          </a:p>
        </p:txBody>
      </p:sp>
      <p:sp>
        <p:nvSpPr>
          <p:cNvPr id="23" name="Text 20"/>
          <p:cNvSpPr txBox="1"/>
          <p:nvPr/>
        </p:nvSpPr>
        <p:spPr>
          <a:xfrm>
            <a:off x="5577840" y="3255264"/>
            <a:ext cx="457200" cy="457200"/>
          </a:xfrm>
          <a:prstGeom prst="rect">
            <a:avLst/>
          </a:prstGeom>
          <a:noFill/>
          <a:ln/>
        </p:spPr>
        <p:txBody>
          <a:bodyPr wrap="square" lIns="0" tIns="0" rIns="0" bIns="0" rtlCol="0" anchor="ctr"/>
          <a:lstStyle/>
          <a:p>
            <a:pPr marL="0" indent="0" algn="ctr">
              <a:buNone/>
            </a:pPr>
            <a:r>
              <a:rPr lang="en-US" sz="1400" b="1" dirty="0">
                <a:solidFill>
                  <a:srgbClr val="2D2926"/>
                </a:solidFill>
                <a:latin typeface="Arial" pitchFamily="34" charset="0"/>
                <a:ea typeface="Arial" pitchFamily="34" charset="-122"/>
                <a:cs typeface="Arial" pitchFamily="34" charset="-120"/>
              </a:rPr>
              <a:t>3</a:t>
            </a:r>
            <a:endParaRPr lang="en-US" sz="1400" dirty="0"/>
          </a:p>
        </p:txBody>
      </p:sp>
      <p:sp>
        <p:nvSpPr>
          <p:cNvPr id="24" name="Text 21"/>
          <p:cNvSpPr txBox="1"/>
          <p:nvPr/>
        </p:nvSpPr>
        <p:spPr>
          <a:xfrm>
            <a:off x="6263640" y="3255264"/>
            <a:ext cx="1463040" cy="457200"/>
          </a:xfrm>
          <a:prstGeom prst="rect">
            <a:avLst/>
          </a:prstGeom>
          <a:noFill/>
          <a:ln/>
        </p:spPr>
        <p:txBody>
          <a:bodyPr wrap="square" lIns="0" tIns="0" rIns="0" bIns="0" rtlCol="0" anchor="ctr"/>
          <a:lstStyle/>
          <a:p>
            <a:pPr marL="0" indent="0">
              <a:buNone/>
            </a:pPr>
            <a:r>
              <a:rPr lang="en-US" sz="1600" b="1" dirty="0">
                <a:solidFill>
                  <a:srgbClr val="2D2926"/>
                </a:solidFill>
                <a:latin typeface="Arial" pitchFamily="34" charset="0"/>
                <a:ea typeface="Arial" pitchFamily="34" charset="-122"/>
                <a:cs typeface="Arial" pitchFamily="34" charset="-120"/>
              </a:rPr>
              <a:t>Connect</a:t>
            </a:r>
            <a:endParaRPr lang="en-US" sz="1600" dirty="0"/>
          </a:p>
        </p:txBody>
      </p:sp>
      <p:sp>
        <p:nvSpPr>
          <p:cNvPr id="25" name="Text 22"/>
          <p:cNvSpPr txBox="1"/>
          <p:nvPr/>
        </p:nvSpPr>
        <p:spPr>
          <a:xfrm>
            <a:off x="7772400" y="3255264"/>
            <a:ext cx="3931920" cy="457200"/>
          </a:xfrm>
          <a:prstGeom prst="rect">
            <a:avLst/>
          </a:prstGeom>
          <a:noFill/>
          <a:ln/>
        </p:spPr>
        <p:txBody>
          <a:bodyPr wrap="square" lIns="0" tIns="0" rIns="0" bIns="0" rtlCol="0" anchor="ctr"/>
          <a:lstStyle/>
          <a:p>
            <a:pPr marL="0" indent="0">
              <a:buNone/>
            </a:pPr>
            <a:r>
              <a:rPr lang="en-US" sz="1300" dirty="0">
                <a:solidFill>
                  <a:srgbClr val="5A544F"/>
                </a:solidFill>
                <a:latin typeface="Arial" pitchFamily="34" charset="0"/>
                <a:ea typeface="Arial" pitchFamily="34" charset="-122"/>
                <a:cs typeface="Arial" pitchFamily="34" charset="-120"/>
              </a:rPr>
              <a:t>Turn on the MCP server with spend caps set</a:t>
            </a:r>
            <a:endParaRPr lang="en-US" sz="1300" dirty="0"/>
          </a:p>
        </p:txBody>
      </p:sp>
      <p:sp>
        <p:nvSpPr>
          <p:cNvPr id="26" name="Shape 23"/>
          <p:cNvSpPr/>
          <p:nvPr/>
        </p:nvSpPr>
        <p:spPr>
          <a:xfrm>
            <a:off x="5577840" y="3968496"/>
            <a:ext cx="457200" cy="457200"/>
          </a:xfrm>
          <a:prstGeom prst="ellipse">
            <a:avLst/>
          </a:prstGeom>
          <a:solidFill>
            <a:srgbClr val="F6921E"/>
          </a:solidFill>
          <a:ln w="12700">
            <a:solidFill>
              <a:srgbClr val="F6921E"/>
            </a:solidFill>
            <a:prstDash val="solid"/>
          </a:ln>
        </p:spPr>
        <p:txBody>
          <a:bodyPr/>
          <a:lstStyle/>
          <a:p>
            <a:endParaRPr lang="en-US"/>
          </a:p>
        </p:txBody>
      </p:sp>
      <p:sp>
        <p:nvSpPr>
          <p:cNvPr id="27" name="Text 24"/>
          <p:cNvSpPr txBox="1"/>
          <p:nvPr/>
        </p:nvSpPr>
        <p:spPr>
          <a:xfrm>
            <a:off x="5577840" y="3968496"/>
            <a:ext cx="457200" cy="457200"/>
          </a:xfrm>
          <a:prstGeom prst="rect">
            <a:avLst/>
          </a:prstGeom>
          <a:noFill/>
          <a:ln/>
        </p:spPr>
        <p:txBody>
          <a:bodyPr wrap="square" lIns="0" tIns="0" rIns="0" bIns="0" rtlCol="0" anchor="ctr"/>
          <a:lstStyle/>
          <a:p>
            <a:pPr marL="0" indent="0" algn="ctr">
              <a:buNone/>
            </a:pPr>
            <a:r>
              <a:rPr lang="en-US" sz="1400" b="1" dirty="0">
                <a:solidFill>
                  <a:srgbClr val="2D2926"/>
                </a:solidFill>
                <a:latin typeface="Arial" pitchFamily="34" charset="0"/>
                <a:ea typeface="Arial" pitchFamily="34" charset="-122"/>
                <a:cs typeface="Arial" pitchFamily="34" charset="-120"/>
              </a:rPr>
              <a:t>4</a:t>
            </a:r>
            <a:endParaRPr lang="en-US" sz="1400" dirty="0"/>
          </a:p>
        </p:txBody>
      </p:sp>
      <p:sp>
        <p:nvSpPr>
          <p:cNvPr id="28" name="Text 25"/>
          <p:cNvSpPr txBox="1"/>
          <p:nvPr/>
        </p:nvSpPr>
        <p:spPr>
          <a:xfrm>
            <a:off x="6263640" y="3968496"/>
            <a:ext cx="1463040" cy="457200"/>
          </a:xfrm>
          <a:prstGeom prst="rect">
            <a:avLst/>
          </a:prstGeom>
          <a:noFill/>
          <a:ln/>
        </p:spPr>
        <p:txBody>
          <a:bodyPr wrap="square" lIns="0" tIns="0" rIns="0" bIns="0" rtlCol="0" anchor="ctr"/>
          <a:lstStyle/>
          <a:p>
            <a:pPr marL="0" indent="0">
              <a:buNone/>
            </a:pPr>
            <a:r>
              <a:rPr lang="en-US" sz="1600" b="1" dirty="0">
                <a:solidFill>
                  <a:srgbClr val="2D2926"/>
                </a:solidFill>
                <a:latin typeface="Arial" pitchFamily="34" charset="0"/>
                <a:ea typeface="Arial" pitchFamily="34" charset="-122"/>
                <a:cs typeface="Arial" pitchFamily="34" charset="-120"/>
              </a:rPr>
              <a:t>Supervise</a:t>
            </a:r>
            <a:endParaRPr lang="en-US" sz="1600" dirty="0"/>
          </a:p>
        </p:txBody>
      </p:sp>
      <p:sp>
        <p:nvSpPr>
          <p:cNvPr id="29" name="Text 26"/>
          <p:cNvSpPr txBox="1"/>
          <p:nvPr/>
        </p:nvSpPr>
        <p:spPr>
          <a:xfrm>
            <a:off x="7772400" y="3968496"/>
            <a:ext cx="3931920" cy="457200"/>
          </a:xfrm>
          <a:prstGeom prst="rect">
            <a:avLst/>
          </a:prstGeom>
          <a:noFill/>
          <a:ln/>
        </p:spPr>
        <p:txBody>
          <a:bodyPr wrap="square" lIns="0" tIns="0" rIns="0" bIns="0" rtlCol="0" anchor="ctr"/>
          <a:lstStyle/>
          <a:p>
            <a:pPr marL="0" indent="0">
              <a:buNone/>
            </a:pPr>
            <a:r>
              <a:rPr lang="en-US" sz="1300" dirty="0">
                <a:solidFill>
                  <a:srgbClr val="5A544F"/>
                </a:solidFill>
                <a:latin typeface="Arial" pitchFamily="34" charset="0"/>
                <a:ea typeface="Arial" pitchFamily="34" charset="-122"/>
                <a:cs typeface="Arial" pitchFamily="34" charset="-120"/>
              </a:rPr>
              <a:t>A human reviews every write for the first weeks</a:t>
            </a:r>
            <a:endParaRPr lang="en-US" sz="1300" dirty="0"/>
          </a:p>
        </p:txBody>
      </p:sp>
      <p:sp>
        <p:nvSpPr>
          <p:cNvPr id="30" name="Shape 27"/>
          <p:cNvSpPr/>
          <p:nvPr/>
        </p:nvSpPr>
        <p:spPr>
          <a:xfrm>
            <a:off x="5577840" y="4681728"/>
            <a:ext cx="457200" cy="457200"/>
          </a:xfrm>
          <a:prstGeom prst="ellipse">
            <a:avLst/>
          </a:prstGeom>
          <a:solidFill>
            <a:srgbClr val="F6921E"/>
          </a:solidFill>
          <a:ln w="12700">
            <a:solidFill>
              <a:srgbClr val="F6921E"/>
            </a:solidFill>
            <a:prstDash val="solid"/>
          </a:ln>
        </p:spPr>
        <p:txBody>
          <a:bodyPr/>
          <a:lstStyle/>
          <a:p>
            <a:endParaRPr lang="en-US"/>
          </a:p>
        </p:txBody>
      </p:sp>
      <p:sp>
        <p:nvSpPr>
          <p:cNvPr id="31" name="Text 28"/>
          <p:cNvSpPr txBox="1"/>
          <p:nvPr/>
        </p:nvSpPr>
        <p:spPr>
          <a:xfrm>
            <a:off x="5577840" y="4681728"/>
            <a:ext cx="457200" cy="457200"/>
          </a:xfrm>
          <a:prstGeom prst="rect">
            <a:avLst/>
          </a:prstGeom>
          <a:noFill/>
          <a:ln/>
        </p:spPr>
        <p:txBody>
          <a:bodyPr wrap="square" lIns="0" tIns="0" rIns="0" bIns="0" rtlCol="0" anchor="ctr"/>
          <a:lstStyle/>
          <a:p>
            <a:pPr marL="0" indent="0" algn="ctr">
              <a:buNone/>
            </a:pPr>
            <a:r>
              <a:rPr lang="en-US" sz="1400" b="1" dirty="0">
                <a:solidFill>
                  <a:srgbClr val="2D2926"/>
                </a:solidFill>
                <a:latin typeface="Arial" pitchFamily="34" charset="0"/>
                <a:ea typeface="Arial" pitchFamily="34" charset="-122"/>
                <a:cs typeface="Arial" pitchFamily="34" charset="-120"/>
              </a:rPr>
              <a:t>5</a:t>
            </a:r>
            <a:endParaRPr lang="en-US" sz="1400" dirty="0"/>
          </a:p>
        </p:txBody>
      </p:sp>
      <p:sp>
        <p:nvSpPr>
          <p:cNvPr id="32" name="Text 29"/>
          <p:cNvSpPr txBox="1"/>
          <p:nvPr/>
        </p:nvSpPr>
        <p:spPr>
          <a:xfrm>
            <a:off x="6263640" y="4681728"/>
            <a:ext cx="1463040" cy="457200"/>
          </a:xfrm>
          <a:prstGeom prst="rect">
            <a:avLst/>
          </a:prstGeom>
          <a:noFill/>
          <a:ln/>
        </p:spPr>
        <p:txBody>
          <a:bodyPr wrap="square" lIns="0" tIns="0" rIns="0" bIns="0" rtlCol="0" anchor="ctr"/>
          <a:lstStyle/>
          <a:p>
            <a:pPr marL="0" indent="0">
              <a:buNone/>
            </a:pPr>
            <a:r>
              <a:rPr lang="en-US" sz="1600" b="1" dirty="0">
                <a:solidFill>
                  <a:srgbClr val="2D2926"/>
                </a:solidFill>
                <a:latin typeface="Arial" pitchFamily="34" charset="0"/>
                <a:ea typeface="Arial" pitchFamily="34" charset="-122"/>
                <a:cs typeface="Arial" pitchFamily="34" charset="-120"/>
              </a:rPr>
              <a:t>Audit</a:t>
            </a:r>
            <a:endParaRPr lang="en-US" sz="1600" dirty="0"/>
          </a:p>
        </p:txBody>
      </p:sp>
      <p:sp>
        <p:nvSpPr>
          <p:cNvPr id="33" name="Text 30"/>
          <p:cNvSpPr txBox="1"/>
          <p:nvPr/>
        </p:nvSpPr>
        <p:spPr>
          <a:xfrm>
            <a:off x="7772400" y="4681728"/>
            <a:ext cx="3931920" cy="457200"/>
          </a:xfrm>
          <a:prstGeom prst="rect">
            <a:avLst/>
          </a:prstGeom>
          <a:noFill/>
          <a:ln/>
        </p:spPr>
        <p:txBody>
          <a:bodyPr wrap="square" lIns="0" tIns="0" rIns="0" bIns="0" rtlCol="0" anchor="ctr"/>
          <a:lstStyle/>
          <a:p>
            <a:pPr marL="0" indent="0">
              <a:buNone/>
            </a:pPr>
            <a:r>
              <a:rPr lang="en-US" sz="1300" dirty="0">
                <a:solidFill>
                  <a:srgbClr val="5A544F"/>
                </a:solidFill>
                <a:latin typeface="Arial" pitchFamily="34" charset="0"/>
                <a:ea typeface="Arial" pitchFamily="34" charset="-122"/>
                <a:cs typeface="Arial" pitchFamily="34" charset="-120"/>
              </a:rPr>
              <a:t>Read the tool-call log on a schedule</a:t>
            </a:r>
            <a:endParaRPr lang="en-US" sz="1300" dirty="0"/>
          </a:p>
        </p:txBody>
      </p:sp>
      <p:sp>
        <p:nvSpPr>
          <p:cNvPr id="34" name="Shape 31"/>
          <p:cNvSpPr/>
          <p:nvPr/>
        </p:nvSpPr>
        <p:spPr>
          <a:xfrm>
            <a:off x="5577840" y="5394960"/>
            <a:ext cx="457200" cy="457200"/>
          </a:xfrm>
          <a:prstGeom prst="ellipse">
            <a:avLst/>
          </a:prstGeom>
          <a:solidFill>
            <a:srgbClr val="F6921E"/>
          </a:solidFill>
          <a:ln w="12700">
            <a:solidFill>
              <a:srgbClr val="F6921E"/>
            </a:solidFill>
            <a:prstDash val="solid"/>
          </a:ln>
        </p:spPr>
        <p:txBody>
          <a:bodyPr/>
          <a:lstStyle/>
          <a:p>
            <a:endParaRPr lang="en-US"/>
          </a:p>
        </p:txBody>
      </p:sp>
      <p:sp>
        <p:nvSpPr>
          <p:cNvPr id="35" name="Text 32"/>
          <p:cNvSpPr txBox="1"/>
          <p:nvPr/>
        </p:nvSpPr>
        <p:spPr>
          <a:xfrm>
            <a:off x="5577840" y="5394960"/>
            <a:ext cx="457200" cy="457200"/>
          </a:xfrm>
          <a:prstGeom prst="rect">
            <a:avLst/>
          </a:prstGeom>
          <a:noFill/>
          <a:ln/>
        </p:spPr>
        <p:txBody>
          <a:bodyPr wrap="square" lIns="0" tIns="0" rIns="0" bIns="0" rtlCol="0" anchor="ctr"/>
          <a:lstStyle/>
          <a:p>
            <a:pPr marL="0" indent="0" algn="ctr">
              <a:buNone/>
            </a:pPr>
            <a:r>
              <a:rPr lang="en-US" sz="1400" b="1" dirty="0">
                <a:solidFill>
                  <a:srgbClr val="2D2926"/>
                </a:solidFill>
                <a:latin typeface="Arial" pitchFamily="34" charset="0"/>
                <a:ea typeface="Arial" pitchFamily="34" charset="-122"/>
                <a:cs typeface="Arial" pitchFamily="34" charset="-120"/>
              </a:rPr>
              <a:t>6</a:t>
            </a:r>
            <a:endParaRPr lang="en-US" sz="1400" dirty="0"/>
          </a:p>
        </p:txBody>
      </p:sp>
      <p:sp>
        <p:nvSpPr>
          <p:cNvPr id="36" name="Text 33"/>
          <p:cNvSpPr txBox="1"/>
          <p:nvPr/>
        </p:nvSpPr>
        <p:spPr>
          <a:xfrm>
            <a:off x="6263640" y="5394960"/>
            <a:ext cx="1463040" cy="457200"/>
          </a:xfrm>
          <a:prstGeom prst="rect">
            <a:avLst/>
          </a:prstGeom>
          <a:noFill/>
          <a:ln/>
        </p:spPr>
        <p:txBody>
          <a:bodyPr wrap="square" lIns="0" tIns="0" rIns="0" bIns="0" rtlCol="0" anchor="ctr"/>
          <a:lstStyle/>
          <a:p>
            <a:pPr marL="0" indent="0">
              <a:buNone/>
            </a:pPr>
            <a:r>
              <a:rPr lang="en-US" sz="1600" b="1" dirty="0">
                <a:solidFill>
                  <a:srgbClr val="2D2926"/>
                </a:solidFill>
                <a:latin typeface="Arial" pitchFamily="34" charset="0"/>
                <a:ea typeface="Arial" pitchFamily="34" charset="-122"/>
                <a:cs typeface="Arial" pitchFamily="34" charset="-120"/>
              </a:rPr>
              <a:t>Expand</a:t>
            </a:r>
            <a:endParaRPr lang="en-US" sz="1600" dirty="0"/>
          </a:p>
        </p:txBody>
      </p:sp>
      <p:sp>
        <p:nvSpPr>
          <p:cNvPr id="37" name="Text 34"/>
          <p:cNvSpPr txBox="1"/>
          <p:nvPr/>
        </p:nvSpPr>
        <p:spPr>
          <a:xfrm>
            <a:off x="7772400" y="5394960"/>
            <a:ext cx="3931920" cy="457200"/>
          </a:xfrm>
          <a:prstGeom prst="rect">
            <a:avLst/>
          </a:prstGeom>
          <a:noFill/>
          <a:ln/>
        </p:spPr>
        <p:txBody>
          <a:bodyPr wrap="square" lIns="0" tIns="0" rIns="0" bIns="0" rtlCol="0" anchor="ctr"/>
          <a:lstStyle/>
          <a:p>
            <a:pPr marL="0" indent="0">
              <a:buNone/>
            </a:pPr>
            <a:r>
              <a:rPr lang="en-US" sz="1300" dirty="0">
                <a:solidFill>
                  <a:srgbClr val="5A544F"/>
                </a:solidFill>
                <a:latin typeface="Arial" pitchFamily="34" charset="0"/>
                <a:ea typeface="Arial" pitchFamily="34" charset="-122"/>
                <a:cs typeface="Arial" pitchFamily="34" charset="-120"/>
              </a:rPr>
              <a:t>Add one tool or one team, then go around again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D2926"/>
        </a:solidFill>
        <a:effectLst/>
      </p:bgPr>
    </p:bg>
    <p:spTree>
      <p:nvGrpSpPr>
        <p:cNvPr id="1" name=""/>
        <p:cNvGrpSpPr/>
        <p:nvPr/>
      </p:nvGrpSpPr>
      <p:grpSpPr>
        <a:xfrm>
          <a:off x="0" y="0"/>
          <a:ext cx="0" cy="0"/>
          <a:chOff x="0" y="0"/>
          <a:chExt cx="0" cy="0"/>
        </a:xfrm>
      </p:grpSpPr>
      <p:pic>
        <p:nvPicPr>
          <p:cNvPr id="2" name="Image 0" descr="img/steps.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457200" y="411480"/>
            <a:ext cx="221284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4" name="Text 1"/>
          <p:cNvSpPr txBox="1"/>
          <p:nvPr/>
        </p:nvSpPr>
        <p:spPr>
          <a:xfrm>
            <a:off x="457200" y="411480"/>
            <a:ext cx="221284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THE EXEC PASTOR TEST</a:t>
            </a:r>
            <a:endParaRPr lang="en-US" sz="1100" dirty="0"/>
          </a:p>
        </p:txBody>
      </p:sp>
      <p:sp>
        <p:nvSpPr>
          <p:cNvPr id="5" name="Text 2"/>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BFB8B1"/>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3"/>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BFB8B1"/>
                </a:solidFill>
                <a:latin typeface="Arial" pitchFamily="34" charset="0"/>
                <a:ea typeface="Arial" pitchFamily="34" charset="-122"/>
                <a:cs typeface="Arial" pitchFamily="34" charset="-120"/>
              </a:rPr>
              <a:t>21</a:t>
            </a:r>
            <a:endParaRPr lang="en-US" sz="900" dirty="0"/>
          </a:p>
        </p:txBody>
      </p:sp>
      <p:sp>
        <p:nvSpPr>
          <p:cNvPr id="7" name="Text 4"/>
          <p:cNvSpPr txBox="1"/>
          <p:nvPr/>
        </p:nvSpPr>
        <p:spPr>
          <a:xfrm>
            <a:off x="457200" y="2103120"/>
            <a:ext cx="10515600" cy="822960"/>
          </a:xfrm>
          <a:prstGeom prst="rect">
            <a:avLst/>
          </a:prstGeom>
          <a:noFill/>
          <a:ln/>
        </p:spPr>
        <p:txBody>
          <a:bodyPr wrap="square" lIns="0" tIns="0" rIns="0" bIns="0" rtlCol="0" anchor="t"/>
          <a:lstStyle/>
          <a:p>
            <a:pPr marL="0" indent="0">
              <a:buNone/>
            </a:pPr>
            <a:r>
              <a:rPr lang="en-US" sz="3600" b="1" dirty="0">
                <a:solidFill>
                  <a:srgbClr val="FFFFFF"/>
                </a:solidFill>
                <a:latin typeface="Arial" pitchFamily="34" charset="0"/>
                <a:ea typeface="Arial" pitchFamily="34" charset="-122"/>
                <a:cs typeface="Arial" pitchFamily="34" charset="-120"/>
              </a:rPr>
              <a:t>“Could you show every action it took,</a:t>
            </a:r>
            <a:endParaRPr lang="en-US" sz="3600" dirty="0"/>
          </a:p>
        </p:txBody>
      </p:sp>
      <p:sp>
        <p:nvSpPr>
          <p:cNvPr id="8" name="Text 5"/>
          <p:cNvSpPr txBox="1"/>
          <p:nvPr/>
        </p:nvSpPr>
        <p:spPr>
          <a:xfrm>
            <a:off x="457200" y="2926080"/>
            <a:ext cx="10515600" cy="822960"/>
          </a:xfrm>
          <a:prstGeom prst="rect">
            <a:avLst/>
          </a:prstGeom>
          <a:noFill/>
          <a:ln/>
        </p:spPr>
        <p:txBody>
          <a:bodyPr wrap="square" lIns="0" tIns="0" rIns="0" bIns="0" rtlCol="0" anchor="t"/>
          <a:lstStyle/>
          <a:p>
            <a:pPr marL="0" indent="0">
              <a:buNone/>
            </a:pPr>
            <a:r>
              <a:rPr lang="en-US" sz="3600" b="1" dirty="0">
                <a:solidFill>
                  <a:srgbClr val="F6921E"/>
                </a:solidFill>
                <a:latin typeface="Arial" pitchFamily="34" charset="0"/>
                <a:ea typeface="Arial" pitchFamily="34" charset="-122"/>
                <a:cs typeface="Arial" pitchFamily="34" charset="-120"/>
              </a:rPr>
              <a:t>and who approved it?”</a:t>
            </a:r>
            <a:endParaRPr lang="en-US" sz="3600" dirty="0"/>
          </a:p>
        </p:txBody>
      </p:sp>
      <p:sp>
        <p:nvSpPr>
          <p:cNvPr id="9" name="Text 6"/>
          <p:cNvSpPr txBox="1"/>
          <p:nvPr/>
        </p:nvSpPr>
        <p:spPr>
          <a:xfrm>
            <a:off x="457200" y="4343400"/>
            <a:ext cx="6583680" cy="822960"/>
          </a:xfrm>
          <a:prstGeom prst="rect">
            <a:avLst/>
          </a:prstGeom>
          <a:noFill/>
          <a:ln/>
        </p:spPr>
        <p:txBody>
          <a:bodyPr wrap="square" lIns="0" tIns="0" rIns="0" bIns="0" rtlCol="0" anchor="t"/>
          <a:lstStyle/>
          <a:p>
            <a:pPr marL="0" indent="0">
              <a:buNone/>
            </a:pPr>
            <a:r>
              <a:rPr lang="en-US" sz="1600" dirty="0">
                <a:solidFill>
                  <a:srgbClr val="E4DED8"/>
                </a:solidFill>
                <a:latin typeface="Arial" pitchFamily="34" charset="0"/>
                <a:ea typeface="Arial" pitchFamily="34" charset="-122"/>
                <a:cs typeface="Arial" pitchFamily="34" charset="-120"/>
              </a:rPr>
              <a:t>If the answer is no, it isn’t ready for your data. Approvals, PII scope, spend caps and audit trails are how you get to yes.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20700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20700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TAKE HOME</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The Real Agent checklist</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22</a:t>
            </a:r>
            <a:endParaRPr lang="en-US" sz="900" dirty="0"/>
          </a:p>
        </p:txBody>
      </p:sp>
      <p:sp>
        <p:nvSpPr>
          <p:cNvPr id="7" name="Shape 5"/>
          <p:cNvSpPr/>
          <p:nvPr/>
        </p:nvSpPr>
        <p:spPr>
          <a:xfrm>
            <a:off x="457200" y="1828800"/>
            <a:ext cx="5486400" cy="4160520"/>
          </a:xfrm>
          <a:prstGeom prst="roundRect">
            <a:avLst>
              <a:gd name="adj" fmla="val 2637"/>
            </a:avLst>
          </a:prstGeom>
          <a:solidFill>
            <a:srgbClr val="E4DED8"/>
          </a:solidFill>
          <a:ln w="12700">
            <a:solidFill>
              <a:srgbClr val="E4DED8"/>
            </a:solidFill>
            <a:prstDash val="solid"/>
          </a:ln>
        </p:spPr>
        <p:txBody>
          <a:bodyPr/>
          <a:lstStyle/>
          <a:p>
            <a:endParaRPr lang="en-US"/>
          </a:p>
        </p:txBody>
      </p:sp>
      <p:sp>
        <p:nvSpPr>
          <p:cNvPr id="8" name="Text 6"/>
          <p:cNvSpPr txBox="1"/>
          <p:nvPr/>
        </p:nvSpPr>
        <p:spPr>
          <a:xfrm>
            <a:off x="822960" y="2057400"/>
            <a:ext cx="4754880" cy="457200"/>
          </a:xfrm>
          <a:prstGeom prst="rect">
            <a:avLst/>
          </a:prstGeom>
          <a:noFill/>
          <a:ln/>
        </p:spPr>
        <p:txBody>
          <a:bodyPr wrap="square" lIns="0" tIns="0" rIns="0" bIns="0" rtlCol="0" anchor="t"/>
          <a:lstStyle/>
          <a:p>
            <a:pPr marL="0" indent="0">
              <a:buNone/>
            </a:pPr>
            <a:r>
              <a:rPr lang="en-US" sz="1900" b="1" dirty="0">
                <a:solidFill>
                  <a:srgbClr val="2D2926"/>
                </a:solidFill>
                <a:latin typeface="Arial" pitchFamily="34" charset="0"/>
                <a:ea typeface="Arial" pitchFamily="34" charset="-122"/>
                <a:cs typeface="Arial" pitchFamily="34" charset="-120"/>
              </a:rPr>
              <a:t>Is it an agent?</a:t>
            </a:r>
            <a:endParaRPr lang="en-US" sz="1900" dirty="0"/>
          </a:p>
        </p:txBody>
      </p:sp>
      <p:sp>
        <p:nvSpPr>
          <p:cNvPr id="9" name="Shape 7"/>
          <p:cNvSpPr/>
          <p:nvPr/>
        </p:nvSpPr>
        <p:spPr>
          <a:xfrm>
            <a:off x="822960" y="2734056"/>
            <a:ext cx="274320" cy="274320"/>
          </a:xfrm>
          <a:prstGeom prst="roundRect">
            <a:avLst>
              <a:gd name="adj" fmla="val 20000"/>
            </a:avLst>
          </a:prstGeom>
          <a:solidFill>
            <a:srgbClr val="FFFFFF"/>
          </a:solidFill>
          <a:ln w="19050">
            <a:solidFill>
              <a:srgbClr val="F6921E"/>
            </a:solidFill>
            <a:prstDash val="solid"/>
          </a:ln>
        </p:spPr>
        <p:txBody>
          <a:bodyPr/>
          <a:lstStyle/>
          <a:p>
            <a:endParaRPr lang="en-US"/>
          </a:p>
        </p:txBody>
      </p:sp>
      <p:sp>
        <p:nvSpPr>
          <p:cNvPr id="10" name="Text 8"/>
          <p:cNvSpPr txBox="1"/>
          <p:nvPr/>
        </p:nvSpPr>
        <p:spPr>
          <a:xfrm>
            <a:off x="1280160" y="2697480"/>
            <a:ext cx="4389120" cy="548640"/>
          </a:xfrm>
          <a:prstGeom prst="rect">
            <a:avLst/>
          </a:prstGeom>
          <a:noFill/>
          <a:ln/>
        </p:spPr>
        <p:txBody>
          <a:bodyPr wrap="square" lIns="0" tIns="0" rIns="0" bIns="0" rtlCol="0" anchor="t"/>
          <a:lstStyle/>
          <a:p>
            <a:pPr marL="0" indent="0">
              <a:buNone/>
            </a:pPr>
            <a:r>
              <a:rPr lang="en-US" sz="1350" dirty="0">
                <a:solidFill>
                  <a:srgbClr val="2D2926"/>
                </a:solidFill>
                <a:latin typeface="Arial" pitchFamily="34" charset="0"/>
                <a:ea typeface="Arial" pitchFamily="34" charset="-122"/>
                <a:cs typeface="Arial" pitchFamily="34" charset="-120"/>
              </a:rPr>
              <a:t>Does the model choose its next step at runtime?</a:t>
            </a:r>
            <a:endParaRPr lang="en-US" sz="1350" dirty="0"/>
          </a:p>
        </p:txBody>
      </p:sp>
      <p:sp>
        <p:nvSpPr>
          <p:cNvPr id="11" name="Shape 9"/>
          <p:cNvSpPr/>
          <p:nvPr/>
        </p:nvSpPr>
        <p:spPr>
          <a:xfrm>
            <a:off x="822960" y="3355848"/>
            <a:ext cx="274320" cy="274320"/>
          </a:xfrm>
          <a:prstGeom prst="roundRect">
            <a:avLst>
              <a:gd name="adj" fmla="val 20000"/>
            </a:avLst>
          </a:prstGeom>
          <a:solidFill>
            <a:srgbClr val="FFFFFF"/>
          </a:solidFill>
          <a:ln w="19050">
            <a:solidFill>
              <a:srgbClr val="F6921E"/>
            </a:solidFill>
            <a:prstDash val="solid"/>
          </a:ln>
        </p:spPr>
        <p:txBody>
          <a:bodyPr/>
          <a:lstStyle/>
          <a:p>
            <a:endParaRPr lang="en-US"/>
          </a:p>
        </p:txBody>
      </p:sp>
      <p:sp>
        <p:nvSpPr>
          <p:cNvPr id="12" name="Text 10"/>
          <p:cNvSpPr txBox="1"/>
          <p:nvPr/>
        </p:nvSpPr>
        <p:spPr>
          <a:xfrm>
            <a:off x="1280160" y="3319272"/>
            <a:ext cx="4389120" cy="548640"/>
          </a:xfrm>
          <a:prstGeom prst="rect">
            <a:avLst/>
          </a:prstGeom>
          <a:noFill/>
          <a:ln/>
        </p:spPr>
        <p:txBody>
          <a:bodyPr wrap="square" lIns="0" tIns="0" rIns="0" bIns="0" rtlCol="0" anchor="t"/>
          <a:lstStyle/>
          <a:p>
            <a:pPr marL="0" indent="0">
              <a:buNone/>
            </a:pPr>
            <a:r>
              <a:rPr lang="en-US" sz="1350" dirty="0">
                <a:solidFill>
                  <a:srgbClr val="2D2926"/>
                </a:solidFill>
                <a:latin typeface="Arial" pitchFamily="34" charset="0"/>
                <a:ea typeface="Arial" pitchFamily="34" charset="-122"/>
                <a:cs typeface="Arial" pitchFamily="34" charset="-120"/>
              </a:rPr>
              <a:t>Can it call tools that act, and read the results?</a:t>
            </a:r>
            <a:endParaRPr lang="en-US" sz="1350" dirty="0"/>
          </a:p>
        </p:txBody>
      </p:sp>
      <p:sp>
        <p:nvSpPr>
          <p:cNvPr id="13" name="Shape 11"/>
          <p:cNvSpPr/>
          <p:nvPr/>
        </p:nvSpPr>
        <p:spPr>
          <a:xfrm>
            <a:off x="822960" y="3977640"/>
            <a:ext cx="274320" cy="274320"/>
          </a:xfrm>
          <a:prstGeom prst="roundRect">
            <a:avLst>
              <a:gd name="adj" fmla="val 20000"/>
            </a:avLst>
          </a:prstGeom>
          <a:solidFill>
            <a:srgbClr val="FFFFFF"/>
          </a:solidFill>
          <a:ln w="19050">
            <a:solidFill>
              <a:srgbClr val="F6921E"/>
            </a:solidFill>
            <a:prstDash val="solid"/>
          </a:ln>
        </p:spPr>
        <p:txBody>
          <a:bodyPr/>
          <a:lstStyle/>
          <a:p>
            <a:endParaRPr lang="en-US"/>
          </a:p>
        </p:txBody>
      </p:sp>
      <p:sp>
        <p:nvSpPr>
          <p:cNvPr id="14" name="Text 12"/>
          <p:cNvSpPr txBox="1"/>
          <p:nvPr/>
        </p:nvSpPr>
        <p:spPr>
          <a:xfrm>
            <a:off x="1280160" y="3941064"/>
            <a:ext cx="4389120" cy="548640"/>
          </a:xfrm>
          <a:prstGeom prst="rect">
            <a:avLst/>
          </a:prstGeom>
          <a:noFill/>
          <a:ln/>
        </p:spPr>
        <p:txBody>
          <a:bodyPr wrap="square" lIns="0" tIns="0" rIns="0" bIns="0" rtlCol="0" anchor="t"/>
          <a:lstStyle/>
          <a:p>
            <a:pPr marL="0" indent="0">
              <a:buNone/>
            </a:pPr>
            <a:r>
              <a:rPr lang="en-US" sz="1350" dirty="0">
                <a:solidFill>
                  <a:srgbClr val="2D2926"/>
                </a:solidFill>
                <a:latin typeface="Arial" pitchFamily="34" charset="0"/>
                <a:ea typeface="Arial" pitchFamily="34" charset="-122"/>
                <a:cs typeface="Arial" pitchFamily="34" charset="-120"/>
              </a:rPr>
              <a:t>Can it tell you how it decides it’s done?</a:t>
            </a:r>
            <a:endParaRPr lang="en-US" sz="1350" dirty="0"/>
          </a:p>
        </p:txBody>
      </p:sp>
      <p:sp>
        <p:nvSpPr>
          <p:cNvPr id="15" name="Shape 13"/>
          <p:cNvSpPr/>
          <p:nvPr/>
        </p:nvSpPr>
        <p:spPr>
          <a:xfrm>
            <a:off x="6245352" y="1828800"/>
            <a:ext cx="5486400" cy="4160520"/>
          </a:xfrm>
          <a:prstGeom prst="roundRect">
            <a:avLst>
              <a:gd name="adj" fmla="val 2637"/>
            </a:avLst>
          </a:prstGeom>
          <a:solidFill>
            <a:srgbClr val="2D2926"/>
          </a:solidFill>
          <a:ln w="12700">
            <a:solidFill>
              <a:srgbClr val="2D2926"/>
            </a:solidFill>
            <a:prstDash val="solid"/>
          </a:ln>
        </p:spPr>
        <p:txBody>
          <a:bodyPr/>
          <a:lstStyle/>
          <a:p>
            <a:endParaRPr lang="en-US"/>
          </a:p>
        </p:txBody>
      </p:sp>
      <p:sp>
        <p:nvSpPr>
          <p:cNvPr id="16" name="Text 14"/>
          <p:cNvSpPr txBox="1"/>
          <p:nvPr/>
        </p:nvSpPr>
        <p:spPr>
          <a:xfrm>
            <a:off x="6611112" y="2057400"/>
            <a:ext cx="4754880" cy="457200"/>
          </a:xfrm>
          <a:prstGeom prst="rect">
            <a:avLst/>
          </a:prstGeom>
          <a:noFill/>
          <a:ln/>
        </p:spPr>
        <p:txBody>
          <a:bodyPr wrap="square" lIns="0" tIns="0" rIns="0" bIns="0" rtlCol="0" anchor="t"/>
          <a:lstStyle/>
          <a:p>
            <a:pPr marL="0" indent="0">
              <a:buNone/>
            </a:pPr>
            <a:r>
              <a:rPr lang="en-US" sz="1900" b="1" dirty="0">
                <a:solidFill>
                  <a:srgbClr val="F6921E"/>
                </a:solidFill>
                <a:latin typeface="Arial" pitchFamily="34" charset="0"/>
                <a:ea typeface="Arial" pitchFamily="34" charset="-122"/>
                <a:cs typeface="Arial" pitchFamily="34" charset="-120"/>
              </a:rPr>
              <a:t>Is it safe to connect?</a:t>
            </a:r>
            <a:endParaRPr lang="en-US" sz="1900" dirty="0"/>
          </a:p>
        </p:txBody>
      </p:sp>
      <p:sp>
        <p:nvSpPr>
          <p:cNvPr id="17" name="Shape 15"/>
          <p:cNvSpPr/>
          <p:nvPr/>
        </p:nvSpPr>
        <p:spPr>
          <a:xfrm>
            <a:off x="6611112" y="2734056"/>
            <a:ext cx="274320" cy="274320"/>
          </a:xfrm>
          <a:prstGeom prst="roundRect">
            <a:avLst>
              <a:gd name="adj" fmla="val 20000"/>
            </a:avLst>
          </a:prstGeom>
          <a:solidFill>
            <a:srgbClr val="2D2926"/>
          </a:solidFill>
          <a:ln w="19050">
            <a:solidFill>
              <a:srgbClr val="F6921E"/>
            </a:solidFill>
            <a:prstDash val="solid"/>
          </a:ln>
        </p:spPr>
        <p:txBody>
          <a:bodyPr/>
          <a:lstStyle/>
          <a:p>
            <a:endParaRPr lang="en-US"/>
          </a:p>
        </p:txBody>
      </p:sp>
      <p:sp>
        <p:nvSpPr>
          <p:cNvPr id="18" name="Text 16"/>
          <p:cNvSpPr txBox="1"/>
          <p:nvPr/>
        </p:nvSpPr>
        <p:spPr>
          <a:xfrm>
            <a:off x="7068312" y="2697480"/>
            <a:ext cx="4389120" cy="548640"/>
          </a:xfrm>
          <a:prstGeom prst="rect">
            <a:avLst/>
          </a:prstGeom>
          <a:noFill/>
          <a:ln/>
        </p:spPr>
        <p:txBody>
          <a:bodyPr wrap="square" lIns="0" tIns="0" rIns="0" bIns="0" rtlCol="0" anchor="t"/>
          <a:lstStyle/>
          <a:p>
            <a:pPr marL="0" indent="0">
              <a:buNone/>
            </a:pPr>
            <a:r>
              <a:rPr lang="en-US" sz="1350" dirty="0">
                <a:solidFill>
                  <a:srgbClr val="FFFFFF"/>
                </a:solidFill>
                <a:latin typeface="Arial" pitchFamily="34" charset="0"/>
                <a:ea typeface="Arial" pitchFamily="34" charset="-122"/>
                <a:cs typeface="Arial" pitchFamily="34" charset="-120"/>
              </a:rPr>
              <a:t>Which actions need human approval, and can I change that?</a:t>
            </a:r>
            <a:endParaRPr lang="en-US" sz="1350" dirty="0"/>
          </a:p>
        </p:txBody>
      </p:sp>
      <p:sp>
        <p:nvSpPr>
          <p:cNvPr id="19" name="Shape 17"/>
          <p:cNvSpPr/>
          <p:nvPr/>
        </p:nvSpPr>
        <p:spPr>
          <a:xfrm>
            <a:off x="6611112" y="3355848"/>
            <a:ext cx="274320" cy="274320"/>
          </a:xfrm>
          <a:prstGeom prst="roundRect">
            <a:avLst>
              <a:gd name="adj" fmla="val 20000"/>
            </a:avLst>
          </a:prstGeom>
          <a:solidFill>
            <a:srgbClr val="2D2926"/>
          </a:solidFill>
          <a:ln w="19050">
            <a:solidFill>
              <a:srgbClr val="F6921E"/>
            </a:solidFill>
            <a:prstDash val="solid"/>
          </a:ln>
        </p:spPr>
        <p:txBody>
          <a:bodyPr/>
          <a:lstStyle/>
          <a:p>
            <a:endParaRPr lang="en-US"/>
          </a:p>
        </p:txBody>
      </p:sp>
      <p:sp>
        <p:nvSpPr>
          <p:cNvPr id="20" name="Text 18"/>
          <p:cNvSpPr txBox="1"/>
          <p:nvPr/>
        </p:nvSpPr>
        <p:spPr>
          <a:xfrm>
            <a:off x="7068312" y="3319272"/>
            <a:ext cx="4389120" cy="548640"/>
          </a:xfrm>
          <a:prstGeom prst="rect">
            <a:avLst/>
          </a:prstGeom>
          <a:noFill/>
          <a:ln/>
        </p:spPr>
        <p:txBody>
          <a:bodyPr wrap="square" lIns="0" tIns="0" rIns="0" bIns="0" rtlCol="0" anchor="t"/>
          <a:lstStyle/>
          <a:p>
            <a:pPr marL="0" indent="0">
              <a:buNone/>
            </a:pPr>
            <a:r>
              <a:rPr lang="en-US" sz="1350" dirty="0">
                <a:solidFill>
                  <a:srgbClr val="FFFFFF"/>
                </a:solidFill>
                <a:latin typeface="Arial" pitchFamily="34" charset="0"/>
                <a:ea typeface="Arial" pitchFamily="34" charset="-122"/>
                <a:cs typeface="Arial" pitchFamily="34" charset="-120"/>
              </a:rPr>
              <a:t>Whose identity does it act as, and what can it see?</a:t>
            </a:r>
            <a:endParaRPr lang="en-US" sz="1350" dirty="0"/>
          </a:p>
        </p:txBody>
      </p:sp>
      <p:sp>
        <p:nvSpPr>
          <p:cNvPr id="21" name="Shape 19"/>
          <p:cNvSpPr/>
          <p:nvPr/>
        </p:nvSpPr>
        <p:spPr>
          <a:xfrm>
            <a:off x="6611112" y="3977640"/>
            <a:ext cx="274320" cy="274320"/>
          </a:xfrm>
          <a:prstGeom prst="roundRect">
            <a:avLst>
              <a:gd name="adj" fmla="val 20000"/>
            </a:avLst>
          </a:prstGeom>
          <a:solidFill>
            <a:srgbClr val="2D2926"/>
          </a:solidFill>
          <a:ln w="19050">
            <a:solidFill>
              <a:srgbClr val="F6921E"/>
            </a:solidFill>
            <a:prstDash val="solid"/>
          </a:ln>
        </p:spPr>
        <p:txBody>
          <a:bodyPr/>
          <a:lstStyle/>
          <a:p>
            <a:endParaRPr lang="en-US"/>
          </a:p>
        </p:txBody>
      </p:sp>
      <p:sp>
        <p:nvSpPr>
          <p:cNvPr id="22" name="Text 20"/>
          <p:cNvSpPr txBox="1"/>
          <p:nvPr/>
        </p:nvSpPr>
        <p:spPr>
          <a:xfrm>
            <a:off x="7068312" y="3941064"/>
            <a:ext cx="4389120" cy="548640"/>
          </a:xfrm>
          <a:prstGeom prst="rect">
            <a:avLst/>
          </a:prstGeom>
          <a:noFill/>
          <a:ln/>
        </p:spPr>
        <p:txBody>
          <a:bodyPr wrap="square" lIns="0" tIns="0" rIns="0" bIns="0" rtlCol="0" anchor="t"/>
          <a:lstStyle/>
          <a:p>
            <a:pPr marL="0" indent="0">
              <a:buNone/>
            </a:pPr>
            <a:r>
              <a:rPr lang="en-US" sz="1350" dirty="0">
                <a:solidFill>
                  <a:srgbClr val="FFFFFF"/>
                </a:solidFill>
                <a:latin typeface="Arial" pitchFamily="34" charset="0"/>
                <a:ea typeface="Arial" pitchFamily="34" charset="-122"/>
                <a:cs typeface="Arial" pitchFamily="34" charset="-120"/>
              </a:rPr>
              <a:t>Where does data go, how long is it kept, is it trained on?</a:t>
            </a:r>
            <a:endParaRPr lang="en-US" sz="1350" dirty="0"/>
          </a:p>
        </p:txBody>
      </p:sp>
      <p:sp>
        <p:nvSpPr>
          <p:cNvPr id="23" name="Shape 21"/>
          <p:cNvSpPr/>
          <p:nvPr/>
        </p:nvSpPr>
        <p:spPr>
          <a:xfrm>
            <a:off x="6611112" y="4599432"/>
            <a:ext cx="274320" cy="274320"/>
          </a:xfrm>
          <a:prstGeom prst="roundRect">
            <a:avLst>
              <a:gd name="adj" fmla="val 20000"/>
            </a:avLst>
          </a:prstGeom>
          <a:solidFill>
            <a:srgbClr val="2D2926"/>
          </a:solidFill>
          <a:ln w="19050">
            <a:solidFill>
              <a:srgbClr val="F6921E"/>
            </a:solidFill>
            <a:prstDash val="solid"/>
          </a:ln>
        </p:spPr>
        <p:txBody>
          <a:bodyPr/>
          <a:lstStyle/>
          <a:p>
            <a:endParaRPr lang="en-US"/>
          </a:p>
        </p:txBody>
      </p:sp>
      <p:sp>
        <p:nvSpPr>
          <p:cNvPr id="24" name="Text 22"/>
          <p:cNvSpPr txBox="1"/>
          <p:nvPr/>
        </p:nvSpPr>
        <p:spPr>
          <a:xfrm>
            <a:off x="7068312" y="4562856"/>
            <a:ext cx="4389120" cy="548640"/>
          </a:xfrm>
          <a:prstGeom prst="rect">
            <a:avLst/>
          </a:prstGeom>
          <a:noFill/>
          <a:ln/>
        </p:spPr>
        <p:txBody>
          <a:bodyPr wrap="square" lIns="0" tIns="0" rIns="0" bIns="0" rtlCol="0" anchor="t"/>
          <a:lstStyle/>
          <a:p>
            <a:pPr marL="0" indent="0">
              <a:buNone/>
            </a:pPr>
            <a:r>
              <a:rPr lang="en-US" sz="1350" dirty="0">
                <a:solidFill>
                  <a:srgbClr val="FFFFFF"/>
                </a:solidFill>
                <a:latin typeface="Arial" pitchFamily="34" charset="0"/>
                <a:ea typeface="Arial" pitchFamily="34" charset="-122"/>
                <a:cs typeface="Arial" pitchFamily="34" charset="-120"/>
              </a:rPr>
              <a:t>What caps its steps and spend per run and per month?</a:t>
            </a:r>
            <a:endParaRPr lang="en-US" sz="1350" dirty="0"/>
          </a:p>
        </p:txBody>
      </p:sp>
      <p:sp>
        <p:nvSpPr>
          <p:cNvPr id="25" name="Shape 23"/>
          <p:cNvSpPr/>
          <p:nvPr/>
        </p:nvSpPr>
        <p:spPr>
          <a:xfrm>
            <a:off x="6611112" y="5221224"/>
            <a:ext cx="274320" cy="274320"/>
          </a:xfrm>
          <a:prstGeom prst="roundRect">
            <a:avLst>
              <a:gd name="adj" fmla="val 20000"/>
            </a:avLst>
          </a:prstGeom>
          <a:solidFill>
            <a:srgbClr val="2D2926"/>
          </a:solidFill>
          <a:ln w="19050">
            <a:solidFill>
              <a:srgbClr val="F6921E"/>
            </a:solidFill>
            <a:prstDash val="solid"/>
          </a:ln>
        </p:spPr>
        <p:txBody>
          <a:bodyPr/>
          <a:lstStyle/>
          <a:p>
            <a:endParaRPr lang="en-US"/>
          </a:p>
        </p:txBody>
      </p:sp>
      <p:sp>
        <p:nvSpPr>
          <p:cNvPr id="26" name="Text 24"/>
          <p:cNvSpPr txBox="1"/>
          <p:nvPr/>
        </p:nvSpPr>
        <p:spPr>
          <a:xfrm>
            <a:off x="7068312" y="5184648"/>
            <a:ext cx="4389120" cy="548640"/>
          </a:xfrm>
          <a:prstGeom prst="rect">
            <a:avLst/>
          </a:prstGeom>
          <a:noFill/>
          <a:ln/>
        </p:spPr>
        <p:txBody>
          <a:bodyPr wrap="square" lIns="0" tIns="0" rIns="0" bIns="0" rtlCol="0" anchor="t"/>
          <a:lstStyle/>
          <a:p>
            <a:pPr marL="0" indent="0">
              <a:buNone/>
            </a:pPr>
            <a:r>
              <a:rPr lang="en-US" sz="1350" dirty="0">
                <a:solidFill>
                  <a:srgbClr val="FFFFFF"/>
                </a:solidFill>
                <a:latin typeface="Arial" pitchFamily="34" charset="0"/>
                <a:ea typeface="Arial" pitchFamily="34" charset="-122"/>
                <a:cs typeface="Arial" pitchFamily="34" charset="-120"/>
              </a:rPr>
              <a:t>Can I see a log of every tool call and approval?</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29844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29844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START HERE</a:t>
            </a:r>
            <a:endParaRPr lang="en-US" sz="1100" dirty="0"/>
          </a:p>
        </p:txBody>
      </p:sp>
      <p:sp>
        <p:nvSpPr>
          <p:cNvPr id="4" name="Text 2"/>
          <p:cNvSpPr txBox="1"/>
          <p:nvPr/>
        </p:nvSpPr>
        <p:spPr>
          <a:xfrm>
            <a:off x="457200" y="841248"/>
            <a:ext cx="11155680" cy="822960"/>
          </a:xfrm>
          <a:prstGeom prst="rect">
            <a:avLst/>
          </a:prstGeom>
          <a:noFill/>
          <a:ln/>
        </p:spPr>
        <p:txBody>
          <a:bodyPr wrap="square" lIns="0" tIns="0" rIns="0" bIns="0" rtlCol="0" anchor="ctr"/>
          <a:lstStyle/>
          <a:p>
            <a:pPr marL="0" indent="0">
              <a:buNone/>
            </a:pPr>
            <a:r>
              <a:rPr lang="en-US" sz="3200" b="1" dirty="0">
                <a:solidFill>
                  <a:srgbClr val="2D2926"/>
                </a:solidFill>
                <a:latin typeface="Arial" pitchFamily="34" charset="0"/>
                <a:ea typeface="Arial" pitchFamily="34" charset="-122"/>
                <a:cs typeface="Arial" pitchFamily="34" charset="-120"/>
              </a:rPr>
              <a:t>Early autonomous agents: watch, flag, never fix</a:t>
            </a:r>
            <a:endParaRPr lang="en-US" sz="3200" dirty="0"/>
          </a:p>
        </p:txBody>
      </p:sp>
      <p:sp>
        <p:nvSpPr>
          <p:cNvPr id="5" name="Text 3"/>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6" name="Text 4"/>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23</a:t>
            </a:r>
            <a:endParaRPr lang="en-US" sz="900" dirty="0"/>
          </a:p>
        </p:txBody>
      </p:sp>
      <p:sp>
        <p:nvSpPr>
          <p:cNvPr id="7" name="Shape 5"/>
          <p:cNvSpPr/>
          <p:nvPr/>
        </p:nvSpPr>
        <p:spPr>
          <a:xfrm>
            <a:off x="457200" y="1783080"/>
            <a:ext cx="2651760" cy="1920240"/>
          </a:xfrm>
          <a:prstGeom prst="roundRect">
            <a:avLst>
              <a:gd name="adj" fmla="val 5714"/>
            </a:avLst>
          </a:prstGeom>
          <a:solidFill>
            <a:srgbClr val="E4DED8"/>
          </a:solidFill>
          <a:ln w="12700">
            <a:solidFill>
              <a:srgbClr val="E4DED8"/>
            </a:solidFill>
            <a:prstDash val="solid"/>
          </a:ln>
        </p:spPr>
        <p:txBody>
          <a:bodyPr/>
          <a:lstStyle/>
          <a:p>
            <a:endParaRPr lang="en-US"/>
          </a:p>
        </p:txBody>
      </p:sp>
      <p:sp>
        <p:nvSpPr>
          <p:cNvPr id="8" name="Shape 6"/>
          <p:cNvSpPr/>
          <p:nvPr/>
        </p:nvSpPr>
        <p:spPr>
          <a:xfrm>
            <a:off x="658368" y="1984248"/>
            <a:ext cx="1380744" cy="256032"/>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9" name="Text 7"/>
          <p:cNvSpPr txBox="1"/>
          <p:nvPr/>
        </p:nvSpPr>
        <p:spPr>
          <a:xfrm>
            <a:off x="658368" y="1984248"/>
            <a:ext cx="1380744" cy="256032"/>
          </a:xfrm>
          <a:prstGeom prst="rect">
            <a:avLst/>
          </a:prstGeom>
          <a:noFill/>
          <a:ln/>
        </p:spPr>
        <p:txBody>
          <a:bodyPr wrap="square" lIns="0" tIns="0" rIns="0" bIns="0" rtlCol="0" anchor="ctr"/>
          <a:lstStyle/>
          <a:p>
            <a:pPr marL="0" indent="0" algn="ctr">
              <a:buNone/>
            </a:pPr>
            <a:r>
              <a:rPr lang="en-US" sz="900" b="1" kern="0" spc="100" dirty="0">
                <a:solidFill>
                  <a:srgbClr val="2D2926"/>
                </a:solidFill>
                <a:latin typeface="Arial" pitchFamily="34" charset="0"/>
                <a:ea typeface="Arial" pitchFamily="34" charset="-122"/>
                <a:cs typeface="Arial" pitchFamily="34" charset="-120"/>
              </a:rPr>
              <a:t>ON NEW CONTACT</a:t>
            </a:r>
            <a:endParaRPr lang="en-US" sz="900" dirty="0"/>
          </a:p>
        </p:txBody>
      </p:sp>
      <p:sp>
        <p:nvSpPr>
          <p:cNvPr id="10" name="Text 8"/>
          <p:cNvSpPr txBox="1"/>
          <p:nvPr/>
        </p:nvSpPr>
        <p:spPr>
          <a:xfrm>
            <a:off x="658368" y="2350008"/>
            <a:ext cx="2249424" cy="5486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Duplicate detection</a:t>
            </a:r>
            <a:endParaRPr lang="en-US" sz="1400" dirty="0"/>
          </a:p>
        </p:txBody>
      </p:sp>
      <p:sp>
        <p:nvSpPr>
          <p:cNvPr id="11" name="Text 9"/>
          <p:cNvSpPr txBox="1"/>
          <p:nvPr/>
        </p:nvSpPr>
        <p:spPr>
          <a:xfrm>
            <a:off x="658368" y="2926080"/>
            <a:ext cx="2249424" cy="73152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Flags a likely duplicate of an existing record. Never merges.</a:t>
            </a:r>
            <a:endParaRPr lang="en-US" sz="1150" dirty="0"/>
          </a:p>
        </p:txBody>
      </p:sp>
      <p:sp>
        <p:nvSpPr>
          <p:cNvPr id="12" name="Shape 10"/>
          <p:cNvSpPr/>
          <p:nvPr/>
        </p:nvSpPr>
        <p:spPr>
          <a:xfrm>
            <a:off x="3322015" y="1783080"/>
            <a:ext cx="2651760" cy="1920240"/>
          </a:xfrm>
          <a:prstGeom prst="roundRect">
            <a:avLst>
              <a:gd name="adj" fmla="val 5714"/>
            </a:avLst>
          </a:prstGeom>
          <a:solidFill>
            <a:srgbClr val="E4DED8"/>
          </a:solidFill>
          <a:ln w="12700">
            <a:solidFill>
              <a:srgbClr val="E4DED8"/>
            </a:solidFill>
            <a:prstDash val="solid"/>
          </a:ln>
        </p:spPr>
        <p:txBody>
          <a:bodyPr/>
          <a:lstStyle/>
          <a:p>
            <a:endParaRPr lang="en-US"/>
          </a:p>
        </p:txBody>
      </p:sp>
      <p:sp>
        <p:nvSpPr>
          <p:cNvPr id="13" name="Shape 11"/>
          <p:cNvSpPr/>
          <p:nvPr/>
        </p:nvSpPr>
        <p:spPr>
          <a:xfrm>
            <a:off x="3523183" y="1984248"/>
            <a:ext cx="1458468" cy="256032"/>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14" name="Text 12"/>
          <p:cNvSpPr txBox="1"/>
          <p:nvPr/>
        </p:nvSpPr>
        <p:spPr>
          <a:xfrm>
            <a:off x="3523183" y="1984248"/>
            <a:ext cx="1458468" cy="256032"/>
          </a:xfrm>
          <a:prstGeom prst="rect">
            <a:avLst/>
          </a:prstGeom>
          <a:noFill/>
          <a:ln/>
        </p:spPr>
        <p:txBody>
          <a:bodyPr wrap="square" lIns="0" tIns="0" rIns="0" bIns="0" rtlCol="0" anchor="ctr"/>
          <a:lstStyle/>
          <a:p>
            <a:pPr marL="0" indent="0" algn="ctr">
              <a:buNone/>
            </a:pPr>
            <a:r>
              <a:rPr lang="en-US" sz="900" b="1" kern="0" spc="100" dirty="0">
                <a:solidFill>
                  <a:srgbClr val="2D2926"/>
                </a:solidFill>
                <a:latin typeface="Arial" pitchFamily="34" charset="0"/>
                <a:ea typeface="Arial" pitchFamily="34" charset="-122"/>
                <a:cs typeface="Arial" pitchFamily="34" charset="-120"/>
              </a:rPr>
              <a:t>ON CONTACT SAVE</a:t>
            </a:r>
            <a:endParaRPr lang="en-US" sz="900" dirty="0"/>
          </a:p>
        </p:txBody>
      </p:sp>
      <p:sp>
        <p:nvSpPr>
          <p:cNvPr id="15" name="Text 13"/>
          <p:cNvSpPr txBox="1"/>
          <p:nvPr/>
        </p:nvSpPr>
        <p:spPr>
          <a:xfrm>
            <a:off x="3523183" y="2350008"/>
            <a:ext cx="2249424" cy="5486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Contact record review</a:t>
            </a:r>
            <a:endParaRPr lang="en-US" sz="1400" dirty="0"/>
          </a:p>
        </p:txBody>
      </p:sp>
      <p:sp>
        <p:nvSpPr>
          <p:cNvPr id="16" name="Text 14"/>
          <p:cNvSpPr txBox="1"/>
          <p:nvPr/>
        </p:nvSpPr>
        <p:spPr>
          <a:xfrm>
            <a:off x="3523183" y="2926080"/>
            <a:ext cx="2249424" cy="73152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Checks completeness, email format and mobile number format.</a:t>
            </a:r>
            <a:endParaRPr lang="en-US" sz="1150" dirty="0"/>
          </a:p>
        </p:txBody>
      </p:sp>
      <p:sp>
        <p:nvSpPr>
          <p:cNvPr id="17" name="Shape 15"/>
          <p:cNvSpPr/>
          <p:nvPr/>
        </p:nvSpPr>
        <p:spPr>
          <a:xfrm>
            <a:off x="6186830" y="1783080"/>
            <a:ext cx="2651760" cy="1920240"/>
          </a:xfrm>
          <a:prstGeom prst="roundRect">
            <a:avLst>
              <a:gd name="adj" fmla="val 5714"/>
            </a:avLst>
          </a:prstGeom>
          <a:solidFill>
            <a:srgbClr val="E4DED8"/>
          </a:solidFill>
          <a:ln w="12700">
            <a:solidFill>
              <a:srgbClr val="E4DED8"/>
            </a:solidFill>
            <a:prstDash val="solid"/>
          </a:ln>
        </p:spPr>
        <p:txBody>
          <a:bodyPr/>
          <a:lstStyle/>
          <a:p>
            <a:endParaRPr lang="en-US"/>
          </a:p>
        </p:txBody>
      </p:sp>
      <p:sp>
        <p:nvSpPr>
          <p:cNvPr id="18" name="Shape 16"/>
          <p:cNvSpPr/>
          <p:nvPr/>
        </p:nvSpPr>
        <p:spPr>
          <a:xfrm>
            <a:off x="6387998" y="1984248"/>
            <a:ext cx="1380744" cy="256032"/>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19" name="Text 17"/>
          <p:cNvSpPr txBox="1"/>
          <p:nvPr/>
        </p:nvSpPr>
        <p:spPr>
          <a:xfrm>
            <a:off x="6387998" y="1984248"/>
            <a:ext cx="1380744" cy="256032"/>
          </a:xfrm>
          <a:prstGeom prst="rect">
            <a:avLst/>
          </a:prstGeom>
          <a:noFill/>
          <a:ln/>
        </p:spPr>
        <p:txBody>
          <a:bodyPr wrap="square" lIns="0" tIns="0" rIns="0" bIns="0" rtlCol="0" anchor="ctr"/>
          <a:lstStyle/>
          <a:p>
            <a:pPr marL="0" indent="0" algn="ctr">
              <a:buNone/>
            </a:pPr>
            <a:r>
              <a:rPr lang="en-US" sz="900" b="1" kern="0" spc="100" dirty="0">
                <a:solidFill>
                  <a:srgbClr val="2D2926"/>
                </a:solidFill>
                <a:latin typeface="Arial" pitchFamily="34" charset="0"/>
                <a:ea typeface="Arial" pitchFamily="34" charset="-122"/>
                <a:cs typeface="Arial" pitchFamily="34" charset="-120"/>
              </a:rPr>
              <a:t>ON NEW CONTACT</a:t>
            </a:r>
            <a:endParaRPr lang="en-US" sz="900" dirty="0"/>
          </a:p>
        </p:txBody>
      </p:sp>
      <p:sp>
        <p:nvSpPr>
          <p:cNvPr id="20" name="Text 18"/>
          <p:cNvSpPr txBox="1"/>
          <p:nvPr/>
        </p:nvSpPr>
        <p:spPr>
          <a:xfrm>
            <a:off x="6387998" y="2350008"/>
            <a:ext cx="2249424" cy="5486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Household check</a:t>
            </a:r>
            <a:endParaRPr lang="en-US" sz="1400" dirty="0"/>
          </a:p>
        </p:txBody>
      </p:sp>
      <p:sp>
        <p:nvSpPr>
          <p:cNvPr id="21" name="Text 19"/>
          <p:cNvSpPr txBox="1"/>
          <p:nvPr/>
        </p:nvSpPr>
        <p:spPr>
          <a:xfrm>
            <a:off x="6387998" y="2926080"/>
            <a:ext cx="2249424" cy="73152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Flags contacts with no household or an address that doesn’t match it.</a:t>
            </a:r>
            <a:endParaRPr lang="en-US" sz="1150" dirty="0"/>
          </a:p>
        </p:txBody>
      </p:sp>
      <p:sp>
        <p:nvSpPr>
          <p:cNvPr id="22" name="Shape 20"/>
          <p:cNvSpPr/>
          <p:nvPr/>
        </p:nvSpPr>
        <p:spPr>
          <a:xfrm>
            <a:off x="9051646" y="1783080"/>
            <a:ext cx="2651760" cy="1920240"/>
          </a:xfrm>
          <a:prstGeom prst="roundRect">
            <a:avLst>
              <a:gd name="adj" fmla="val 5714"/>
            </a:avLst>
          </a:prstGeom>
          <a:solidFill>
            <a:srgbClr val="E4DED8"/>
          </a:solidFill>
          <a:ln w="12700">
            <a:solidFill>
              <a:srgbClr val="E4DED8"/>
            </a:solidFill>
            <a:prstDash val="solid"/>
          </a:ln>
        </p:spPr>
        <p:txBody>
          <a:bodyPr/>
          <a:lstStyle/>
          <a:p>
            <a:endParaRPr lang="en-US"/>
          </a:p>
        </p:txBody>
      </p:sp>
      <p:sp>
        <p:nvSpPr>
          <p:cNvPr id="23" name="Shape 21"/>
          <p:cNvSpPr/>
          <p:nvPr/>
        </p:nvSpPr>
        <p:spPr>
          <a:xfrm>
            <a:off x="9252814" y="1984248"/>
            <a:ext cx="1225296" cy="256032"/>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24" name="Text 22"/>
          <p:cNvSpPr txBox="1"/>
          <p:nvPr/>
        </p:nvSpPr>
        <p:spPr>
          <a:xfrm>
            <a:off x="9252814" y="1984248"/>
            <a:ext cx="1225296" cy="256032"/>
          </a:xfrm>
          <a:prstGeom prst="rect">
            <a:avLst/>
          </a:prstGeom>
          <a:noFill/>
          <a:ln/>
        </p:spPr>
        <p:txBody>
          <a:bodyPr wrap="square" lIns="0" tIns="0" rIns="0" bIns="0" rtlCol="0" anchor="ctr"/>
          <a:lstStyle/>
          <a:p>
            <a:pPr marL="0" indent="0" algn="ctr">
              <a:buNone/>
            </a:pPr>
            <a:r>
              <a:rPr lang="en-US" sz="900" b="1" kern="0" spc="100" dirty="0">
                <a:solidFill>
                  <a:srgbClr val="2D2926"/>
                </a:solidFill>
                <a:latin typeface="Arial" pitchFamily="34" charset="0"/>
                <a:ea typeface="Arial" pitchFamily="34" charset="-122"/>
                <a:cs typeface="Arial" pitchFamily="34" charset="-120"/>
              </a:rPr>
              <a:t>ON NEW EVENT</a:t>
            </a:r>
            <a:endParaRPr lang="en-US" sz="900" dirty="0"/>
          </a:p>
        </p:txBody>
      </p:sp>
      <p:sp>
        <p:nvSpPr>
          <p:cNvPr id="25" name="Text 23"/>
          <p:cNvSpPr txBox="1"/>
          <p:nvPr/>
        </p:nvSpPr>
        <p:spPr>
          <a:xfrm>
            <a:off x="9252814" y="2350008"/>
            <a:ext cx="2249424" cy="5486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Room and resource conflicts</a:t>
            </a:r>
            <a:endParaRPr lang="en-US" sz="1400" dirty="0"/>
          </a:p>
        </p:txBody>
      </p:sp>
      <p:sp>
        <p:nvSpPr>
          <p:cNvPr id="26" name="Text 24"/>
          <p:cNvSpPr txBox="1"/>
          <p:nvPr/>
        </p:nvSpPr>
        <p:spPr>
          <a:xfrm>
            <a:off x="9252814" y="2926080"/>
            <a:ext cx="2249424" cy="73152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Flags double-booked rooms and equipment before the weekend.</a:t>
            </a:r>
            <a:endParaRPr lang="en-US" sz="1150" dirty="0"/>
          </a:p>
        </p:txBody>
      </p:sp>
      <p:sp>
        <p:nvSpPr>
          <p:cNvPr id="27" name="Shape 25"/>
          <p:cNvSpPr/>
          <p:nvPr/>
        </p:nvSpPr>
        <p:spPr>
          <a:xfrm>
            <a:off x="457200" y="3904488"/>
            <a:ext cx="2651760" cy="1920240"/>
          </a:xfrm>
          <a:prstGeom prst="roundRect">
            <a:avLst>
              <a:gd name="adj" fmla="val 5714"/>
            </a:avLst>
          </a:prstGeom>
          <a:solidFill>
            <a:srgbClr val="E4DED8"/>
          </a:solidFill>
          <a:ln w="12700">
            <a:solidFill>
              <a:srgbClr val="E4DED8"/>
            </a:solidFill>
            <a:prstDash val="solid"/>
          </a:ln>
        </p:spPr>
        <p:txBody>
          <a:bodyPr/>
          <a:lstStyle/>
          <a:p>
            <a:endParaRPr lang="en-US"/>
          </a:p>
        </p:txBody>
      </p:sp>
      <p:sp>
        <p:nvSpPr>
          <p:cNvPr id="28" name="Shape 26"/>
          <p:cNvSpPr/>
          <p:nvPr/>
        </p:nvSpPr>
        <p:spPr>
          <a:xfrm>
            <a:off x="658368" y="4105656"/>
            <a:ext cx="681228" cy="256032"/>
          </a:xfrm>
          <a:prstGeom prst="roundRect">
            <a:avLst>
              <a:gd name="adj" fmla="val 50000"/>
            </a:avLst>
          </a:prstGeom>
          <a:solidFill>
            <a:srgbClr val="2D2926"/>
          </a:solidFill>
          <a:ln w="12700">
            <a:solidFill>
              <a:srgbClr val="2D2926"/>
            </a:solidFill>
            <a:prstDash val="solid"/>
          </a:ln>
        </p:spPr>
        <p:txBody>
          <a:bodyPr/>
          <a:lstStyle/>
          <a:p>
            <a:endParaRPr lang="en-US"/>
          </a:p>
        </p:txBody>
      </p:sp>
      <p:sp>
        <p:nvSpPr>
          <p:cNvPr id="29" name="Text 27"/>
          <p:cNvSpPr txBox="1"/>
          <p:nvPr/>
        </p:nvSpPr>
        <p:spPr>
          <a:xfrm>
            <a:off x="658368" y="4105656"/>
            <a:ext cx="681228" cy="256032"/>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Arial" pitchFamily="34" charset="0"/>
                <a:ea typeface="Arial" pitchFamily="34" charset="-122"/>
                <a:cs typeface="Arial" pitchFamily="34" charset="-120"/>
              </a:rPr>
              <a:t>DAILY</a:t>
            </a:r>
            <a:endParaRPr lang="en-US" sz="900" dirty="0"/>
          </a:p>
        </p:txBody>
      </p:sp>
      <p:sp>
        <p:nvSpPr>
          <p:cNvPr id="30" name="Text 28"/>
          <p:cNvSpPr txBox="1"/>
          <p:nvPr/>
        </p:nvSpPr>
        <p:spPr>
          <a:xfrm>
            <a:off x="658368" y="4471416"/>
            <a:ext cx="2249424" cy="5486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Guest follow-up watch</a:t>
            </a:r>
            <a:endParaRPr lang="en-US" sz="1400" dirty="0"/>
          </a:p>
        </p:txBody>
      </p:sp>
      <p:sp>
        <p:nvSpPr>
          <p:cNvPr id="31" name="Text 29"/>
          <p:cNvSpPr txBox="1"/>
          <p:nvPr/>
        </p:nvSpPr>
        <p:spPr>
          <a:xfrm>
            <a:off x="658368" y="5047488"/>
            <a:ext cx="2249424" cy="73152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Flags first-time guests with no follow-up logged after three days.</a:t>
            </a:r>
            <a:endParaRPr lang="en-US" sz="1150" dirty="0"/>
          </a:p>
        </p:txBody>
      </p:sp>
      <p:sp>
        <p:nvSpPr>
          <p:cNvPr id="32" name="Shape 30"/>
          <p:cNvSpPr/>
          <p:nvPr/>
        </p:nvSpPr>
        <p:spPr>
          <a:xfrm>
            <a:off x="3322015" y="3904488"/>
            <a:ext cx="2651760" cy="1920240"/>
          </a:xfrm>
          <a:prstGeom prst="roundRect">
            <a:avLst>
              <a:gd name="adj" fmla="val 5714"/>
            </a:avLst>
          </a:prstGeom>
          <a:solidFill>
            <a:srgbClr val="E4DED8"/>
          </a:solidFill>
          <a:ln w="12700">
            <a:solidFill>
              <a:srgbClr val="E4DED8"/>
            </a:solidFill>
            <a:prstDash val="solid"/>
          </a:ln>
        </p:spPr>
        <p:txBody>
          <a:bodyPr/>
          <a:lstStyle/>
          <a:p>
            <a:endParaRPr lang="en-US"/>
          </a:p>
        </p:txBody>
      </p:sp>
      <p:sp>
        <p:nvSpPr>
          <p:cNvPr id="33" name="Shape 31"/>
          <p:cNvSpPr/>
          <p:nvPr/>
        </p:nvSpPr>
        <p:spPr>
          <a:xfrm>
            <a:off x="3523183" y="4105656"/>
            <a:ext cx="758952" cy="256032"/>
          </a:xfrm>
          <a:prstGeom prst="roundRect">
            <a:avLst>
              <a:gd name="adj" fmla="val 50000"/>
            </a:avLst>
          </a:prstGeom>
          <a:solidFill>
            <a:srgbClr val="2D2926"/>
          </a:solidFill>
          <a:ln w="12700">
            <a:solidFill>
              <a:srgbClr val="2D2926"/>
            </a:solidFill>
            <a:prstDash val="solid"/>
          </a:ln>
        </p:spPr>
        <p:txBody>
          <a:bodyPr/>
          <a:lstStyle/>
          <a:p>
            <a:endParaRPr lang="en-US"/>
          </a:p>
        </p:txBody>
      </p:sp>
      <p:sp>
        <p:nvSpPr>
          <p:cNvPr id="34" name="Text 32"/>
          <p:cNvSpPr txBox="1"/>
          <p:nvPr/>
        </p:nvSpPr>
        <p:spPr>
          <a:xfrm>
            <a:off x="3523183" y="4105656"/>
            <a:ext cx="758952" cy="256032"/>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Arial" pitchFamily="34" charset="0"/>
                <a:ea typeface="Arial" pitchFamily="34" charset="-122"/>
                <a:cs typeface="Arial" pitchFamily="34" charset="-120"/>
              </a:rPr>
              <a:t>WEEKLY</a:t>
            </a:r>
            <a:endParaRPr lang="en-US" sz="900" dirty="0"/>
          </a:p>
        </p:txBody>
      </p:sp>
      <p:sp>
        <p:nvSpPr>
          <p:cNvPr id="35" name="Text 33"/>
          <p:cNvSpPr txBox="1"/>
          <p:nvPr/>
        </p:nvSpPr>
        <p:spPr>
          <a:xfrm>
            <a:off x="3523183" y="4471416"/>
            <a:ext cx="2249424" cy="5486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Lapsed participant sweep</a:t>
            </a:r>
            <a:endParaRPr lang="en-US" sz="1400" dirty="0"/>
          </a:p>
        </p:txBody>
      </p:sp>
      <p:sp>
        <p:nvSpPr>
          <p:cNvPr id="36" name="Text 34"/>
          <p:cNvSpPr txBox="1"/>
          <p:nvPr/>
        </p:nvSpPr>
        <p:spPr>
          <a:xfrm>
            <a:off x="3523183" y="5047488"/>
            <a:ext cx="2249424" cy="73152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Flags group and team members with no attendance in 60 days.</a:t>
            </a:r>
            <a:endParaRPr lang="en-US" sz="1150" dirty="0"/>
          </a:p>
        </p:txBody>
      </p:sp>
      <p:sp>
        <p:nvSpPr>
          <p:cNvPr id="37" name="Shape 35"/>
          <p:cNvSpPr/>
          <p:nvPr/>
        </p:nvSpPr>
        <p:spPr>
          <a:xfrm>
            <a:off x="6186830" y="3904488"/>
            <a:ext cx="2651760" cy="1920240"/>
          </a:xfrm>
          <a:prstGeom prst="roundRect">
            <a:avLst>
              <a:gd name="adj" fmla="val 5714"/>
            </a:avLst>
          </a:prstGeom>
          <a:solidFill>
            <a:srgbClr val="E4DED8"/>
          </a:solidFill>
          <a:ln w="12700">
            <a:solidFill>
              <a:srgbClr val="E4DED8"/>
            </a:solidFill>
            <a:prstDash val="solid"/>
          </a:ln>
        </p:spPr>
        <p:txBody>
          <a:bodyPr/>
          <a:lstStyle/>
          <a:p>
            <a:endParaRPr lang="en-US"/>
          </a:p>
        </p:txBody>
      </p:sp>
      <p:sp>
        <p:nvSpPr>
          <p:cNvPr id="38" name="Shape 36"/>
          <p:cNvSpPr/>
          <p:nvPr/>
        </p:nvSpPr>
        <p:spPr>
          <a:xfrm>
            <a:off x="6387998" y="4105656"/>
            <a:ext cx="758952" cy="256032"/>
          </a:xfrm>
          <a:prstGeom prst="roundRect">
            <a:avLst>
              <a:gd name="adj" fmla="val 50000"/>
            </a:avLst>
          </a:prstGeom>
          <a:solidFill>
            <a:srgbClr val="2D2926"/>
          </a:solidFill>
          <a:ln w="12700">
            <a:solidFill>
              <a:srgbClr val="2D2926"/>
            </a:solidFill>
            <a:prstDash val="solid"/>
          </a:ln>
        </p:spPr>
        <p:txBody>
          <a:bodyPr/>
          <a:lstStyle/>
          <a:p>
            <a:endParaRPr lang="en-US"/>
          </a:p>
        </p:txBody>
      </p:sp>
      <p:sp>
        <p:nvSpPr>
          <p:cNvPr id="39" name="Text 37"/>
          <p:cNvSpPr txBox="1"/>
          <p:nvPr/>
        </p:nvSpPr>
        <p:spPr>
          <a:xfrm>
            <a:off x="6387998" y="4105656"/>
            <a:ext cx="758952" cy="256032"/>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Arial" pitchFamily="34" charset="0"/>
                <a:ea typeface="Arial" pitchFamily="34" charset="-122"/>
                <a:cs typeface="Arial" pitchFamily="34" charset="-120"/>
              </a:rPr>
              <a:t>WEEKLY</a:t>
            </a:r>
            <a:endParaRPr lang="en-US" sz="900" dirty="0"/>
          </a:p>
        </p:txBody>
      </p:sp>
      <p:sp>
        <p:nvSpPr>
          <p:cNvPr id="40" name="Text 38"/>
          <p:cNvSpPr txBox="1"/>
          <p:nvPr/>
        </p:nvSpPr>
        <p:spPr>
          <a:xfrm>
            <a:off x="6387998" y="4471416"/>
            <a:ext cx="2249424" cy="5486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Volunteer clearance expiry</a:t>
            </a:r>
            <a:endParaRPr lang="en-US" sz="1400" dirty="0"/>
          </a:p>
        </p:txBody>
      </p:sp>
      <p:sp>
        <p:nvSpPr>
          <p:cNvPr id="41" name="Text 39"/>
          <p:cNvSpPr txBox="1"/>
          <p:nvPr/>
        </p:nvSpPr>
        <p:spPr>
          <a:xfrm>
            <a:off x="6387998" y="5047488"/>
            <a:ext cx="2249424" cy="73152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Flags kids’ ministry volunteers whose background check expires in 30 days.</a:t>
            </a:r>
            <a:endParaRPr lang="en-US" sz="1150" dirty="0"/>
          </a:p>
        </p:txBody>
      </p:sp>
      <p:sp>
        <p:nvSpPr>
          <p:cNvPr id="42" name="Shape 40"/>
          <p:cNvSpPr/>
          <p:nvPr/>
        </p:nvSpPr>
        <p:spPr>
          <a:xfrm>
            <a:off x="9051646" y="3904488"/>
            <a:ext cx="2651760" cy="1920240"/>
          </a:xfrm>
          <a:prstGeom prst="roundRect">
            <a:avLst>
              <a:gd name="adj" fmla="val 5714"/>
            </a:avLst>
          </a:prstGeom>
          <a:solidFill>
            <a:srgbClr val="E4DED8"/>
          </a:solidFill>
          <a:ln w="12700">
            <a:solidFill>
              <a:srgbClr val="E4DED8"/>
            </a:solidFill>
            <a:prstDash val="solid"/>
          </a:ln>
        </p:spPr>
        <p:txBody>
          <a:bodyPr/>
          <a:lstStyle/>
          <a:p>
            <a:endParaRPr lang="en-US"/>
          </a:p>
        </p:txBody>
      </p:sp>
      <p:sp>
        <p:nvSpPr>
          <p:cNvPr id="43" name="Shape 41"/>
          <p:cNvSpPr/>
          <p:nvPr/>
        </p:nvSpPr>
        <p:spPr>
          <a:xfrm>
            <a:off x="9252814" y="4105656"/>
            <a:ext cx="758952" cy="256032"/>
          </a:xfrm>
          <a:prstGeom prst="roundRect">
            <a:avLst>
              <a:gd name="adj" fmla="val 50000"/>
            </a:avLst>
          </a:prstGeom>
          <a:solidFill>
            <a:srgbClr val="2D2926"/>
          </a:solidFill>
          <a:ln w="12700">
            <a:solidFill>
              <a:srgbClr val="2D2926"/>
            </a:solidFill>
            <a:prstDash val="solid"/>
          </a:ln>
        </p:spPr>
        <p:txBody>
          <a:bodyPr/>
          <a:lstStyle/>
          <a:p>
            <a:endParaRPr lang="en-US"/>
          </a:p>
        </p:txBody>
      </p:sp>
      <p:sp>
        <p:nvSpPr>
          <p:cNvPr id="44" name="Text 42"/>
          <p:cNvSpPr txBox="1"/>
          <p:nvPr/>
        </p:nvSpPr>
        <p:spPr>
          <a:xfrm>
            <a:off x="9252814" y="4105656"/>
            <a:ext cx="758952" cy="256032"/>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Arial" pitchFamily="34" charset="0"/>
                <a:ea typeface="Arial" pitchFamily="34" charset="-122"/>
                <a:cs typeface="Arial" pitchFamily="34" charset="-120"/>
              </a:rPr>
              <a:t>WEEKLY</a:t>
            </a:r>
            <a:endParaRPr lang="en-US" sz="900" dirty="0"/>
          </a:p>
        </p:txBody>
      </p:sp>
      <p:sp>
        <p:nvSpPr>
          <p:cNvPr id="45" name="Text 43"/>
          <p:cNvSpPr txBox="1"/>
          <p:nvPr/>
        </p:nvSpPr>
        <p:spPr>
          <a:xfrm>
            <a:off x="9252814" y="4471416"/>
            <a:ext cx="2249424" cy="5486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Bounced email cleanup</a:t>
            </a:r>
            <a:endParaRPr lang="en-US" sz="1400" dirty="0"/>
          </a:p>
        </p:txBody>
      </p:sp>
      <p:sp>
        <p:nvSpPr>
          <p:cNvPr id="46" name="Text 44"/>
          <p:cNvSpPr txBox="1"/>
          <p:nvPr/>
        </p:nvSpPr>
        <p:spPr>
          <a:xfrm>
            <a:off x="9252814" y="5047488"/>
            <a:ext cx="2249424" cy="731520"/>
          </a:xfrm>
          <a:prstGeom prst="rect">
            <a:avLst/>
          </a:prstGeom>
          <a:noFill/>
          <a:ln/>
        </p:spPr>
        <p:txBody>
          <a:bodyPr wrap="square" lIns="0" tIns="0" rIns="0" bIns="0" rtlCol="0" anchor="t"/>
          <a:lstStyle/>
          <a:p>
            <a:pPr marL="0" indent="0">
              <a:buNone/>
            </a:pPr>
            <a:r>
              <a:rPr lang="en-US" sz="1150" dirty="0">
                <a:solidFill>
                  <a:srgbClr val="5A544F"/>
                </a:solidFill>
                <a:latin typeface="Arial" pitchFamily="34" charset="0"/>
                <a:ea typeface="Arial" pitchFamily="34" charset="-122"/>
                <a:cs typeface="Arial" pitchFamily="34" charset="-120"/>
              </a:rPr>
              <a:t>Flags contacts whose email bounced so staff can confirm a new one.</a:t>
            </a:r>
            <a:endParaRPr lang="en-US" sz="1150" dirty="0"/>
          </a:p>
        </p:txBody>
      </p:sp>
      <p:sp>
        <p:nvSpPr>
          <p:cNvPr id="47" name="Text 45"/>
          <p:cNvSpPr txBox="1"/>
          <p:nvPr/>
        </p:nvSpPr>
        <p:spPr>
          <a:xfrm>
            <a:off x="457200" y="5989320"/>
            <a:ext cx="11247120" cy="365760"/>
          </a:xfrm>
          <a:prstGeom prst="rect">
            <a:avLst/>
          </a:prstGeom>
          <a:noFill/>
          <a:ln/>
        </p:spPr>
        <p:txBody>
          <a:bodyPr wrap="square" lIns="0" tIns="0" rIns="0" bIns="0" rtlCol="0" anchor="t"/>
          <a:lstStyle/>
          <a:p>
            <a:pPr marL="0" indent="0">
              <a:buNone/>
            </a:pPr>
            <a:r>
              <a:rPr lang="en-US" sz="1250" b="1" dirty="0">
                <a:solidFill>
                  <a:srgbClr val="2D2926"/>
                </a:solidFill>
                <a:latin typeface="Arial" pitchFamily="34" charset="0"/>
                <a:ea typeface="Arial" pitchFamily="34" charset="-122"/>
                <a:cs typeface="Arial" pitchFamily="34" charset="-120"/>
              </a:rPr>
              <a:t>Read and flag only. </a:t>
            </a:r>
            <a:r>
              <a:rPr lang="en-US" sz="1250" dirty="0">
                <a:solidFill>
                  <a:srgbClr val="5A544F"/>
                </a:solidFill>
                <a:latin typeface="Arial" pitchFamily="34" charset="0"/>
                <a:ea typeface="Arial" pitchFamily="34" charset="-122"/>
                <a:cs typeface="Arial" pitchFamily="34" charset="-120"/>
              </a:rPr>
              <a:t>Each one writes a task or a report for a person, never a change to the record. Orange: triggered by an event. Charcoal: on a schedule.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3"/>
        </a:solidFill>
        <a:effectLst/>
      </p:bgPr>
    </p:bg>
    <p:spTree>
      <p:nvGrpSpPr>
        <p:cNvPr id="1" name=""/>
        <p:cNvGrpSpPr/>
        <p:nvPr/>
      </p:nvGrpSpPr>
      <p:grpSpPr>
        <a:xfrm>
          <a:off x="0" y="0"/>
          <a:ext cx="0" cy="0"/>
          <a:chOff x="0" y="0"/>
          <a:chExt cx="0" cy="0"/>
        </a:xfrm>
      </p:grpSpPr>
      <p:sp>
        <p:nvSpPr>
          <p:cNvPr id="2" name="Shape 0"/>
          <p:cNvSpPr/>
          <p:nvPr/>
        </p:nvSpPr>
        <p:spPr>
          <a:xfrm>
            <a:off x="457200" y="411480"/>
            <a:ext cx="1207008" cy="310896"/>
          </a:xfrm>
          <a:prstGeom prst="roundRect">
            <a:avLst>
              <a:gd name="adj" fmla="val 50000"/>
            </a:avLst>
          </a:prstGeom>
          <a:solidFill>
            <a:srgbClr val="F6921E"/>
          </a:solidFill>
          <a:ln w="12700">
            <a:solidFill>
              <a:srgbClr val="F6921E"/>
            </a:solidFill>
            <a:prstDash val="solid"/>
          </a:ln>
        </p:spPr>
        <p:txBody>
          <a:bodyPr/>
          <a:lstStyle/>
          <a:p>
            <a:endParaRPr lang="en-US"/>
          </a:p>
        </p:txBody>
      </p:sp>
      <p:sp>
        <p:nvSpPr>
          <p:cNvPr id="3" name="Text 1"/>
          <p:cNvSpPr txBox="1"/>
          <p:nvPr/>
        </p:nvSpPr>
        <p:spPr>
          <a:xfrm>
            <a:off x="457200" y="411480"/>
            <a:ext cx="1207008" cy="310896"/>
          </a:xfrm>
          <a:prstGeom prst="rect">
            <a:avLst/>
          </a:prstGeom>
          <a:noFill/>
          <a:ln/>
        </p:spPr>
        <p:txBody>
          <a:bodyPr wrap="square" lIns="0" tIns="0" rIns="0" bIns="0" rtlCol="0" anchor="ctr"/>
          <a:lstStyle/>
          <a:p>
            <a:pPr marL="0" indent="0" algn="ctr">
              <a:buNone/>
            </a:pPr>
            <a:r>
              <a:rPr lang="en-US" sz="1100" b="1" kern="0" spc="100" dirty="0">
                <a:solidFill>
                  <a:srgbClr val="2D2926"/>
                </a:solidFill>
                <a:latin typeface="Arial" pitchFamily="34" charset="0"/>
                <a:ea typeface="Arial" pitchFamily="34" charset="-122"/>
                <a:cs typeface="Arial" pitchFamily="34" charset="-120"/>
              </a:rPr>
              <a:t>QUESTIONS</a:t>
            </a:r>
            <a:endParaRPr lang="en-US" sz="1100" dirty="0"/>
          </a:p>
        </p:txBody>
      </p:sp>
      <p:sp>
        <p:nvSpPr>
          <p:cNvPr id="4" name="Text 2"/>
          <p:cNvSpPr txBox="1"/>
          <p:nvPr/>
        </p:nvSpPr>
        <p:spPr>
          <a:xfrm>
            <a:off x="457200" y="6473952"/>
            <a:ext cx="8229600" cy="274320"/>
          </a:xfrm>
          <a:prstGeom prst="rect">
            <a:avLst/>
          </a:prstGeom>
          <a:noFill/>
          <a:ln/>
        </p:spPr>
        <p:txBody>
          <a:bodyPr wrap="square" lIns="0" tIns="0" rIns="0" bIns="0" rtlCol="0" anchor="ctr"/>
          <a:lstStyle/>
          <a:p>
            <a:pPr marL="0" indent="0">
              <a:buNone/>
            </a:pPr>
            <a:r>
              <a:rPr lang="en-US" sz="900" dirty="0">
                <a:solidFill>
                  <a:srgbClr val="5A544F"/>
                </a:solidFill>
                <a:latin typeface="Arial" pitchFamily="34" charset="0"/>
                <a:ea typeface="Arial" pitchFamily="34" charset="-122"/>
                <a:cs typeface="Arial" pitchFamily="34" charset="-120"/>
              </a:rPr>
              <a:t>All About Agents: A Church IT Reality Check   ·   CITN26</a:t>
            </a:r>
            <a:endParaRPr lang="en-US" sz="900" dirty="0"/>
          </a:p>
        </p:txBody>
      </p:sp>
      <p:sp>
        <p:nvSpPr>
          <p:cNvPr id="5" name="Text 3"/>
          <p:cNvSpPr txBox="1"/>
          <p:nvPr/>
        </p:nvSpPr>
        <p:spPr>
          <a:xfrm>
            <a:off x="11274552" y="6473952"/>
            <a:ext cx="457200" cy="274320"/>
          </a:xfrm>
          <a:prstGeom prst="rect">
            <a:avLst/>
          </a:prstGeom>
          <a:noFill/>
          <a:ln/>
        </p:spPr>
        <p:txBody>
          <a:bodyPr wrap="square" lIns="0" tIns="0" rIns="0" bIns="0" rtlCol="0" anchor="ctr"/>
          <a:lstStyle/>
          <a:p>
            <a:pPr marL="0" indent="0" algn="r">
              <a:buNone/>
            </a:pPr>
            <a:r>
              <a:rPr lang="en-US" sz="900" dirty="0">
                <a:solidFill>
                  <a:srgbClr val="5A544F"/>
                </a:solidFill>
                <a:latin typeface="Arial" pitchFamily="34" charset="0"/>
                <a:ea typeface="Arial" pitchFamily="34" charset="-122"/>
                <a:cs typeface="Arial" pitchFamily="34" charset="-120"/>
              </a:rPr>
              <a:t>24</a:t>
            </a:r>
            <a:endParaRPr lang="en-US" sz="900" dirty="0"/>
          </a:p>
        </p:txBody>
      </p:sp>
      <p:pic>
        <p:nvPicPr>
          <p:cNvPr id="6" name="Image 0" descr="img/close.png"/>
          <p:cNvPicPr>
            <a:picLocks noChangeAspect="1"/>
          </p:cNvPicPr>
          <p:nvPr/>
        </p:nvPicPr>
        <p:blipFill>
          <a:blip r:embed="rId3"/>
          <a:stretch>
            <a:fillRect/>
          </a:stretch>
        </p:blipFill>
        <p:spPr>
          <a:xfrm>
            <a:off x="7498080" y="1234440"/>
            <a:ext cx="4206240" cy="4206240"/>
          </a:xfrm>
          <a:prstGeom prst="rect">
            <a:avLst/>
          </a:prstGeom>
        </p:spPr>
      </p:pic>
      <p:sp>
        <p:nvSpPr>
          <p:cNvPr id="7" name="Text 4"/>
          <p:cNvSpPr txBox="1"/>
          <p:nvPr/>
        </p:nvSpPr>
        <p:spPr>
          <a:xfrm>
            <a:off x="457200" y="2011680"/>
            <a:ext cx="6858000" cy="640080"/>
          </a:xfrm>
          <a:prstGeom prst="rect">
            <a:avLst/>
          </a:prstGeom>
          <a:noFill/>
          <a:ln/>
        </p:spPr>
        <p:txBody>
          <a:bodyPr wrap="square" lIns="0" tIns="0" rIns="0" bIns="0" rtlCol="0" anchor="t"/>
          <a:lstStyle/>
          <a:p>
            <a:pPr marL="0" indent="0">
              <a:buNone/>
            </a:pPr>
            <a:r>
              <a:rPr lang="en-US" sz="3200" b="1" dirty="0">
                <a:solidFill>
                  <a:srgbClr val="2D2926"/>
                </a:solidFill>
                <a:latin typeface="Arial" pitchFamily="34" charset="0"/>
                <a:ea typeface="Arial" pitchFamily="34" charset="-122"/>
                <a:cs typeface="Arial" pitchFamily="34" charset="-120"/>
              </a:rPr>
              <a:t>An agent is a model in a loop,</a:t>
            </a:r>
            <a:endParaRPr lang="en-US" sz="3200" dirty="0"/>
          </a:p>
        </p:txBody>
      </p:sp>
      <p:sp>
        <p:nvSpPr>
          <p:cNvPr id="8" name="Text 5"/>
          <p:cNvSpPr txBox="1"/>
          <p:nvPr/>
        </p:nvSpPr>
        <p:spPr>
          <a:xfrm>
            <a:off x="457200" y="2651760"/>
            <a:ext cx="6858000" cy="640080"/>
          </a:xfrm>
          <a:prstGeom prst="rect">
            <a:avLst/>
          </a:prstGeom>
          <a:noFill/>
          <a:ln/>
        </p:spPr>
        <p:txBody>
          <a:bodyPr wrap="square" lIns="0" tIns="0" rIns="0" bIns="0" rtlCol="0" anchor="t"/>
          <a:lstStyle/>
          <a:p>
            <a:pPr marL="0" indent="0">
              <a:buNone/>
            </a:pPr>
            <a:r>
              <a:rPr lang="en-US" sz="3200" b="1" dirty="0">
                <a:solidFill>
                  <a:srgbClr val="2D2926"/>
                </a:solidFill>
                <a:latin typeface="Arial" pitchFamily="34" charset="0"/>
                <a:ea typeface="Arial" pitchFamily="34" charset="-122"/>
                <a:cs typeface="Arial" pitchFamily="34" charset="-120"/>
              </a:rPr>
              <a:t>choosing tools, reading results,</a:t>
            </a:r>
            <a:endParaRPr lang="en-US" sz="3200" dirty="0"/>
          </a:p>
        </p:txBody>
      </p:sp>
      <p:sp>
        <p:nvSpPr>
          <p:cNvPr id="9" name="Text 6"/>
          <p:cNvSpPr txBox="1"/>
          <p:nvPr/>
        </p:nvSpPr>
        <p:spPr>
          <a:xfrm>
            <a:off x="457200" y="3291840"/>
            <a:ext cx="6858000" cy="640080"/>
          </a:xfrm>
          <a:prstGeom prst="rect">
            <a:avLst/>
          </a:prstGeom>
          <a:noFill/>
          <a:ln/>
        </p:spPr>
        <p:txBody>
          <a:bodyPr wrap="square" lIns="0" tIns="0" rIns="0" bIns="0" rtlCol="0" anchor="t"/>
          <a:lstStyle/>
          <a:p>
            <a:pPr marL="0" indent="0">
              <a:buNone/>
            </a:pPr>
            <a:r>
              <a:rPr lang="en-US" sz="3200" b="1" dirty="0">
                <a:solidFill>
                  <a:srgbClr val="DC8F2E"/>
                </a:solidFill>
                <a:latin typeface="Arial" pitchFamily="34" charset="0"/>
                <a:ea typeface="Arial" pitchFamily="34" charset="-122"/>
                <a:cs typeface="Arial" pitchFamily="34" charset="-120"/>
              </a:rPr>
              <a:t>and deciding when to stop.</a:t>
            </a:r>
            <a:endParaRPr lang="en-US" sz="3200" dirty="0"/>
          </a:p>
        </p:txBody>
      </p:sp>
      <p:sp>
        <p:nvSpPr>
          <p:cNvPr id="10" name="Text 7"/>
          <p:cNvSpPr txBox="1"/>
          <p:nvPr/>
        </p:nvSpPr>
        <p:spPr>
          <a:xfrm>
            <a:off x="457200" y="4206240"/>
            <a:ext cx="8229600" cy="457200"/>
          </a:xfrm>
          <a:prstGeom prst="rect">
            <a:avLst/>
          </a:prstGeom>
          <a:noFill/>
          <a:ln/>
        </p:spPr>
        <p:txBody>
          <a:bodyPr wrap="square" lIns="0" tIns="0" rIns="0" bIns="0" rtlCol="0" anchor="t"/>
          <a:lstStyle/>
          <a:p>
            <a:pPr marL="0" indent="0">
              <a:buNone/>
            </a:pPr>
            <a:r>
              <a:rPr lang="en-US" sz="1600" dirty="0">
                <a:solidFill>
                  <a:srgbClr val="5A544F"/>
                </a:solidFill>
                <a:latin typeface="Arial" pitchFamily="34" charset="0"/>
                <a:ea typeface="Arial" pitchFamily="34" charset="-122"/>
                <a:cs typeface="Arial" pitchFamily="34" charset="-120"/>
              </a:rPr>
              <a:t>Now go back to those three claims.</a:t>
            </a:r>
            <a:endParaRPr lang="en-US" sz="1600" dirty="0"/>
          </a:p>
        </p:txBody>
      </p:sp>
      <p:sp>
        <p:nvSpPr>
          <p:cNvPr id="11" name="Text 8"/>
          <p:cNvSpPr txBox="1"/>
          <p:nvPr/>
        </p:nvSpPr>
        <p:spPr>
          <a:xfrm>
            <a:off x="457200" y="5577840"/>
            <a:ext cx="6400800" cy="320040"/>
          </a:xfrm>
          <a:prstGeom prst="rect">
            <a:avLst/>
          </a:prstGeom>
          <a:noFill/>
          <a:ln/>
        </p:spPr>
        <p:txBody>
          <a:bodyPr wrap="square" lIns="0" tIns="0" rIns="0" bIns="0" rtlCol="0" anchor="t"/>
          <a:lstStyle/>
          <a:p>
            <a:pPr marL="0" indent="0">
              <a:buNone/>
            </a:pPr>
            <a:r>
              <a:rPr lang="en-US" sz="1400" b="1" dirty="0">
                <a:solidFill>
                  <a:srgbClr val="2D2926"/>
                </a:solidFill>
                <a:latin typeface="Arial" pitchFamily="34" charset="0"/>
                <a:ea typeface="Arial" pitchFamily="34" charset="-122"/>
                <a:cs typeface="Arial" pitchFamily="34" charset="-120"/>
              </a:rPr>
              <a:t>Chris Kehayias  ·  ACS Technologies</a:t>
            </a:r>
            <a:endParaRPr lang="en-US" sz="1400" dirty="0"/>
          </a:p>
        </p:txBody>
      </p:sp>
      <p:sp>
        <p:nvSpPr>
          <p:cNvPr id="12" name="Text 9"/>
          <p:cNvSpPr txBox="1"/>
          <p:nvPr/>
        </p:nvSpPr>
        <p:spPr>
          <a:xfrm>
            <a:off x="457200" y="5897880"/>
            <a:ext cx="6400800" cy="274320"/>
          </a:xfrm>
          <a:prstGeom prst="rect">
            <a:avLst/>
          </a:prstGeom>
          <a:noFill/>
          <a:ln/>
        </p:spPr>
        <p:txBody>
          <a:bodyPr wrap="square" lIns="0" tIns="0" rIns="0" bIns="0" rtlCol="0" anchor="t"/>
          <a:lstStyle/>
          <a:p>
            <a:pPr marL="0" indent="0">
              <a:buNone/>
            </a:pPr>
            <a:r>
              <a:rPr lang="en-US" sz="1100" dirty="0">
                <a:solidFill>
                  <a:srgbClr val="5A544F"/>
                </a:solidFill>
                <a:latin typeface="Arial" pitchFamily="34" charset="0"/>
                <a:ea typeface="Arial" pitchFamily="34" charset="-122"/>
                <a:cs typeface="Arial" pitchFamily="34" charset="-120"/>
              </a:rPr>
              <a:t>CITN26  ·  Louisville, KY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3399</Words>
  <Application>Microsoft Macintosh PowerPoint</Application>
  <PresentationFormat>Widescreen</PresentationFormat>
  <Paragraphs>453</Paragraphs>
  <Slides>24</Slides>
  <Notes>24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24</vt:i4>
      </vt:variant>
    </vt:vector>
  </HeadingPairs>
  <TitlesOfParts>
    <vt:vector size="2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 About Agents: A Church IT Reality Check</dc:title>
  <dc:subject>PptxGenJS Presentation</dc:subject>
  <dc:creator>Chris Kehayias</dc:creator>
  <cp:lastModifiedBy>Chris Kehayias</cp:lastModifiedBy>
  <cp:revision>1</cp:revision>
  <dcterms:created xsi:type="dcterms:W3CDTF">2026-10-06T13:52:16Z</dcterms:created>
  <dcterms:modified xsi:type="dcterms:W3CDTF">2026-10-06T15:54:14Z</dcterms:modified>
</cp:coreProperties>
</file>