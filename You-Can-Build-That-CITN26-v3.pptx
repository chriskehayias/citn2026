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265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honest orientation: Claude Code makes it realistic for a church IT generalist to ship real software, and realistic to make an expensive mess. By the end you'll have a mental model you can explain to your team and a shortlist of right-sized first projects.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0:00-3:00. Tell both stories (swap in real ones if you have them). Hand raise: Who has a script, report or spreadsheet you've meant to automate for a year? Transition: Same tool, different habits. Let's make sure you get Saturday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the session. The demo sits at minute 10 so energy peaks early; habits get the most time because they're the real takeaway.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3:00-10:00. Three things people confuse. Claude Code is the third: it works inside your project folder, not in a separate chat window. Same agent, different doors: terminal, VS Code or JetBrains, desktop, web.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loop: read, propose, edit, run, look at the output, try again. It only knows what's in the project, what you tell it, and CLAUDE.md. Permissions keep you in the approval seat.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line to take back to your team. Transition: Let's watch that junior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10:00-20:00. Narrate each beat aloud: empty folder under git with a 5-line CLAUDE.md; ask for a plan first and push back on one item; let it build and explain the permission prompts; run on sample data, where the planted malformed date breaks it, ask for a test that catches it, then fix; review the diff, commit, /clear. Fake data only. Backup recording cued. Advance to the three demo cue slides; each holds the exact prompt to type.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beats 1-3 from DEMO-SCRIPT.md. Show CLAUDE.md first (two lines aloud). Plan mode, paste the prompt, read the plan, push back on one item (no framework / nothing leaves the browser / skip styling). Approve. Read the first permission prompt aloud. Start the dev server, drop the CSV, point at Sofia Hernandez (ALL-CAPS email duplicate).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beat 4. JavaScript reads 2026-09-31 as October 1 and shows Sunday dates as the Saturday before in US time zones, so a test usually fails here. If it passes first time: 'It got it right, and now I know it, and it stays right.' Then ask the duplicate question and check against the key: 8 groups.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beat 5. 'Commit, clear, next task. Small steps. About eight minutes for something that would have cost me a Saturday.' Running long? Skip the diff review and just commit. Back to slides with: 'That went well because the task was right-sized. Here's when it doesn't.'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20:00-26:00. Walk both columns with a concrete example for each. The right column isn't 'never'; it's 'not first, and not without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easy-to-remember warning signs. Transition: The difference between those columns is mostly habits.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 Section break. Five habits, about 90 seconds each.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26:00-33:00. About 90 seconds per habit, each with a one-line example from the demo. These are the real takeaway; don't rush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data and credentials stay out of reach while you're learning. Sandbox, sample exports, read-only API keys. This one isn't a habit, it's a rule.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33:00-35:00. Touch on this lightly. It's the same lifecycle any team runs, just compressed for one to three people. Claude does most of the Build, shares Plan and Verify with you, and you own Intent, Ship and Learn. The Learn step is what makes the next loop faster: every lesson goes back into CLAUDE.md.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has a clear input, a clear output, and a 'done' you can check the same day. The last one stretches you toward integrations, safely.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35:00-40:00. Pairs take three minutes with the handout. Then advance to demo cue 4 and right-size one volunteer's project live in plan mode.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Pick a project, after the pair exercise. Take one volunteer, type their idea in their words, answer its questions with them. Land it: 'That's habit one, live. Plan first, then shrink it.' If nobody volunteers, use: a volunteer scheduling app for the kids ministry.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Monday next step. Everything else can wait until you've shipped one small thing.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40:00-45:00. Likely questions: Is member data safe? (keep real PII out while learning; sample exports, read-only keys, check data terms with leadership). Do I need to code? (read well enough to spot nonsense; ask it to explain). Cost? (depends on plan; a first project fits light usage). Who maintains it? (CLAUDE.md, README, git history are the handoff). Replace our vendor? (no; it fills gaps around it). Close: You can build that. Build the small version first.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Illustration of a church IT workbench: laptop terminal, server rack, mixing console and stage light in front of a sanctuary window"/>
          <p:cNvPicPr>
            <a:picLocks noChangeAspect="1"/>
          </p:cNvPicPr>
          <p:nvPr/>
        </p:nvPicPr>
        <p:blipFill>
          <a:blip r:embed="rId3"/>
          <a:stretch>
            <a:fillRect/>
          </a:stretch>
        </p:blipFill>
        <p:spPr>
          <a:xfrm>
            <a:off x="1904695" y="0"/>
            <a:ext cx="10287000" cy="6858000"/>
          </a:xfrm>
          <a:prstGeom prst="rect">
            <a:avLst/>
          </a:prstGeom>
        </p:spPr>
      </p:pic>
      <p:sp>
        <p:nvSpPr>
          <p:cNvPr id="3" name="Shape 0"/>
          <p:cNvSpPr/>
          <p:nvPr/>
        </p:nvSpPr>
        <p:spPr>
          <a:xfrm>
            <a:off x="548640" y="1097280"/>
            <a:ext cx="3145536" cy="329184"/>
          </a:xfrm>
          <a:prstGeom prst="roundRect">
            <a:avLst>
              <a:gd name="adj" fmla="val 50000"/>
            </a:avLst>
          </a:prstGeom>
          <a:solidFill>
            <a:srgbClr val="F6921E"/>
          </a:solidFill>
          <a:ln/>
        </p:spPr>
        <p:txBody>
          <a:bodyPr/>
          <a:lstStyle/>
          <a:p>
            <a:endParaRPr lang="en-US"/>
          </a:p>
        </p:txBody>
      </p:sp>
      <p:sp>
        <p:nvSpPr>
          <p:cNvPr id="4" name="Text 1"/>
          <p:cNvSpPr txBox="1"/>
          <p:nvPr/>
        </p:nvSpPr>
        <p:spPr>
          <a:xfrm>
            <a:off x="548640" y="1097280"/>
            <a:ext cx="314553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CITN26  ·  LOUISVILLE</a:t>
            </a:r>
            <a:endParaRPr lang="en-US" sz="1100" dirty="0"/>
          </a:p>
        </p:txBody>
      </p:sp>
      <p:sp>
        <p:nvSpPr>
          <p:cNvPr id="5" name="Text 2"/>
          <p:cNvSpPr txBox="1"/>
          <p:nvPr/>
        </p:nvSpPr>
        <p:spPr>
          <a:xfrm>
            <a:off x="548640" y="1645920"/>
            <a:ext cx="5852160" cy="914400"/>
          </a:xfrm>
          <a:prstGeom prst="rect">
            <a:avLst/>
          </a:prstGeom>
          <a:noFill/>
          <a:ln/>
        </p:spPr>
        <p:txBody>
          <a:bodyPr wrap="square" lIns="0" tIns="0" rIns="0" bIns="0" rtlCol="0" anchor="t"/>
          <a:lstStyle/>
          <a:p>
            <a:pPr marL="0" indent="0">
              <a:buNone/>
            </a:pPr>
            <a:r>
              <a:rPr lang="en-US" sz="5000" b="1" dirty="0">
                <a:solidFill>
                  <a:srgbClr val="2D2926"/>
                </a:solidFill>
                <a:latin typeface="Arial" pitchFamily="34" charset="0"/>
                <a:ea typeface="Arial" pitchFamily="34" charset="-122"/>
                <a:cs typeface="Arial" pitchFamily="34" charset="-120"/>
              </a:rPr>
              <a:t>You Can Build That</a:t>
            </a:r>
            <a:endParaRPr lang="en-US" sz="5000" dirty="0"/>
          </a:p>
        </p:txBody>
      </p:sp>
      <p:sp>
        <p:nvSpPr>
          <p:cNvPr id="6" name="Text 3"/>
          <p:cNvSpPr txBox="1"/>
          <p:nvPr/>
        </p:nvSpPr>
        <p:spPr>
          <a:xfrm>
            <a:off x="548640" y="2606040"/>
            <a:ext cx="5852160" cy="548640"/>
          </a:xfrm>
          <a:prstGeom prst="rect">
            <a:avLst/>
          </a:prstGeom>
          <a:noFill/>
          <a:ln/>
        </p:spPr>
        <p:txBody>
          <a:bodyPr wrap="square" lIns="0" tIns="0" rIns="0" bIns="0" rtlCol="0" anchor="t"/>
          <a:lstStyle/>
          <a:p>
            <a:pPr marL="0" indent="0">
              <a:buNone/>
            </a:pPr>
            <a:r>
              <a:rPr lang="en-US" sz="2600" dirty="0">
                <a:solidFill>
                  <a:srgbClr val="5A544F"/>
                </a:solidFill>
                <a:latin typeface="Arial" pitchFamily="34" charset="0"/>
                <a:ea typeface="Arial" pitchFamily="34" charset="-122"/>
                <a:cs typeface="Arial" pitchFamily="34" charset="-120"/>
              </a:rPr>
              <a:t>Getting Started with Claude Code</a:t>
            </a:r>
            <a:endParaRPr lang="en-US" sz="2600" dirty="0"/>
          </a:p>
        </p:txBody>
      </p:sp>
      <p:sp>
        <p:nvSpPr>
          <p:cNvPr id="7" name="Text 4"/>
          <p:cNvSpPr txBox="1"/>
          <p:nvPr/>
        </p:nvSpPr>
        <p:spPr>
          <a:xfrm>
            <a:off x="548640" y="3383280"/>
            <a:ext cx="5120640" cy="1005840"/>
          </a:xfrm>
          <a:prstGeom prst="rect">
            <a:avLst/>
          </a:prstGeom>
          <a:noFill/>
          <a:ln/>
        </p:spPr>
        <p:txBody>
          <a:bodyPr wrap="square" lIns="0" tIns="0" rIns="0" bIns="0" rtlCol="0" anchor="t"/>
          <a:lstStyle/>
          <a:p>
            <a:pPr marL="0" indent="0">
              <a:buNone/>
            </a:pPr>
            <a:r>
              <a:rPr lang="en-US" sz="1500" dirty="0">
                <a:solidFill>
                  <a:srgbClr val="5A544F"/>
                </a:solidFill>
                <a:latin typeface="Arial" pitchFamily="34" charset="0"/>
                <a:ea typeface="Arial" pitchFamily="34" charset="-122"/>
                <a:cs typeface="Arial" pitchFamily="34" charset="-120"/>
              </a:rPr>
              <a:t>An honest orientation: what it is, how the workflow feels, where it shines, where it wastes your afternoon, and the habits that decide which you get.</a:t>
            </a:r>
            <a:endParaRPr lang="en-US" sz="1500" dirty="0"/>
          </a:p>
        </p:txBody>
      </p:sp>
      <p:pic>
        <p:nvPicPr>
          <p:cNvPr id="8" name="Image 1" descr="CITN26 20th anniversary mark"/>
          <p:cNvPicPr>
            <a:picLocks noChangeAspect="1"/>
          </p:cNvPicPr>
          <p:nvPr/>
        </p:nvPicPr>
        <p:blipFill>
          <a:blip r:embed="rId4"/>
          <a:stretch>
            <a:fillRect/>
          </a:stretch>
        </p:blipFill>
        <p:spPr>
          <a:xfrm>
            <a:off x="548640" y="4892040"/>
            <a:ext cx="1065929" cy="1097280"/>
          </a:xfrm>
          <a:prstGeom prst="rect">
            <a:avLst/>
          </a:prstGeom>
        </p:spPr>
      </p:pic>
      <p:sp>
        <p:nvSpPr>
          <p:cNvPr id="9" name="Text 5"/>
          <p:cNvSpPr txBox="1"/>
          <p:nvPr/>
        </p:nvSpPr>
        <p:spPr>
          <a:xfrm>
            <a:off x="1874520" y="5074920"/>
            <a:ext cx="4114800" cy="365760"/>
          </a:xfrm>
          <a:prstGeom prst="rect">
            <a:avLst/>
          </a:prstGeom>
          <a:noFill/>
          <a:ln/>
        </p:spPr>
        <p:txBody>
          <a:bodyPr wrap="square" lIns="0" tIns="0" rIns="0" bIns="0" rtlCol="0" anchor="t"/>
          <a:lstStyle/>
          <a:p>
            <a:pPr marL="0" indent="0">
              <a:buNone/>
            </a:pPr>
            <a:r>
              <a:rPr lang="en-US" sz="1800" b="1" dirty="0">
                <a:solidFill>
                  <a:srgbClr val="2D2926"/>
                </a:solidFill>
                <a:latin typeface="Arial" pitchFamily="34" charset="0"/>
                <a:ea typeface="Arial" pitchFamily="34" charset="-122"/>
                <a:cs typeface="Arial" pitchFamily="34" charset="-120"/>
              </a:rPr>
              <a:t>Chris Kehayias</a:t>
            </a:r>
            <a:endParaRPr lang="en-US" sz="1800" dirty="0"/>
          </a:p>
        </p:txBody>
      </p:sp>
      <p:sp>
        <p:nvSpPr>
          <p:cNvPr id="10" name="Text 6"/>
          <p:cNvSpPr txBox="1"/>
          <p:nvPr/>
        </p:nvSpPr>
        <p:spPr>
          <a:xfrm>
            <a:off x="1874520" y="5440680"/>
            <a:ext cx="4114800" cy="320040"/>
          </a:xfrm>
          <a:prstGeom prst="rect">
            <a:avLst/>
          </a:prstGeom>
          <a:noFill/>
          <a:ln/>
        </p:spPr>
        <p:txBody>
          <a:bodyPr wrap="square" lIns="0" tIns="0" rIns="0" bIns="0" rtlCol="0" anchor="t"/>
          <a:lstStyle/>
          <a:p>
            <a:pPr marL="0" indent="0">
              <a:buNone/>
            </a:pPr>
            <a:r>
              <a:rPr lang="en-US" sz="1400" dirty="0">
                <a:solidFill>
                  <a:srgbClr val="5A544F"/>
                </a:solidFill>
                <a:latin typeface="Arial" pitchFamily="34" charset="0"/>
                <a:ea typeface="Arial" pitchFamily="34" charset="-122"/>
                <a:cs typeface="Arial" pitchFamily="34" charset="-120"/>
              </a:rPr>
              <a:t>SVP Innovation &amp; AI, ACS Technologies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96926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96926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OPEN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Two Saturdays, same tool</a:t>
            </a:r>
            <a:endParaRPr lang="en-US" sz="3400" dirty="0"/>
          </a:p>
        </p:txBody>
      </p:sp>
      <p:pic>
        <p:nvPicPr>
          <p:cNvPr id="5" name="Image 0" descr="Split scene: a tidy sunlit desk with one finished task, and the same desk at night buried in cables and sticky notes"/>
          <p:cNvPicPr>
            <a:picLocks noChangeAspect="1"/>
          </p:cNvPicPr>
          <p:nvPr/>
        </p:nvPicPr>
        <p:blipFill>
          <a:blip r:embed="rId3"/>
          <a:stretch>
            <a:fillRect/>
          </a:stretch>
        </p:blipFill>
        <p:spPr>
          <a:xfrm>
            <a:off x="548640" y="1783080"/>
            <a:ext cx="11094415" cy="3033629"/>
          </a:xfrm>
          <a:prstGeom prst="rect">
            <a:avLst/>
          </a:prstGeom>
        </p:spPr>
      </p:pic>
      <p:sp>
        <p:nvSpPr>
          <p:cNvPr id="6" name="Text 3"/>
          <p:cNvSpPr txBox="1"/>
          <p:nvPr/>
        </p:nvSpPr>
        <p:spPr>
          <a:xfrm>
            <a:off x="548640" y="5045309"/>
            <a:ext cx="5364328" cy="274320"/>
          </a:xfrm>
          <a:prstGeom prst="rect">
            <a:avLst/>
          </a:prstGeom>
          <a:noFill/>
          <a:ln/>
        </p:spPr>
        <p:txBody>
          <a:bodyPr wrap="square" lIns="0" tIns="0" rIns="0" bIns="0" rtlCol="0" anchor="t"/>
          <a:lstStyle/>
          <a:p>
            <a:pPr marL="0" indent="0">
              <a:buNone/>
            </a:pPr>
            <a:r>
              <a:rPr lang="en-US" sz="1200" b="1" kern="0" spc="200" dirty="0">
                <a:solidFill>
                  <a:srgbClr val="5A544F"/>
                </a:solidFill>
                <a:latin typeface="Arial" pitchFamily="34" charset="0"/>
                <a:ea typeface="Arial" pitchFamily="34" charset="-122"/>
                <a:cs typeface="Arial" pitchFamily="34" charset="-120"/>
              </a:rPr>
              <a:t>SATURDAY ONE</a:t>
            </a:r>
            <a:endParaRPr lang="en-US" sz="1200" dirty="0"/>
          </a:p>
        </p:txBody>
      </p:sp>
      <p:sp>
        <p:nvSpPr>
          <p:cNvPr id="7" name="Text 4"/>
          <p:cNvSpPr txBox="1"/>
          <p:nvPr/>
        </p:nvSpPr>
        <p:spPr>
          <a:xfrm>
            <a:off x="548640" y="5337917"/>
            <a:ext cx="5364328" cy="411480"/>
          </a:xfrm>
          <a:prstGeom prst="rect">
            <a:avLst/>
          </a:prstGeom>
          <a:noFill/>
          <a:ln/>
        </p:spPr>
        <p:txBody>
          <a:bodyPr wrap="square" lIns="0" tIns="0" rIns="0" bIns="0" rtlCol="0" anchor="t"/>
          <a:lstStyle/>
          <a:p>
            <a:pPr marL="0" indent="0">
              <a:buNone/>
            </a:pPr>
            <a:r>
              <a:rPr lang="en-US" sz="2000" b="1" dirty="0">
                <a:solidFill>
                  <a:srgbClr val="2D2926"/>
                </a:solidFill>
                <a:latin typeface="Arial" pitchFamily="34" charset="0"/>
                <a:ea typeface="Arial" pitchFamily="34" charset="-122"/>
                <a:cs typeface="Arial" pitchFamily="34" charset="-120"/>
              </a:rPr>
              <a:t>One afternoon, one script, still running</a:t>
            </a:r>
            <a:endParaRPr lang="en-US" sz="2000" dirty="0"/>
          </a:p>
        </p:txBody>
      </p:sp>
      <p:sp>
        <p:nvSpPr>
          <p:cNvPr id="8" name="Text 5"/>
          <p:cNvSpPr txBox="1"/>
          <p:nvPr/>
        </p:nvSpPr>
        <p:spPr>
          <a:xfrm>
            <a:off x="548640" y="5776829"/>
            <a:ext cx="5364328" cy="320040"/>
          </a:xfrm>
          <a:prstGeom prst="rect">
            <a:avLst/>
          </a:prstGeom>
          <a:noFill/>
          <a:ln/>
        </p:spPr>
        <p:txBody>
          <a:bodyPr wrap="square" lIns="0" tIns="0" rIns="0" bIns="0" rtlCol="0" anchor="t"/>
          <a:lstStyle/>
          <a:p>
            <a:pPr marL="0" indent="0">
              <a:buNone/>
            </a:pPr>
            <a:r>
              <a:rPr lang="en-US" sz="1500" dirty="0">
                <a:solidFill>
                  <a:srgbClr val="5A544F"/>
                </a:solidFill>
                <a:latin typeface="Arial" pitchFamily="34" charset="0"/>
                <a:ea typeface="Arial" pitchFamily="34" charset="-122"/>
                <a:cs typeface="Arial" pitchFamily="34" charset="-120"/>
              </a:rPr>
              <a:t>Replaced a 40-minute weekly copy-paste job.</a:t>
            </a:r>
            <a:endParaRPr lang="en-US" sz="1500" dirty="0"/>
          </a:p>
        </p:txBody>
      </p:sp>
      <p:sp>
        <p:nvSpPr>
          <p:cNvPr id="9" name="Text 6"/>
          <p:cNvSpPr txBox="1"/>
          <p:nvPr/>
        </p:nvSpPr>
        <p:spPr>
          <a:xfrm>
            <a:off x="6278728" y="5045309"/>
            <a:ext cx="5364328" cy="274320"/>
          </a:xfrm>
          <a:prstGeom prst="rect">
            <a:avLst/>
          </a:prstGeom>
          <a:noFill/>
          <a:ln/>
        </p:spPr>
        <p:txBody>
          <a:bodyPr wrap="square" lIns="0" tIns="0" rIns="0" bIns="0" rtlCol="0" anchor="t"/>
          <a:lstStyle/>
          <a:p>
            <a:pPr marL="0" indent="0">
              <a:buNone/>
            </a:pPr>
            <a:r>
              <a:rPr lang="en-US" sz="1200" b="1" kern="0" spc="200" dirty="0">
                <a:solidFill>
                  <a:srgbClr val="DC8F2E"/>
                </a:solidFill>
                <a:latin typeface="Arial" pitchFamily="34" charset="0"/>
                <a:ea typeface="Arial" pitchFamily="34" charset="-122"/>
                <a:cs typeface="Arial" pitchFamily="34" charset="-120"/>
              </a:rPr>
              <a:t>SATURDAY TWO</a:t>
            </a:r>
            <a:endParaRPr lang="en-US" sz="1200" dirty="0"/>
          </a:p>
        </p:txBody>
      </p:sp>
      <p:sp>
        <p:nvSpPr>
          <p:cNvPr id="10" name="Text 7"/>
          <p:cNvSpPr txBox="1"/>
          <p:nvPr/>
        </p:nvSpPr>
        <p:spPr>
          <a:xfrm>
            <a:off x="6278728" y="5337917"/>
            <a:ext cx="5364328" cy="411480"/>
          </a:xfrm>
          <a:prstGeom prst="rect">
            <a:avLst/>
          </a:prstGeom>
          <a:noFill/>
          <a:ln/>
        </p:spPr>
        <p:txBody>
          <a:bodyPr wrap="square" lIns="0" tIns="0" rIns="0" bIns="0" rtlCol="0" anchor="t"/>
          <a:lstStyle/>
          <a:p>
            <a:pPr marL="0" indent="0">
              <a:buNone/>
            </a:pPr>
            <a:r>
              <a:rPr lang="en-US" sz="2000" b="1" dirty="0">
                <a:solidFill>
                  <a:srgbClr val="2D2926"/>
                </a:solidFill>
                <a:latin typeface="Arial" pitchFamily="34" charset="0"/>
                <a:ea typeface="Arial" pitchFamily="34" charset="-122"/>
                <a:cs typeface="Arial" pitchFamily="34" charset="-120"/>
              </a:rPr>
              <a:t>"Build me a whole app"</a:t>
            </a:r>
            <a:endParaRPr lang="en-US" sz="2000" dirty="0"/>
          </a:p>
        </p:txBody>
      </p:sp>
      <p:sp>
        <p:nvSpPr>
          <p:cNvPr id="11" name="Text 8"/>
          <p:cNvSpPr txBox="1"/>
          <p:nvPr/>
        </p:nvSpPr>
        <p:spPr>
          <a:xfrm>
            <a:off x="6278728" y="5776829"/>
            <a:ext cx="5364328" cy="320040"/>
          </a:xfrm>
          <a:prstGeom prst="rect">
            <a:avLst/>
          </a:prstGeom>
          <a:noFill/>
          <a:ln/>
        </p:spPr>
        <p:txBody>
          <a:bodyPr wrap="square" lIns="0" tIns="0" rIns="0" bIns="0" rtlCol="0" anchor="t"/>
          <a:lstStyle/>
          <a:p>
            <a:pPr marL="0" indent="0">
              <a:buNone/>
            </a:pPr>
            <a:r>
              <a:rPr lang="en-US" sz="1500" dirty="0">
                <a:solidFill>
                  <a:srgbClr val="5A544F"/>
                </a:solidFill>
                <a:latin typeface="Arial" pitchFamily="34" charset="0"/>
                <a:ea typeface="Arial" pitchFamily="34" charset="-122"/>
                <a:cs typeface="Arial" pitchFamily="34" charset="-120"/>
              </a:rPr>
              <a:t>Six hours, 3,000 lines nobody understood, nothing shipped.</a:t>
            </a:r>
            <a:endParaRPr lang="en-US" sz="1500" dirty="0"/>
          </a:p>
        </p:txBody>
      </p:sp>
      <p:sp>
        <p:nvSpPr>
          <p:cNvPr id="12" name="Text 9"/>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13"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22529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22529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AGENDA</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45 minutes, seven blocks</a:t>
            </a:r>
            <a:endParaRPr lang="en-US" sz="3400" dirty="0"/>
          </a:p>
        </p:txBody>
      </p:sp>
      <p:sp>
        <p:nvSpPr>
          <p:cNvPr id="5" name="Shape 3"/>
          <p:cNvSpPr/>
          <p:nvPr/>
        </p:nvSpPr>
        <p:spPr>
          <a:xfrm>
            <a:off x="576072" y="2377440"/>
            <a:ext cx="684764" cy="1188720"/>
          </a:xfrm>
          <a:prstGeom prst="roundRect">
            <a:avLst>
              <a:gd name="adj" fmla="val 16024"/>
            </a:avLst>
          </a:prstGeom>
          <a:solidFill>
            <a:srgbClr val="F7F5F3"/>
          </a:solidFill>
          <a:ln w="9525">
            <a:solidFill>
              <a:srgbClr val="E4DED8"/>
            </a:solidFill>
            <a:prstDash val="solid"/>
          </a:ln>
        </p:spPr>
        <p:txBody>
          <a:bodyPr/>
          <a:lstStyle/>
          <a:p>
            <a:endParaRPr lang="en-US"/>
          </a:p>
        </p:txBody>
      </p:sp>
      <p:sp>
        <p:nvSpPr>
          <p:cNvPr id="6" name="Text 4"/>
          <p:cNvSpPr txBox="1"/>
          <p:nvPr/>
        </p:nvSpPr>
        <p:spPr>
          <a:xfrm>
            <a:off x="685800" y="2514600"/>
            <a:ext cx="465308"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3</a:t>
            </a:r>
            <a:endParaRPr lang="en-US" sz="2800" dirty="0"/>
          </a:p>
        </p:txBody>
      </p:sp>
      <p:sp>
        <p:nvSpPr>
          <p:cNvPr id="7" name="Text 5"/>
          <p:cNvSpPr txBox="1"/>
          <p:nvPr/>
        </p:nvSpPr>
        <p:spPr>
          <a:xfrm>
            <a:off x="685800" y="3063240"/>
            <a:ext cx="465308"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8" name="Text 6"/>
          <p:cNvSpPr txBox="1"/>
          <p:nvPr/>
        </p:nvSpPr>
        <p:spPr>
          <a:xfrm>
            <a:off x="594360" y="3749040"/>
            <a:ext cx="648188"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Open</a:t>
            </a:r>
            <a:endParaRPr lang="en-US" sz="1300" dirty="0"/>
          </a:p>
        </p:txBody>
      </p:sp>
      <p:sp>
        <p:nvSpPr>
          <p:cNvPr id="9" name="Text 7"/>
          <p:cNvSpPr txBox="1"/>
          <p:nvPr/>
        </p:nvSpPr>
        <p:spPr>
          <a:xfrm>
            <a:off x="594360" y="2011680"/>
            <a:ext cx="64818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0:00</a:t>
            </a:r>
            <a:endParaRPr lang="en-US" sz="1100" dirty="0"/>
          </a:p>
        </p:txBody>
      </p:sp>
      <p:sp>
        <p:nvSpPr>
          <p:cNvPr id="10" name="Shape 8"/>
          <p:cNvSpPr/>
          <p:nvPr/>
        </p:nvSpPr>
        <p:spPr>
          <a:xfrm>
            <a:off x="1315700" y="2377440"/>
            <a:ext cx="1670934" cy="1188720"/>
          </a:xfrm>
          <a:prstGeom prst="roundRect">
            <a:avLst>
              <a:gd name="adj" fmla="val 9231"/>
            </a:avLst>
          </a:prstGeom>
          <a:solidFill>
            <a:srgbClr val="F7F5F3"/>
          </a:solidFill>
          <a:ln w="9525">
            <a:solidFill>
              <a:srgbClr val="E4DED8"/>
            </a:solidFill>
            <a:prstDash val="solid"/>
          </a:ln>
        </p:spPr>
        <p:txBody>
          <a:bodyPr/>
          <a:lstStyle/>
          <a:p>
            <a:endParaRPr lang="en-US"/>
          </a:p>
        </p:txBody>
      </p:sp>
      <p:sp>
        <p:nvSpPr>
          <p:cNvPr id="11" name="Text 9"/>
          <p:cNvSpPr txBox="1"/>
          <p:nvPr/>
        </p:nvSpPr>
        <p:spPr>
          <a:xfrm>
            <a:off x="1425428" y="2514600"/>
            <a:ext cx="1451478"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7</a:t>
            </a:r>
            <a:endParaRPr lang="en-US" sz="2800" dirty="0"/>
          </a:p>
        </p:txBody>
      </p:sp>
      <p:sp>
        <p:nvSpPr>
          <p:cNvPr id="12" name="Text 10"/>
          <p:cNvSpPr txBox="1"/>
          <p:nvPr/>
        </p:nvSpPr>
        <p:spPr>
          <a:xfrm>
            <a:off x="1425428" y="3063240"/>
            <a:ext cx="1451478"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13" name="Text 11"/>
          <p:cNvSpPr txBox="1"/>
          <p:nvPr/>
        </p:nvSpPr>
        <p:spPr>
          <a:xfrm>
            <a:off x="1333988" y="3749040"/>
            <a:ext cx="1634358"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What it actually is</a:t>
            </a:r>
            <a:endParaRPr lang="en-US" sz="1300" dirty="0"/>
          </a:p>
        </p:txBody>
      </p:sp>
      <p:sp>
        <p:nvSpPr>
          <p:cNvPr id="14" name="Text 12"/>
          <p:cNvSpPr txBox="1"/>
          <p:nvPr/>
        </p:nvSpPr>
        <p:spPr>
          <a:xfrm>
            <a:off x="1333988" y="2011680"/>
            <a:ext cx="163435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0:03</a:t>
            </a:r>
            <a:endParaRPr lang="en-US" sz="1100" dirty="0"/>
          </a:p>
        </p:txBody>
      </p:sp>
      <p:sp>
        <p:nvSpPr>
          <p:cNvPr id="15" name="Shape 13"/>
          <p:cNvSpPr/>
          <p:nvPr/>
        </p:nvSpPr>
        <p:spPr>
          <a:xfrm>
            <a:off x="3041498" y="2377440"/>
            <a:ext cx="2410562" cy="1188720"/>
          </a:xfrm>
          <a:prstGeom prst="roundRect">
            <a:avLst>
              <a:gd name="adj" fmla="val 9231"/>
            </a:avLst>
          </a:prstGeom>
          <a:solidFill>
            <a:srgbClr val="F6921E"/>
          </a:solidFill>
          <a:ln w="9525">
            <a:solidFill>
              <a:srgbClr val="F6921E"/>
            </a:solidFill>
            <a:prstDash val="solid"/>
          </a:ln>
        </p:spPr>
        <p:txBody>
          <a:bodyPr/>
          <a:lstStyle/>
          <a:p>
            <a:endParaRPr lang="en-US"/>
          </a:p>
        </p:txBody>
      </p:sp>
      <p:sp>
        <p:nvSpPr>
          <p:cNvPr id="16" name="Text 14"/>
          <p:cNvSpPr txBox="1"/>
          <p:nvPr/>
        </p:nvSpPr>
        <p:spPr>
          <a:xfrm>
            <a:off x="3151226" y="2514600"/>
            <a:ext cx="2191106"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10</a:t>
            </a:r>
            <a:endParaRPr lang="en-US" sz="2800" dirty="0"/>
          </a:p>
        </p:txBody>
      </p:sp>
      <p:sp>
        <p:nvSpPr>
          <p:cNvPr id="17" name="Text 15"/>
          <p:cNvSpPr txBox="1"/>
          <p:nvPr/>
        </p:nvSpPr>
        <p:spPr>
          <a:xfrm>
            <a:off x="3151226" y="3063240"/>
            <a:ext cx="2191106"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18" name="Text 16"/>
          <p:cNvSpPr txBox="1"/>
          <p:nvPr/>
        </p:nvSpPr>
        <p:spPr>
          <a:xfrm>
            <a:off x="3059786" y="3749040"/>
            <a:ext cx="2373986"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Live demo</a:t>
            </a:r>
            <a:endParaRPr lang="en-US" sz="1300" dirty="0"/>
          </a:p>
        </p:txBody>
      </p:sp>
      <p:sp>
        <p:nvSpPr>
          <p:cNvPr id="19" name="Text 17"/>
          <p:cNvSpPr txBox="1"/>
          <p:nvPr/>
        </p:nvSpPr>
        <p:spPr>
          <a:xfrm>
            <a:off x="3059786" y="2011680"/>
            <a:ext cx="2373986"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0:10</a:t>
            </a:r>
            <a:endParaRPr lang="en-US" sz="1100" dirty="0"/>
          </a:p>
        </p:txBody>
      </p:sp>
      <p:sp>
        <p:nvSpPr>
          <p:cNvPr id="20" name="Shape 18"/>
          <p:cNvSpPr/>
          <p:nvPr/>
        </p:nvSpPr>
        <p:spPr>
          <a:xfrm>
            <a:off x="5506923" y="2377440"/>
            <a:ext cx="1424391" cy="1188720"/>
          </a:xfrm>
          <a:prstGeom prst="roundRect">
            <a:avLst>
              <a:gd name="adj" fmla="val 9231"/>
            </a:avLst>
          </a:prstGeom>
          <a:solidFill>
            <a:srgbClr val="F7F5F3"/>
          </a:solidFill>
          <a:ln w="9525">
            <a:solidFill>
              <a:srgbClr val="E4DED8"/>
            </a:solidFill>
            <a:prstDash val="solid"/>
          </a:ln>
        </p:spPr>
        <p:txBody>
          <a:bodyPr/>
          <a:lstStyle/>
          <a:p>
            <a:endParaRPr lang="en-US"/>
          </a:p>
        </p:txBody>
      </p:sp>
      <p:sp>
        <p:nvSpPr>
          <p:cNvPr id="21" name="Text 19"/>
          <p:cNvSpPr txBox="1"/>
          <p:nvPr/>
        </p:nvSpPr>
        <p:spPr>
          <a:xfrm>
            <a:off x="5616651" y="2514600"/>
            <a:ext cx="1204935"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6</a:t>
            </a:r>
            <a:endParaRPr lang="en-US" sz="2800" dirty="0"/>
          </a:p>
        </p:txBody>
      </p:sp>
      <p:sp>
        <p:nvSpPr>
          <p:cNvPr id="22" name="Text 20"/>
          <p:cNvSpPr txBox="1"/>
          <p:nvPr/>
        </p:nvSpPr>
        <p:spPr>
          <a:xfrm>
            <a:off x="5616651" y="3063240"/>
            <a:ext cx="1204935"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23" name="Text 21"/>
          <p:cNvSpPr txBox="1"/>
          <p:nvPr/>
        </p:nvSpPr>
        <p:spPr>
          <a:xfrm>
            <a:off x="5525211" y="3749040"/>
            <a:ext cx="1387815"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Shines vs. wastes</a:t>
            </a:r>
            <a:endParaRPr lang="en-US" sz="1300" dirty="0"/>
          </a:p>
        </p:txBody>
      </p:sp>
      <p:sp>
        <p:nvSpPr>
          <p:cNvPr id="24" name="Text 22"/>
          <p:cNvSpPr txBox="1"/>
          <p:nvPr/>
        </p:nvSpPr>
        <p:spPr>
          <a:xfrm>
            <a:off x="5525211" y="2011680"/>
            <a:ext cx="1387815"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0:20</a:t>
            </a:r>
            <a:endParaRPr lang="en-US" sz="1100" dirty="0"/>
          </a:p>
        </p:txBody>
      </p:sp>
      <p:sp>
        <p:nvSpPr>
          <p:cNvPr id="25" name="Shape 23"/>
          <p:cNvSpPr/>
          <p:nvPr/>
        </p:nvSpPr>
        <p:spPr>
          <a:xfrm>
            <a:off x="6986179" y="2377440"/>
            <a:ext cx="2164019" cy="1188720"/>
          </a:xfrm>
          <a:prstGeom prst="roundRect">
            <a:avLst>
              <a:gd name="adj" fmla="val 9231"/>
            </a:avLst>
          </a:prstGeom>
          <a:solidFill>
            <a:srgbClr val="F6921E"/>
          </a:solidFill>
          <a:ln w="9525">
            <a:solidFill>
              <a:srgbClr val="F6921E"/>
            </a:solidFill>
            <a:prstDash val="solid"/>
          </a:ln>
        </p:spPr>
        <p:txBody>
          <a:bodyPr/>
          <a:lstStyle/>
          <a:p>
            <a:endParaRPr lang="en-US"/>
          </a:p>
        </p:txBody>
      </p:sp>
      <p:sp>
        <p:nvSpPr>
          <p:cNvPr id="26" name="Text 24"/>
          <p:cNvSpPr txBox="1"/>
          <p:nvPr/>
        </p:nvSpPr>
        <p:spPr>
          <a:xfrm>
            <a:off x="7095907" y="2514600"/>
            <a:ext cx="1944563"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9</a:t>
            </a:r>
            <a:endParaRPr lang="en-US" sz="2800" dirty="0"/>
          </a:p>
        </p:txBody>
      </p:sp>
      <p:sp>
        <p:nvSpPr>
          <p:cNvPr id="27" name="Text 25"/>
          <p:cNvSpPr txBox="1"/>
          <p:nvPr/>
        </p:nvSpPr>
        <p:spPr>
          <a:xfrm>
            <a:off x="7095907" y="3063240"/>
            <a:ext cx="1944563"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28" name="Text 26"/>
          <p:cNvSpPr txBox="1"/>
          <p:nvPr/>
        </p:nvSpPr>
        <p:spPr>
          <a:xfrm>
            <a:off x="7004467" y="3749040"/>
            <a:ext cx="2127443"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Habits + lifecycle</a:t>
            </a:r>
            <a:endParaRPr lang="en-US" sz="1300" dirty="0"/>
          </a:p>
        </p:txBody>
      </p:sp>
      <p:sp>
        <p:nvSpPr>
          <p:cNvPr id="29" name="Text 27"/>
          <p:cNvSpPr txBox="1"/>
          <p:nvPr/>
        </p:nvSpPr>
        <p:spPr>
          <a:xfrm>
            <a:off x="7004467" y="2011680"/>
            <a:ext cx="2127443"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0:26</a:t>
            </a:r>
            <a:endParaRPr lang="en-US" sz="1100" dirty="0"/>
          </a:p>
        </p:txBody>
      </p:sp>
      <p:sp>
        <p:nvSpPr>
          <p:cNvPr id="30" name="Shape 28"/>
          <p:cNvSpPr/>
          <p:nvPr/>
        </p:nvSpPr>
        <p:spPr>
          <a:xfrm>
            <a:off x="9205062" y="2377440"/>
            <a:ext cx="1177849" cy="1188720"/>
          </a:xfrm>
          <a:prstGeom prst="roundRect">
            <a:avLst>
              <a:gd name="adj" fmla="val 9316"/>
            </a:avLst>
          </a:prstGeom>
          <a:solidFill>
            <a:srgbClr val="F7F5F3"/>
          </a:solidFill>
          <a:ln w="9525">
            <a:solidFill>
              <a:srgbClr val="E4DED8"/>
            </a:solidFill>
            <a:prstDash val="solid"/>
          </a:ln>
        </p:spPr>
        <p:txBody>
          <a:bodyPr/>
          <a:lstStyle/>
          <a:p>
            <a:endParaRPr lang="en-US"/>
          </a:p>
        </p:txBody>
      </p:sp>
      <p:sp>
        <p:nvSpPr>
          <p:cNvPr id="31" name="Text 29"/>
          <p:cNvSpPr txBox="1"/>
          <p:nvPr/>
        </p:nvSpPr>
        <p:spPr>
          <a:xfrm>
            <a:off x="9314790" y="2514600"/>
            <a:ext cx="958393"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5</a:t>
            </a:r>
            <a:endParaRPr lang="en-US" sz="2800" dirty="0"/>
          </a:p>
        </p:txBody>
      </p:sp>
      <p:sp>
        <p:nvSpPr>
          <p:cNvPr id="32" name="Text 30"/>
          <p:cNvSpPr txBox="1"/>
          <p:nvPr/>
        </p:nvSpPr>
        <p:spPr>
          <a:xfrm>
            <a:off x="9314790" y="3063240"/>
            <a:ext cx="958393"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33" name="Text 31"/>
          <p:cNvSpPr txBox="1"/>
          <p:nvPr/>
        </p:nvSpPr>
        <p:spPr>
          <a:xfrm>
            <a:off x="9223350" y="3749040"/>
            <a:ext cx="1141273"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Pick a project</a:t>
            </a:r>
            <a:endParaRPr lang="en-US" sz="1300" dirty="0"/>
          </a:p>
        </p:txBody>
      </p:sp>
      <p:sp>
        <p:nvSpPr>
          <p:cNvPr id="34" name="Text 32"/>
          <p:cNvSpPr txBox="1"/>
          <p:nvPr/>
        </p:nvSpPr>
        <p:spPr>
          <a:xfrm>
            <a:off x="9223350" y="2011680"/>
            <a:ext cx="1141273"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0:35</a:t>
            </a:r>
            <a:endParaRPr lang="en-US" sz="1100" dirty="0"/>
          </a:p>
        </p:txBody>
      </p:sp>
      <p:sp>
        <p:nvSpPr>
          <p:cNvPr id="35" name="Shape 33"/>
          <p:cNvSpPr/>
          <p:nvPr/>
        </p:nvSpPr>
        <p:spPr>
          <a:xfrm>
            <a:off x="10437774" y="2377440"/>
            <a:ext cx="1177849" cy="1188720"/>
          </a:xfrm>
          <a:prstGeom prst="roundRect">
            <a:avLst>
              <a:gd name="adj" fmla="val 9316"/>
            </a:avLst>
          </a:prstGeom>
          <a:solidFill>
            <a:srgbClr val="F7F5F3"/>
          </a:solidFill>
          <a:ln w="9525">
            <a:solidFill>
              <a:srgbClr val="E4DED8"/>
            </a:solidFill>
            <a:prstDash val="solid"/>
          </a:ln>
        </p:spPr>
        <p:txBody>
          <a:bodyPr/>
          <a:lstStyle/>
          <a:p>
            <a:endParaRPr lang="en-US"/>
          </a:p>
        </p:txBody>
      </p:sp>
      <p:sp>
        <p:nvSpPr>
          <p:cNvPr id="36" name="Text 34"/>
          <p:cNvSpPr txBox="1"/>
          <p:nvPr/>
        </p:nvSpPr>
        <p:spPr>
          <a:xfrm>
            <a:off x="10547502" y="2514600"/>
            <a:ext cx="958393" cy="548640"/>
          </a:xfrm>
          <a:prstGeom prst="rect">
            <a:avLst/>
          </a:prstGeom>
          <a:noFill/>
          <a:ln/>
        </p:spPr>
        <p:txBody>
          <a:bodyPr wrap="square" lIns="0" tIns="0" rIns="0" bIns="0" rtlCol="0" anchor="t"/>
          <a:lstStyle/>
          <a:p>
            <a:pPr marL="0" indent="0">
              <a:buNone/>
            </a:pPr>
            <a:r>
              <a:rPr lang="en-US" sz="2800" b="1" dirty="0">
                <a:solidFill>
                  <a:srgbClr val="2D2926"/>
                </a:solidFill>
                <a:latin typeface="Arial" pitchFamily="34" charset="0"/>
                <a:ea typeface="Arial" pitchFamily="34" charset="-122"/>
                <a:cs typeface="Arial" pitchFamily="34" charset="-120"/>
              </a:rPr>
              <a:t>5</a:t>
            </a:r>
            <a:endParaRPr lang="en-US" sz="2800" dirty="0"/>
          </a:p>
        </p:txBody>
      </p:sp>
      <p:sp>
        <p:nvSpPr>
          <p:cNvPr id="37" name="Text 35"/>
          <p:cNvSpPr txBox="1"/>
          <p:nvPr/>
        </p:nvSpPr>
        <p:spPr>
          <a:xfrm>
            <a:off x="10547502" y="3063240"/>
            <a:ext cx="958393" cy="274320"/>
          </a:xfrm>
          <a:prstGeom prst="rect">
            <a:avLst/>
          </a:prstGeom>
          <a:noFill/>
          <a:ln/>
        </p:spPr>
        <p:txBody>
          <a:bodyPr wrap="square" lIns="0" tIns="0" rIns="0" bIns="0" rtlCol="0" anchor="t"/>
          <a:lstStyle/>
          <a:p>
            <a:pPr marL="0" indent="0">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38" name="Text 36"/>
          <p:cNvSpPr txBox="1"/>
          <p:nvPr/>
        </p:nvSpPr>
        <p:spPr>
          <a:xfrm>
            <a:off x="10456062" y="3749040"/>
            <a:ext cx="1141273" cy="731520"/>
          </a:xfrm>
          <a:prstGeom prst="rect">
            <a:avLst/>
          </a:prstGeom>
          <a:noFill/>
          <a:ln/>
        </p:spPr>
        <p:txBody>
          <a:bodyPr wrap="square" lIns="0" tIns="0" rIns="0" bIns="0" rtlCol="0" anchor="t"/>
          <a:lstStyle/>
          <a:p>
            <a:pPr marL="0" indent="0" algn="ctr">
              <a:buNone/>
            </a:pPr>
            <a:r>
              <a:rPr lang="en-US" sz="1300" b="1" dirty="0">
                <a:solidFill>
                  <a:srgbClr val="2D2926"/>
                </a:solidFill>
                <a:latin typeface="Arial" pitchFamily="34" charset="0"/>
                <a:ea typeface="Arial" pitchFamily="34" charset="-122"/>
                <a:cs typeface="Arial" pitchFamily="34" charset="-120"/>
              </a:rPr>
              <a:t>Q&amp;A</a:t>
            </a:r>
            <a:endParaRPr lang="en-US" sz="1300" dirty="0"/>
          </a:p>
        </p:txBody>
      </p:sp>
      <p:sp>
        <p:nvSpPr>
          <p:cNvPr id="39" name="Text 37"/>
          <p:cNvSpPr txBox="1"/>
          <p:nvPr/>
        </p:nvSpPr>
        <p:spPr>
          <a:xfrm>
            <a:off x="10456062" y="2011680"/>
            <a:ext cx="1141273"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0:40</a:t>
            </a:r>
            <a:endParaRPr lang="en-US" sz="1100" dirty="0"/>
          </a:p>
        </p:txBody>
      </p:sp>
      <p:sp>
        <p:nvSpPr>
          <p:cNvPr id="41" name="Text 39"/>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42" name="Text 4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73736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73736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WHAT IT IS</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Not a chatbot. Not autocomplete. An agent.</a:t>
            </a:r>
            <a:endParaRPr lang="en-US" sz="3400" dirty="0"/>
          </a:p>
        </p:txBody>
      </p:sp>
      <p:pic>
        <p:nvPicPr>
          <p:cNvPr id="5" name="Image 0" descr="Three illustrations: copy-pasting between chat bubbles, a cursor finishing a line of code, and a robot working inside a project folder"/>
          <p:cNvPicPr>
            <a:picLocks noChangeAspect="1"/>
          </p:cNvPicPr>
          <p:nvPr/>
        </p:nvPicPr>
        <p:blipFill>
          <a:blip r:embed="rId3"/>
          <a:stretch>
            <a:fillRect/>
          </a:stretch>
        </p:blipFill>
        <p:spPr>
          <a:xfrm>
            <a:off x="1249528" y="1691640"/>
            <a:ext cx="9692640" cy="3407569"/>
          </a:xfrm>
          <a:prstGeom prst="rect">
            <a:avLst/>
          </a:prstGeom>
        </p:spPr>
      </p:pic>
      <p:sp>
        <p:nvSpPr>
          <p:cNvPr id="6" name="Text 3"/>
          <p:cNvSpPr txBox="1"/>
          <p:nvPr/>
        </p:nvSpPr>
        <p:spPr>
          <a:xfrm>
            <a:off x="1478128" y="5190649"/>
            <a:ext cx="2773680" cy="411480"/>
          </a:xfrm>
          <a:prstGeom prst="rect">
            <a:avLst/>
          </a:prstGeom>
          <a:noFill/>
          <a:ln/>
        </p:spPr>
        <p:txBody>
          <a:bodyPr wrap="square" lIns="0" tIns="0" rIns="0" bIns="0" rtlCol="0" anchor="t"/>
          <a:lstStyle/>
          <a:p>
            <a:pPr marL="0" indent="0" algn="ctr">
              <a:buNone/>
            </a:pPr>
            <a:r>
              <a:rPr lang="en-US" sz="2200" b="1" dirty="0">
                <a:solidFill>
                  <a:srgbClr val="2D2926"/>
                </a:solidFill>
                <a:latin typeface="Arial" pitchFamily="34" charset="0"/>
                <a:ea typeface="Arial" pitchFamily="34" charset="-122"/>
                <a:cs typeface="Arial" pitchFamily="34" charset="-120"/>
              </a:rPr>
              <a:t>Chat</a:t>
            </a:r>
            <a:endParaRPr lang="en-US" sz="2200" dirty="0"/>
          </a:p>
        </p:txBody>
      </p:sp>
      <p:sp>
        <p:nvSpPr>
          <p:cNvPr id="7" name="Text 4"/>
          <p:cNvSpPr txBox="1"/>
          <p:nvPr/>
        </p:nvSpPr>
        <p:spPr>
          <a:xfrm>
            <a:off x="1478128" y="5647849"/>
            <a:ext cx="2773680" cy="548640"/>
          </a:xfrm>
          <a:prstGeom prst="rect">
            <a:avLst/>
          </a:prstGeom>
          <a:noFill/>
          <a:ln/>
        </p:spPr>
        <p:txBody>
          <a:bodyPr wrap="square" lIns="0" tIns="0" rIns="0" bIns="0" rtlCol="0" anchor="t"/>
          <a:lstStyle/>
          <a:p>
            <a:pPr marL="0" indent="0" algn="ctr">
              <a:buNone/>
            </a:pPr>
            <a:r>
              <a:rPr lang="en-US" sz="1400" dirty="0">
                <a:solidFill>
                  <a:srgbClr val="5A544F"/>
                </a:solidFill>
                <a:latin typeface="Arial" pitchFamily="34" charset="0"/>
                <a:ea typeface="Arial" pitchFamily="34" charset="-122"/>
                <a:cs typeface="Arial" pitchFamily="34" charset="-120"/>
              </a:rPr>
              <a:t>You copy and paste between a chat window and your files.</a:t>
            </a:r>
            <a:endParaRPr lang="en-US" sz="1400" dirty="0"/>
          </a:p>
        </p:txBody>
      </p:sp>
      <p:sp>
        <p:nvSpPr>
          <p:cNvPr id="8" name="Text 5"/>
          <p:cNvSpPr txBox="1"/>
          <p:nvPr/>
        </p:nvSpPr>
        <p:spPr>
          <a:xfrm>
            <a:off x="4709008" y="5190649"/>
            <a:ext cx="2773680" cy="411480"/>
          </a:xfrm>
          <a:prstGeom prst="rect">
            <a:avLst/>
          </a:prstGeom>
          <a:noFill/>
          <a:ln/>
        </p:spPr>
        <p:txBody>
          <a:bodyPr wrap="square" lIns="0" tIns="0" rIns="0" bIns="0" rtlCol="0" anchor="t"/>
          <a:lstStyle/>
          <a:p>
            <a:pPr marL="0" indent="0" algn="ctr">
              <a:buNone/>
            </a:pPr>
            <a:r>
              <a:rPr lang="en-US" sz="2200" b="1" dirty="0">
                <a:solidFill>
                  <a:srgbClr val="2D2926"/>
                </a:solidFill>
                <a:latin typeface="Arial" pitchFamily="34" charset="0"/>
                <a:ea typeface="Arial" pitchFamily="34" charset="-122"/>
                <a:cs typeface="Arial" pitchFamily="34" charset="-120"/>
              </a:rPr>
              <a:t>Autocomplete</a:t>
            </a:r>
            <a:endParaRPr lang="en-US" sz="2200" dirty="0"/>
          </a:p>
        </p:txBody>
      </p:sp>
      <p:sp>
        <p:nvSpPr>
          <p:cNvPr id="9" name="Text 6"/>
          <p:cNvSpPr txBox="1"/>
          <p:nvPr/>
        </p:nvSpPr>
        <p:spPr>
          <a:xfrm>
            <a:off x="4709008" y="5647849"/>
            <a:ext cx="2773680" cy="548640"/>
          </a:xfrm>
          <a:prstGeom prst="rect">
            <a:avLst/>
          </a:prstGeom>
          <a:noFill/>
          <a:ln/>
        </p:spPr>
        <p:txBody>
          <a:bodyPr wrap="square" lIns="0" tIns="0" rIns="0" bIns="0" rtlCol="0" anchor="t"/>
          <a:lstStyle/>
          <a:p>
            <a:pPr marL="0" indent="0" algn="ctr">
              <a:buNone/>
            </a:pPr>
            <a:r>
              <a:rPr lang="en-US" sz="1400" dirty="0">
                <a:solidFill>
                  <a:srgbClr val="5A544F"/>
                </a:solidFill>
                <a:latin typeface="Arial" pitchFamily="34" charset="0"/>
                <a:ea typeface="Arial" pitchFamily="34" charset="-122"/>
                <a:cs typeface="Arial" pitchFamily="34" charset="-120"/>
              </a:rPr>
              <a:t>Finishes the line you're typing in your editor.</a:t>
            </a:r>
            <a:endParaRPr lang="en-US" sz="1400" dirty="0"/>
          </a:p>
        </p:txBody>
      </p:sp>
      <p:sp>
        <p:nvSpPr>
          <p:cNvPr id="10" name="Text 7"/>
          <p:cNvSpPr txBox="1"/>
          <p:nvPr/>
        </p:nvSpPr>
        <p:spPr>
          <a:xfrm>
            <a:off x="7939888" y="5190649"/>
            <a:ext cx="2773680" cy="411480"/>
          </a:xfrm>
          <a:prstGeom prst="rect">
            <a:avLst/>
          </a:prstGeom>
          <a:noFill/>
          <a:ln/>
        </p:spPr>
        <p:txBody>
          <a:bodyPr wrap="square" lIns="0" tIns="0" rIns="0" bIns="0" rtlCol="0" anchor="t"/>
          <a:lstStyle/>
          <a:p>
            <a:pPr marL="0" indent="0" algn="ctr">
              <a:buNone/>
            </a:pPr>
            <a:r>
              <a:rPr lang="en-US" sz="2200" b="1" dirty="0">
                <a:solidFill>
                  <a:srgbClr val="DC8F2E"/>
                </a:solidFill>
                <a:latin typeface="Arial" pitchFamily="34" charset="0"/>
                <a:ea typeface="Arial" pitchFamily="34" charset="-122"/>
                <a:cs typeface="Arial" pitchFamily="34" charset="-120"/>
              </a:rPr>
              <a:t>Agent</a:t>
            </a:r>
            <a:endParaRPr lang="en-US" sz="2200" dirty="0"/>
          </a:p>
        </p:txBody>
      </p:sp>
      <p:sp>
        <p:nvSpPr>
          <p:cNvPr id="11" name="Text 8"/>
          <p:cNvSpPr txBox="1"/>
          <p:nvPr/>
        </p:nvSpPr>
        <p:spPr>
          <a:xfrm>
            <a:off x="7939888" y="5647849"/>
            <a:ext cx="2773680" cy="548640"/>
          </a:xfrm>
          <a:prstGeom prst="rect">
            <a:avLst/>
          </a:prstGeom>
          <a:noFill/>
          <a:ln/>
        </p:spPr>
        <p:txBody>
          <a:bodyPr wrap="square" lIns="0" tIns="0" rIns="0" bIns="0" rtlCol="0" anchor="t"/>
          <a:lstStyle/>
          <a:p>
            <a:pPr marL="0" indent="0" algn="ctr">
              <a:buNone/>
            </a:pPr>
            <a:r>
              <a:rPr lang="en-US" sz="1400" dirty="0">
                <a:solidFill>
                  <a:srgbClr val="5A544F"/>
                </a:solidFill>
                <a:latin typeface="Arial" pitchFamily="34" charset="0"/>
                <a:ea typeface="Arial" pitchFamily="34" charset="-122"/>
                <a:cs typeface="Arial" pitchFamily="34" charset="-120"/>
              </a:rPr>
              <a:t>Reads files, runs commands, edits and checks. This is Claude Code.</a:t>
            </a:r>
            <a:endParaRPr lang="en-US" sz="1400" dirty="0"/>
          </a:p>
        </p:txBody>
      </p:sp>
      <p:sp>
        <p:nvSpPr>
          <p:cNvPr id="12" name="Text 9"/>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13"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993392"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993392"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HOW IT WORKS</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The loop it runs, and what it knows</a:t>
            </a:r>
            <a:endParaRPr lang="en-US" sz="3400" dirty="0"/>
          </a:p>
        </p:txBody>
      </p:sp>
      <p:pic>
        <p:nvPicPr>
          <p:cNvPr id="5" name="Image 0" descr="Circular lifecycle with five stations: read, propose, edit, run, check"/>
          <p:cNvPicPr>
            <a:picLocks noChangeAspect="1"/>
          </p:cNvPicPr>
          <p:nvPr/>
        </p:nvPicPr>
        <p:blipFill>
          <a:blip r:embed="rId3"/>
          <a:stretch>
            <a:fillRect/>
          </a:stretch>
        </p:blipFill>
        <p:spPr>
          <a:xfrm>
            <a:off x="822960" y="1783080"/>
            <a:ext cx="4754880" cy="4754880"/>
          </a:xfrm>
          <a:prstGeom prst="rect">
            <a:avLst/>
          </a:prstGeom>
        </p:spPr>
      </p:pic>
      <p:sp>
        <p:nvSpPr>
          <p:cNvPr id="6" name="Text 3"/>
          <p:cNvSpPr txBox="1"/>
          <p:nvPr/>
        </p:nvSpPr>
        <p:spPr>
          <a:xfrm>
            <a:off x="2468880" y="2951012"/>
            <a:ext cx="1463040" cy="310896"/>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1  Read files</a:t>
            </a:r>
            <a:endParaRPr lang="en-US" sz="1400" dirty="0"/>
          </a:p>
        </p:txBody>
      </p:sp>
      <p:sp>
        <p:nvSpPr>
          <p:cNvPr id="7" name="Text 4"/>
          <p:cNvSpPr txBox="1"/>
          <p:nvPr/>
        </p:nvSpPr>
        <p:spPr>
          <a:xfrm>
            <a:off x="3276481" y="3485007"/>
            <a:ext cx="1005840" cy="310896"/>
          </a:xfrm>
          <a:prstGeom prst="rect">
            <a:avLst/>
          </a:prstGeom>
          <a:noFill/>
          <a:ln/>
        </p:spPr>
        <p:txBody>
          <a:bodyPr wrap="square" lIns="0" tIns="0" rIns="0" bIns="0" rtlCol="0" anchor="t"/>
          <a:lstStyle/>
          <a:p>
            <a:pPr marL="0" indent="0" algn="r">
              <a:buNone/>
            </a:pPr>
            <a:r>
              <a:rPr lang="en-US" sz="1400" b="1" dirty="0">
                <a:solidFill>
                  <a:srgbClr val="2D2926"/>
                </a:solidFill>
                <a:latin typeface="Arial" pitchFamily="34" charset="0"/>
                <a:ea typeface="Arial" pitchFamily="34" charset="-122"/>
                <a:cs typeface="Arial" pitchFamily="34" charset="-120"/>
              </a:rPr>
              <a:t>2  Propose</a:t>
            </a:r>
            <a:endParaRPr lang="en-US" sz="1400" dirty="0"/>
          </a:p>
        </p:txBody>
      </p:sp>
      <p:sp>
        <p:nvSpPr>
          <p:cNvPr id="8" name="Text 5"/>
          <p:cNvSpPr txBox="1"/>
          <p:nvPr/>
        </p:nvSpPr>
        <p:spPr>
          <a:xfrm>
            <a:off x="2835354" y="4785170"/>
            <a:ext cx="1005840" cy="310896"/>
          </a:xfrm>
          <a:prstGeom prst="rect">
            <a:avLst/>
          </a:prstGeom>
          <a:noFill/>
          <a:ln/>
        </p:spPr>
        <p:txBody>
          <a:bodyPr wrap="square" lIns="0" tIns="0" rIns="0" bIns="0" rtlCol="0" anchor="t"/>
          <a:lstStyle/>
          <a:p>
            <a:pPr marL="0" indent="0" algn="r">
              <a:buNone/>
            </a:pPr>
            <a:r>
              <a:rPr lang="en-US" sz="1400" b="1" dirty="0">
                <a:solidFill>
                  <a:srgbClr val="2D2926"/>
                </a:solidFill>
                <a:latin typeface="Arial" pitchFamily="34" charset="0"/>
                <a:ea typeface="Arial" pitchFamily="34" charset="-122"/>
                <a:cs typeface="Arial" pitchFamily="34" charset="-120"/>
              </a:rPr>
              <a:t>3  Edit</a:t>
            </a:r>
            <a:endParaRPr lang="en-US" sz="1400" dirty="0"/>
          </a:p>
        </p:txBody>
      </p:sp>
      <p:sp>
        <p:nvSpPr>
          <p:cNvPr id="9" name="Text 6"/>
          <p:cNvSpPr txBox="1"/>
          <p:nvPr/>
        </p:nvSpPr>
        <p:spPr>
          <a:xfrm>
            <a:off x="2559606" y="4785170"/>
            <a:ext cx="1005840" cy="310896"/>
          </a:xfrm>
          <a:prstGeom prst="rect">
            <a:avLst/>
          </a:prstGeom>
          <a:noFill/>
          <a:ln/>
        </p:spPr>
        <p:txBody>
          <a:bodyPr wrap="square" lIns="0" tIns="0" rIns="0" bIns="0" rtlCol="0" anchor="t"/>
          <a:lstStyle/>
          <a:p>
            <a:pPr marL="0" indent="0" algn="l">
              <a:buNone/>
            </a:pPr>
            <a:r>
              <a:rPr lang="en-US" sz="1400" b="1" dirty="0">
                <a:solidFill>
                  <a:srgbClr val="2D2926"/>
                </a:solidFill>
                <a:latin typeface="Arial" pitchFamily="34" charset="0"/>
                <a:ea typeface="Arial" pitchFamily="34" charset="-122"/>
                <a:cs typeface="Arial" pitchFamily="34" charset="-120"/>
              </a:rPr>
              <a:t>4  Run</a:t>
            </a:r>
            <a:endParaRPr lang="en-US" sz="1400" dirty="0"/>
          </a:p>
        </p:txBody>
      </p:sp>
      <p:sp>
        <p:nvSpPr>
          <p:cNvPr id="10" name="Text 7"/>
          <p:cNvSpPr txBox="1"/>
          <p:nvPr/>
        </p:nvSpPr>
        <p:spPr>
          <a:xfrm>
            <a:off x="2118479" y="3485007"/>
            <a:ext cx="1005840" cy="310896"/>
          </a:xfrm>
          <a:prstGeom prst="rect">
            <a:avLst/>
          </a:prstGeom>
          <a:noFill/>
          <a:ln/>
        </p:spPr>
        <p:txBody>
          <a:bodyPr wrap="square" lIns="0" tIns="0" rIns="0" bIns="0" rtlCol="0" anchor="t"/>
          <a:lstStyle/>
          <a:p>
            <a:pPr marL="0" indent="0" algn="l">
              <a:buNone/>
            </a:pPr>
            <a:r>
              <a:rPr lang="en-US" sz="1400" b="1" dirty="0">
                <a:solidFill>
                  <a:srgbClr val="2D2926"/>
                </a:solidFill>
                <a:latin typeface="Arial" pitchFamily="34" charset="0"/>
                <a:ea typeface="Arial" pitchFamily="34" charset="-122"/>
                <a:cs typeface="Arial" pitchFamily="34" charset="-120"/>
              </a:rPr>
              <a:t>5  Check</a:t>
            </a:r>
            <a:endParaRPr lang="en-US" sz="1400" dirty="0"/>
          </a:p>
        </p:txBody>
      </p:sp>
      <p:sp>
        <p:nvSpPr>
          <p:cNvPr id="11" name="Text 8"/>
          <p:cNvSpPr txBox="1"/>
          <p:nvPr/>
        </p:nvSpPr>
        <p:spPr>
          <a:xfrm>
            <a:off x="2468880" y="4114800"/>
            <a:ext cx="1463040" cy="320040"/>
          </a:xfrm>
          <a:prstGeom prst="rect">
            <a:avLst/>
          </a:prstGeom>
          <a:noFill/>
          <a:ln/>
        </p:spPr>
        <p:txBody>
          <a:bodyPr wrap="square" lIns="0" tIns="0" rIns="0" bIns="0" rtlCol="0" anchor="t"/>
          <a:lstStyle/>
          <a:p>
            <a:pPr marL="0" indent="0" algn="ctr">
              <a:buNone/>
            </a:pPr>
            <a:r>
              <a:rPr lang="en-US" sz="1500" i="1" dirty="0">
                <a:solidFill>
                  <a:srgbClr val="5A544F"/>
                </a:solidFill>
                <a:latin typeface="Arial" pitchFamily="34" charset="0"/>
                <a:ea typeface="Arial" pitchFamily="34" charset="-122"/>
                <a:cs typeface="Arial" pitchFamily="34" charset="-120"/>
              </a:rPr>
              <a:t>repeat</a:t>
            </a:r>
            <a:endParaRPr lang="en-US" sz="1500" dirty="0"/>
          </a:p>
        </p:txBody>
      </p:sp>
      <p:sp>
        <p:nvSpPr>
          <p:cNvPr id="12" name="Shape 9"/>
          <p:cNvSpPr/>
          <p:nvPr/>
        </p:nvSpPr>
        <p:spPr>
          <a:xfrm>
            <a:off x="6309360" y="2011680"/>
            <a:ext cx="5333695" cy="3566160"/>
          </a:xfrm>
          <a:prstGeom prst="roundRect">
            <a:avLst>
              <a:gd name="adj" fmla="val 4103"/>
            </a:avLst>
          </a:prstGeom>
          <a:solidFill>
            <a:srgbClr val="F7F5F3"/>
          </a:solidFill>
          <a:ln w="9525">
            <a:solidFill>
              <a:srgbClr val="E4DED8"/>
            </a:solidFill>
            <a:prstDash val="solid"/>
          </a:ln>
        </p:spPr>
        <p:txBody>
          <a:bodyPr/>
          <a:lstStyle/>
          <a:p>
            <a:endParaRPr lang="en-US"/>
          </a:p>
        </p:txBody>
      </p:sp>
      <p:sp>
        <p:nvSpPr>
          <p:cNvPr id="13" name="Text 10"/>
          <p:cNvSpPr txBox="1"/>
          <p:nvPr/>
        </p:nvSpPr>
        <p:spPr>
          <a:xfrm>
            <a:off x="6675120" y="2286000"/>
            <a:ext cx="4602175" cy="457200"/>
          </a:xfrm>
          <a:prstGeom prst="rect">
            <a:avLst/>
          </a:prstGeom>
          <a:noFill/>
          <a:ln/>
        </p:spPr>
        <p:txBody>
          <a:bodyPr wrap="square" lIns="0" tIns="0" rIns="0" bIns="0" rtlCol="0" anchor="t"/>
          <a:lstStyle/>
          <a:p>
            <a:pPr marL="0" indent="0">
              <a:buNone/>
            </a:pPr>
            <a:r>
              <a:rPr lang="en-US" sz="2200" b="1" dirty="0">
                <a:solidFill>
                  <a:srgbClr val="2D2926"/>
                </a:solidFill>
                <a:latin typeface="Arial" pitchFamily="34" charset="0"/>
                <a:ea typeface="Arial" pitchFamily="34" charset="-122"/>
                <a:cs typeface="Arial" pitchFamily="34" charset="-120"/>
              </a:rPr>
              <a:t>Context is the whole game</a:t>
            </a:r>
            <a:endParaRPr lang="en-US" sz="2200" dirty="0"/>
          </a:p>
        </p:txBody>
      </p:sp>
      <p:sp>
        <p:nvSpPr>
          <p:cNvPr id="14" name="Text 11"/>
          <p:cNvSpPr txBox="1"/>
          <p:nvPr/>
        </p:nvSpPr>
        <p:spPr>
          <a:xfrm>
            <a:off x="6675120" y="2926080"/>
            <a:ext cx="4602175"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5A544F"/>
                </a:solidFill>
                <a:latin typeface="Arial" pitchFamily="34" charset="0"/>
                <a:ea typeface="Arial" pitchFamily="34" charset="-122"/>
                <a:cs typeface="Arial" pitchFamily="34" charset="-120"/>
              </a:rPr>
              <a:t>What's in the project folder</a:t>
            </a:r>
            <a:endParaRPr lang="en-US" sz="1600" dirty="0"/>
          </a:p>
          <a:p>
            <a:pPr marL="342900" indent="-342900">
              <a:spcAft>
                <a:spcPts val="1000"/>
              </a:spcAft>
              <a:buSzPct val="100000"/>
              <a:buChar char="•"/>
            </a:pPr>
            <a:r>
              <a:rPr lang="en-US" sz="1600" dirty="0">
                <a:solidFill>
                  <a:srgbClr val="5A544F"/>
                </a:solidFill>
                <a:latin typeface="Arial" pitchFamily="34" charset="0"/>
                <a:ea typeface="Arial" pitchFamily="34" charset="-122"/>
                <a:cs typeface="Arial" pitchFamily="34" charset="-120"/>
              </a:rPr>
              <a:t>What you tell it in the session</a:t>
            </a:r>
            <a:endParaRPr lang="en-US" sz="1600" dirty="0"/>
          </a:p>
          <a:p>
            <a:pPr marL="342900" indent="-342900">
              <a:spcAft>
                <a:spcPts val="1000"/>
              </a:spcAft>
              <a:buSzPct val="100000"/>
              <a:buChar char="•"/>
            </a:pPr>
            <a:r>
              <a:rPr lang="en-US" sz="1600" dirty="0">
                <a:solidFill>
                  <a:srgbClr val="5A544F"/>
                </a:solidFill>
                <a:latin typeface="Arial" pitchFamily="34" charset="0"/>
                <a:ea typeface="Arial" pitchFamily="34" charset="-122"/>
                <a:cs typeface="Arial" pitchFamily="34" charset="-120"/>
              </a:rPr>
              <a:t>CLAUDE.md, a short file it reads every session</a:t>
            </a:r>
            <a:endParaRPr lang="en-US" sz="1600" dirty="0"/>
          </a:p>
          <a:p>
            <a:pPr marL="342900" indent="-342900">
              <a:spcAft>
                <a:spcPts val="1000"/>
              </a:spcAft>
              <a:buSzPct val="100000"/>
              <a:buChar char="•"/>
            </a:pPr>
            <a:r>
              <a:rPr lang="en-US" sz="1600" dirty="0">
                <a:solidFill>
                  <a:srgbClr val="5A544F"/>
                </a:solidFill>
                <a:latin typeface="Arial" pitchFamily="34" charset="0"/>
                <a:ea typeface="Arial" pitchFamily="34" charset="-122"/>
                <a:cs typeface="Arial" pitchFamily="34" charset="-120"/>
              </a:rPr>
              <a:t>You approve actions through permissions</a:t>
            </a:r>
            <a:endParaRPr lang="en-US" sz="1600" dirty="0"/>
          </a:p>
        </p:txBody>
      </p:sp>
      <p:sp>
        <p:nvSpPr>
          <p:cNvPr id="15" name="Text 1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16" name="Text 13"/>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92420"/>
        </a:solidFill>
        <a:effectLst/>
      </p:bgPr>
    </p:bg>
    <p:spTree>
      <p:nvGrpSpPr>
        <p:cNvPr id="1" name=""/>
        <p:cNvGrpSpPr/>
        <p:nvPr/>
      </p:nvGrpSpPr>
      <p:grpSpPr>
        <a:xfrm>
          <a:off x="0" y="0"/>
          <a:ext cx="0" cy="0"/>
          <a:chOff x="0" y="0"/>
          <a:chExt cx="0" cy="0"/>
        </a:xfrm>
      </p:grpSpPr>
      <p:pic>
        <p:nvPicPr>
          <p:cNvPr id="2" name="Image 0" descr="A tech lead sketches a plan on a whiteboard while an eager robot junior carries a stack of papers"/>
          <p:cNvPicPr>
            <a:picLocks noChangeAspect="1"/>
          </p:cNvPicPr>
          <p:nvPr/>
        </p:nvPicPr>
        <p:blipFill>
          <a:blip r:embed="rId3"/>
          <a:stretch>
            <a:fillRect/>
          </a:stretch>
        </p:blipFill>
        <p:spPr>
          <a:xfrm>
            <a:off x="7619695" y="0"/>
            <a:ext cx="4572000" cy="6858000"/>
          </a:xfrm>
          <a:prstGeom prst="rect">
            <a:avLst/>
          </a:prstGeom>
        </p:spPr>
      </p:pic>
      <p:sp>
        <p:nvSpPr>
          <p:cNvPr id="3" name="Shape 0"/>
          <p:cNvSpPr/>
          <p:nvPr/>
        </p:nvSpPr>
        <p:spPr>
          <a:xfrm>
            <a:off x="548640" y="1097280"/>
            <a:ext cx="2505456" cy="329184"/>
          </a:xfrm>
          <a:prstGeom prst="roundRect">
            <a:avLst>
              <a:gd name="adj" fmla="val 50000"/>
            </a:avLst>
          </a:prstGeom>
          <a:solidFill>
            <a:srgbClr val="F6921E"/>
          </a:solidFill>
          <a:ln/>
        </p:spPr>
        <p:txBody>
          <a:bodyPr/>
          <a:lstStyle/>
          <a:p>
            <a:endParaRPr lang="en-US"/>
          </a:p>
        </p:txBody>
      </p:sp>
      <p:sp>
        <p:nvSpPr>
          <p:cNvPr id="4" name="Text 1"/>
          <p:cNvSpPr txBox="1"/>
          <p:nvPr/>
        </p:nvSpPr>
        <p:spPr>
          <a:xfrm>
            <a:off x="548640" y="1097280"/>
            <a:ext cx="250545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MENTAL MODEL</a:t>
            </a:r>
            <a:endParaRPr lang="en-US" sz="1100" dirty="0"/>
          </a:p>
        </p:txBody>
      </p:sp>
      <p:sp>
        <p:nvSpPr>
          <p:cNvPr id="5" name="Text 2"/>
          <p:cNvSpPr txBox="1"/>
          <p:nvPr/>
        </p:nvSpPr>
        <p:spPr>
          <a:xfrm>
            <a:off x="548640" y="1783080"/>
            <a:ext cx="6766560" cy="822960"/>
          </a:xfrm>
          <a:prstGeom prst="rect">
            <a:avLst/>
          </a:prstGeom>
          <a:noFill/>
          <a:ln/>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You're the tech lead.</a:t>
            </a:r>
            <a:endParaRPr lang="en-US" sz="4400" dirty="0"/>
          </a:p>
        </p:txBody>
      </p:sp>
      <p:sp>
        <p:nvSpPr>
          <p:cNvPr id="6" name="Text 3"/>
          <p:cNvSpPr txBox="1"/>
          <p:nvPr/>
        </p:nvSpPr>
        <p:spPr>
          <a:xfrm>
            <a:off x="548640" y="2651760"/>
            <a:ext cx="6766560" cy="1371600"/>
          </a:xfrm>
          <a:prstGeom prst="rect">
            <a:avLst/>
          </a:prstGeom>
          <a:noFill/>
          <a:ln/>
        </p:spPr>
        <p:txBody>
          <a:bodyPr wrap="square" lIns="0" tIns="0" rIns="0" bIns="0" rtlCol="0" anchor="t"/>
          <a:lstStyle/>
          <a:p>
            <a:pPr marL="0" indent="0">
              <a:buNone/>
            </a:pPr>
            <a:r>
              <a:rPr lang="en-US" sz="3600" b="1" dirty="0">
                <a:solidFill>
                  <a:srgbClr val="F6921E"/>
                </a:solidFill>
                <a:latin typeface="Arial" pitchFamily="34" charset="0"/>
                <a:ea typeface="Arial" pitchFamily="34" charset="-122"/>
                <a:cs typeface="Arial" pitchFamily="34" charset="-120"/>
              </a:rPr>
              <a:t>It's a fast junior dev with no memory of yesterday.</a:t>
            </a:r>
            <a:endParaRPr lang="en-US" sz="3600" dirty="0"/>
          </a:p>
        </p:txBody>
      </p:sp>
      <p:sp>
        <p:nvSpPr>
          <p:cNvPr id="7" name="Text 4"/>
          <p:cNvSpPr txBox="1"/>
          <p:nvPr/>
        </p:nvSpPr>
        <p:spPr>
          <a:xfrm>
            <a:off x="548640" y="4389120"/>
            <a:ext cx="6217920" cy="822960"/>
          </a:xfrm>
          <a:prstGeom prst="rect">
            <a:avLst/>
          </a:prstGeom>
          <a:noFill/>
          <a:ln/>
        </p:spPr>
        <p:txBody>
          <a:bodyPr wrap="square" lIns="0" tIns="0" rIns="0" bIns="0" rtlCol="0" anchor="t"/>
          <a:lstStyle/>
          <a:p>
            <a:pPr marL="0" indent="0">
              <a:buNone/>
            </a:pPr>
            <a:r>
              <a:rPr lang="en-US" sz="1800" dirty="0">
                <a:solidFill>
                  <a:srgbClr val="E4DED8"/>
                </a:solidFill>
                <a:latin typeface="Arial" pitchFamily="34" charset="0"/>
                <a:ea typeface="Arial" pitchFamily="34" charset="-122"/>
                <a:cs typeface="Arial" pitchFamily="34" charset="-120"/>
              </a:rPr>
              <a:t>Eager, tireless, and sometimes confidently wrong. Your job: scope the work, review it, and decide what ships.</a:t>
            </a:r>
            <a:endParaRPr lang="en-US" sz="1800" dirty="0"/>
          </a:p>
        </p:txBody>
      </p:sp>
      <p:sp>
        <p:nvSpPr>
          <p:cNvPr id="8" name="Text 5"/>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BFB8B1"/>
                </a:solidFill>
                <a:latin typeface="Arial" pitchFamily="34" charset="0"/>
                <a:ea typeface="Arial" pitchFamily="34" charset="-122"/>
                <a:cs typeface="Arial" pitchFamily="34" charset="-120"/>
              </a:rPr>
              <a:t>You Can Build That  ·  CITN26</a:t>
            </a:r>
            <a:endParaRPr lang="en-US" sz="1000" dirty="0"/>
          </a:p>
        </p:txBody>
      </p:sp>
      <p:sp>
        <p:nvSpPr>
          <p:cNvPr id="9" name="Text 6"/>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BFB8B1"/>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0934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60934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The daily loop, on a real church task</a:t>
            </a:r>
            <a:endParaRPr lang="en-US" sz="3400" dirty="0"/>
          </a:p>
        </p:txBody>
      </p:sp>
      <p:pic>
        <p:nvPicPr>
          <p:cNvPr id="5" name="Image 0" descr="preencoded.png"/>
          <p:cNvPicPr>
            <a:picLocks noChangeAspect="1"/>
          </p:cNvPicPr>
          <p:nvPr/>
        </p:nvPicPr>
        <p:blipFill>
          <a:blip r:embed="rId3"/>
          <a:stretch>
            <a:fillRect/>
          </a:stretch>
        </p:blipFill>
        <p:spPr>
          <a:xfrm>
            <a:off x="548640" y="1801368"/>
            <a:ext cx="274320" cy="274320"/>
          </a:xfrm>
          <a:prstGeom prst="rect">
            <a:avLst/>
          </a:prstGeom>
        </p:spPr>
      </p:pic>
      <p:sp>
        <p:nvSpPr>
          <p:cNvPr id="6" name="Text 3"/>
          <p:cNvSpPr txBox="1"/>
          <p:nvPr/>
        </p:nvSpPr>
        <p:spPr>
          <a:xfrm>
            <a:off x="960120" y="1755648"/>
            <a:ext cx="10682935" cy="365760"/>
          </a:xfrm>
          <a:prstGeom prst="rect">
            <a:avLst/>
          </a:prstGeom>
          <a:noFill/>
          <a:ln/>
        </p:spPr>
        <p:txBody>
          <a:bodyPr wrap="square" lIns="0" tIns="0" rIns="0" bIns="0" rtlCol="0" anchor="ctr"/>
          <a:lstStyle/>
          <a:p>
            <a:pPr marL="0" indent="0">
              <a:buNone/>
            </a:pPr>
            <a:r>
              <a:rPr lang="en-US" sz="1600" dirty="0">
                <a:solidFill>
                  <a:srgbClr val="2D2926"/>
                </a:solidFill>
                <a:latin typeface="Arial" pitchFamily="34" charset="0"/>
                <a:ea typeface="Arial" pitchFamily="34" charset="-122"/>
                <a:cs typeface="Arial" pitchFamily="34" charset="-120"/>
              </a:rPr>
              <a:t>Turn last month's ChMS guest export into a first-time guest follow-up list, with duplicates flagged.</a:t>
            </a:r>
            <a:endParaRPr lang="en-US" sz="1600" dirty="0"/>
          </a:p>
        </p:txBody>
      </p:sp>
      <p:pic>
        <p:nvPicPr>
          <p:cNvPr id="7" name="Image 1" descr="Pipeline: a messy spreadsheet passes through plan, build, test and commit stations and comes out as a clean follow-up list"/>
          <p:cNvPicPr>
            <a:picLocks noChangeAspect="1"/>
          </p:cNvPicPr>
          <p:nvPr/>
        </p:nvPicPr>
        <p:blipFill>
          <a:blip r:embed="rId4"/>
          <a:stretch>
            <a:fillRect/>
          </a:stretch>
        </p:blipFill>
        <p:spPr>
          <a:xfrm>
            <a:off x="548640" y="2240280"/>
            <a:ext cx="11094415" cy="3033629"/>
          </a:xfrm>
          <a:prstGeom prst="rect">
            <a:avLst/>
          </a:prstGeom>
        </p:spPr>
      </p:pic>
      <p:sp>
        <p:nvSpPr>
          <p:cNvPr id="8" name="Text 4"/>
          <p:cNvSpPr txBox="1"/>
          <p:nvPr/>
        </p:nvSpPr>
        <p:spPr>
          <a:xfrm>
            <a:off x="3012112" y="4732190"/>
            <a:ext cx="1645920" cy="365760"/>
          </a:xfrm>
          <a:prstGeom prst="rect">
            <a:avLst/>
          </a:prstGeom>
          <a:noFill/>
          <a:ln/>
        </p:spPr>
        <p:txBody>
          <a:bodyPr wrap="square" lIns="0" tIns="0" rIns="0" bIns="0" rtlCol="0" anchor="t"/>
          <a:lstStyle/>
          <a:p>
            <a:pPr marL="0" indent="0" algn="ctr">
              <a:buNone/>
            </a:pPr>
            <a:r>
              <a:rPr lang="en-US" sz="1800" b="1" dirty="0">
                <a:solidFill>
                  <a:srgbClr val="2D2926"/>
                </a:solidFill>
                <a:latin typeface="Arial" pitchFamily="34" charset="0"/>
                <a:ea typeface="Arial" pitchFamily="34" charset="-122"/>
                <a:cs typeface="Arial" pitchFamily="34" charset="-120"/>
              </a:rPr>
              <a:t>Plan</a:t>
            </a:r>
            <a:endParaRPr lang="en-US" sz="1800" dirty="0"/>
          </a:p>
        </p:txBody>
      </p:sp>
      <p:sp>
        <p:nvSpPr>
          <p:cNvPr id="9" name="Text 5"/>
          <p:cNvSpPr txBox="1"/>
          <p:nvPr/>
        </p:nvSpPr>
        <p:spPr>
          <a:xfrm>
            <a:off x="3103552" y="5097950"/>
            <a:ext cx="1463040" cy="27432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Plan mode first</a:t>
            </a:r>
            <a:endParaRPr lang="en-US" sz="1200" dirty="0"/>
          </a:p>
        </p:txBody>
      </p:sp>
      <p:sp>
        <p:nvSpPr>
          <p:cNvPr id="10" name="Text 6"/>
          <p:cNvSpPr txBox="1"/>
          <p:nvPr/>
        </p:nvSpPr>
        <p:spPr>
          <a:xfrm>
            <a:off x="4507257" y="4732190"/>
            <a:ext cx="1645920" cy="365760"/>
          </a:xfrm>
          <a:prstGeom prst="rect">
            <a:avLst/>
          </a:prstGeom>
          <a:noFill/>
          <a:ln/>
        </p:spPr>
        <p:txBody>
          <a:bodyPr wrap="square" lIns="0" tIns="0" rIns="0" bIns="0" rtlCol="0" anchor="t"/>
          <a:lstStyle/>
          <a:p>
            <a:pPr marL="0" indent="0" algn="ctr">
              <a:buNone/>
            </a:pPr>
            <a:r>
              <a:rPr lang="en-US" sz="1800" b="1" dirty="0">
                <a:solidFill>
                  <a:srgbClr val="2D2926"/>
                </a:solidFill>
                <a:latin typeface="Arial" pitchFamily="34" charset="0"/>
                <a:ea typeface="Arial" pitchFamily="34" charset="-122"/>
                <a:cs typeface="Arial" pitchFamily="34" charset="-120"/>
              </a:rPr>
              <a:t>Build</a:t>
            </a:r>
            <a:endParaRPr lang="en-US" sz="1800" dirty="0"/>
          </a:p>
        </p:txBody>
      </p:sp>
      <p:sp>
        <p:nvSpPr>
          <p:cNvPr id="11" name="Text 7"/>
          <p:cNvSpPr txBox="1"/>
          <p:nvPr/>
        </p:nvSpPr>
        <p:spPr>
          <a:xfrm>
            <a:off x="4598697" y="5097950"/>
            <a:ext cx="1463040" cy="27432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Approve actions</a:t>
            </a:r>
            <a:endParaRPr lang="en-US" sz="1200" dirty="0"/>
          </a:p>
        </p:txBody>
      </p:sp>
      <p:sp>
        <p:nvSpPr>
          <p:cNvPr id="12" name="Text 8"/>
          <p:cNvSpPr txBox="1"/>
          <p:nvPr/>
        </p:nvSpPr>
        <p:spPr>
          <a:xfrm>
            <a:off x="6009626" y="4732190"/>
            <a:ext cx="1645920" cy="365760"/>
          </a:xfrm>
          <a:prstGeom prst="rect">
            <a:avLst/>
          </a:prstGeom>
          <a:noFill/>
          <a:ln/>
        </p:spPr>
        <p:txBody>
          <a:bodyPr wrap="square" lIns="0" tIns="0" rIns="0" bIns="0" rtlCol="0" anchor="t"/>
          <a:lstStyle/>
          <a:p>
            <a:pPr marL="0" indent="0" algn="ctr">
              <a:buNone/>
            </a:pPr>
            <a:r>
              <a:rPr lang="en-US" sz="1800" b="1" dirty="0">
                <a:solidFill>
                  <a:srgbClr val="2D2926"/>
                </a:solidFill>
                <a:latin typeface="Arial" pitchFamily="34" charset="0"/>
                <a:ea typeface="Arial" pitchFamily="34" charset="-122"/>
                <a:cs typeface="Arial" pitchFamily="34" charset="-120"/>
              </a:rPr>
              <a:t>Test</a:t>
            </a:r>
            <a:endParaRPr lang="en-US" sz="1800" dirty="0"/>
          </a:p>
        </p:txBody>
      </p:sp>
      <p:sp>
        <p:nvSpPr>
          <p:cNvPr id="13" name="Text 9"/>
          <p:cNvSpPr txBox="1"/>
          <p:nvPr/>
        </p:nvSpPr>
        <p:spPr>
          <a:xfrm>
            <a:off x="6101066" y="5097950"/>
            <a:ext cx="1463040" cy="27432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Catch bad data</a:t>
            </a:r>
            <a:endParaRPr lang="en-US" sz="1200" dirty="0"/>
          </a:p>
        </p:txBody>
      </p:sp>
      <p:sp>
        <p:nvSpPr>
          <p:cNvPr id="14" name="Text 10"/>
          <p:cNvSpPr txBox="1"/>
          <p:nvPr/>
        </p:nvSpPr>
        <p:spPr>
          <a:xfrm>
            <a:off x="7526441" y="4732190"/>
            <a:ext cx="1645920" cy="365760"/>
          </a:xfrm>
          <a:prstGeom prst="rect">
            <a:avLst/>
          </a:prstGeom>
          <a:noFill/>
          <a:ln/>
        </p:spPr>
        <p:txBody>
          <a:bodyPr wrap="square" lIns="0" tIns="0" rIns="0" bIns="0" rtlCol="0" anchor="t"/>
          <a:lstStyle/>
          <a:p>
            <a:pPr marL="0" indent="0" algn="ctr">
              <a:buNone/>
            </a:pPr>
            <a:r>
              <a:rPr lang="en-US" sz="1800" b="1" dirty="0">
                <a:solidFill>
                  <a:srgbClr val="2D2926"/>
                </a:solidFill>
                <a:latin typeface="Arial" pitchFamily="34" charset="0"/>
                <a:ea typeface="Arial" pitchFamily="34" charset="-122"/>
                <a:cs typeface="Arial" pitchFamily="34" charset="-120"/>
              </a:rPr>
              <a:t>Commit</a:t>
            </a:r>
            <a:endParaRPr lang="en-US" sz="1800" dirty="0"/>
          </a:p>
        </p:txBody>
      </p:sp>
      <p:sp>
        <p:nvSpPr>
          <p:cNvPr id="15" name="Text 11"/>
          <p:cNvSpPr txBox="1"/>
          <p:nvPr/>
        </p:nvSpPr>
        <p:spPr>
          <a:xfrm>
            <a:off x="7617881" y="5097950"/>
            <a:ext cx="1463040" cy="27432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Then /clear</a:t>
            </a:r>
            <a:endParaRPr lang="en-US" sz="1200" dirty="0"/>
          </a:p>
        </p:txBody>
      </p:sp>
      <p:sp>
        <p:nvSpPr>
          <p:cNvPr id="16" name="Text 12"/>
          <p:cNvSpPr txBox="1"/>
          <p:nvPr/>
        </p:nvSpPr>
        <p:spPr>
          <a:xfrm>
            <a:off x="881348" y="5201680"/>
            <a:ext cx="1645920" cy="32004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Guest CSV</a:t>
            </a:r>
            <a:endParaRPr lang="en-US" sz="1400" dirty="0"/>
          </a:p>
        </p:txBody>
      </p:sp>
      <p:sp>
        <p:nvSpPr>
          <p:cNvPr id="17" name="Text 13"/>
          <p:cNvSpPr txBox="1"/>
          <p:nvPr/>
        </p:nvSpPr>
        <p:spPr>
          <a:xfrm>
            <a:off x="9693319" y="5201680"/>
            <a:ext cx="1645920" cy="32004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Follow-up list</a:t>
            </a:r>
            <a:endParaRPr lang="en-US" sz="1400" dirty="0"/>
          </a:p>
        </p:txBody>
      </p:sp>
      <p:sp>
        <p:nvSpPr>
          <p:cNvPr id="18" name="Text 14"/>
          <p:cNvSpPr txBox="1"/>
          <p:nvPr/>
        </p:nvSpPr>
        <p:spPr>
          <a:xfrm>
            <a:off x="548640" y="5806440"/>
            <a:ext cx="11094415" cy="365760"/>
          </a:xfrm>
          <a:prstGeom prst="rect">
            <a:avLst/>
          </a:prstGeom>
          <a:noFill/>
          <a:ln/>
        </p:spPr>
        <p:txBody>
          <a:bodyPr wrap="square" lIns="0" tIns="0" rIns="0" bIns="0" rtlCol="0" anchor="t"/>
          <a:lstStyle/>
          <a:p>
            <a:pPr marL="0" indent="0">
              <a:buNone/>
            </a:pPr>
            <a:r>
              <a:rPr lang="en-US" sz="1600" b="1" i="1" dirty="0">
                <a:solidFill>
                  <a:srgbClr val="2D2926"/>
                </a:solidFill>
                <a:latin typeface="Arial" pitchFamily="34" charset="0"/>
                <a:ea typeface="Arial" pitchFamily="34" charset="-122"/>
                <a:cs typeface="Arial" pitchFamily="34" charset="-120"/>
              </a:rPr>
              <a:t>About 8 minutes for what would take a generalist a day of searching.</a:t>
            </a:r>
            <a:endParaRPr lang="en-US" sz="1600" dirty="0"/>
          </a:p>
        </p:txBody>
      </p:sp>
      <p:sp>
        <p:nvSpPr>
          <p:cNvPr id="19" name="Text 15"/>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20" name="Text 16"/>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92420"/>
        </a:solidFill>
        <a:effectLst/>
      </p:bgPr>
    </p:bg>
    <p:spTree>
      <p:nvGrpSpPr>
        <p:cNvPr id="1" name=""/>
        <p:cNvGrpSpPr/>
        <p:nvPr/>
      </p:nvGrpSpPr>
      <p:grpSpPr>
        <a:xfrm>
          <a:off x="0" y="0"/>
          <a:ext cx="0" cy="0"/>
          <a:chOff x="0" y="0"/>
          <a:chExt cx="0" cy="0"/>
        </a:xfrm>
      </p:grpSpPr>
      <p:sp>
        <p:nvSpPr>
          <p:cNvPr id="2" name="Shape 0"/>
          <p:cNvSpPr/>
          <p:nvPr/>
        </p:nvSpPr>
        <p:spPr>
          <a:xfrm>
            <a:off x="548640" y="457200"/>
            <a:ext cx="301752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301752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  1 OF 4</a:t>
            </a:r>
            <a:endParaRPr lang="en-US" sz="1100" dirty="0"/>
          </a:p>
        </p:txBody>
      </p:sp>
      <p:sp>
        <p:nvSpPr>
          <p:cNvPr id="4" name="Shape 2"/>
          <p:cNvSpPr/>
          <p:nvPr/>
        </p:nvSpPr>
        <p:spPr>
          <a:xfrm>
            <a:off x="8570671" y="457200"/>
            <a:ext cx="3072384" cy="329184"/>
          </a:xfrm>
          <a:prstGeom prst="roundRect">
            <a:avLst>
              <a:gd name="adj" fmla="val 50000"/>
            </a:avLst>
          </a:prstGeom>
          <a:ln w="12700">
            <a:solidFill>
              <a:srgbClr val="BFB8B1"/>
            </a:solidFill>
            <a:prstDash val="solid"/>
          </a:ln>
        </p:spPr>
        <p:txBody>
          <a:bodyPr/>
          <a:lstStyle/>
          <a:p>
            <a:endParaRPr lang="en-US"/>
          </a:p>
        </p:txBody>
      </p:sp>
      <p:sp>
        <p:nvSpPr>
          <p:cNvPr id="5" name="Text 3"/>
          <p:cNvSpPr txBox="1"/>
          <p:nvPr/>
        </p:nvSpPr>
        <p:spPr>
          <a:xfrm>
            <a:off x="8570671" y="457200"/>
            <a:ext cx="307238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~5 MIN  ·  10:00-15:00</a:t>
            </a:r>
            <a:endParaRPr lang="en-US" sz="1100" dirty="0"/>
          </a:p>
        </p:txBody>
      </p:sp>
      <p:sp>
        <p:nvSpPr>
          <p:cNvPr id="6" name="Text 4"/>
          <p:cNvSpPr txBox="1"/>
          <p:nvPr/>
        </p:nvSpPr>
        <p:spPr>
          <a:xfrm>
            <a:off x="548640" y="9144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Plan, then build</a:t>
            </a:r>
            <a:endParaRPr lang="en-US" sz="3600" dirty="0"/>
          </a:p>
        </p:txBody>
      </p:sp>
      <p:sp>
        <p:nvSpPr>
          <p:cNvPr id="7" name="Text 5"/>
          <p:cNvSpPr txBox="1"/>
          <p:nvPr/>
        </p:nvSpPr>
        <p:spPr>
          <a:xfrm>
            <a:off x="548640" y="1645920"/>
            <a:ext cx="7315200" cy="365760"/>
          </a:xfrm>
          <a:prstGeom prst="rect">
            <a:avLst/>
          </a:prstGeom>
          <a:noFill/>
          <a:ln/>
        </p:spPr>
        <p:txBody>
          <a:bodyPr wrap="square" lIns="0" tIns="0" rIns="0" bIns="0" rtlCol="0" anchor="t"/>
          <a:lstStyle/>
          <a:p>
            <a:pPr marL="0" indent="0">
              <a:buNone/>
            </a:pPr>
            <a:r>
              <a:rPr lang="en-US" sz="1800" b="1" dirty="0">
                <a:solidFill>
                  <a:srgbClr val="F6921E"/>
                </a:solidFill>
                <a:latin typeface="Arial" pitchFamily="34" charset="0"/>
                <a:ea typeface="Arial" pitchFamily="34" charset="-122"/>
                <a:cs typeface="Arial" pitchFamily="34" charset="-120"/>
              </a:rPr>
              <a:t>Guest Follow-Up Board  ·  part 1</a:t>
            </a:r>
            <a:endParaRPr lang="en-US" sz="1800" dirty="0"/>
          </a:p>
        </p:txBody>
      </p:sp>
      <p:sp>
        <p:nvSpPr>
          <p:cNvPr id="8" name="Shape 6"/>
          <p:cNvSpPr/>
          <p:nvPr/>
        </p:nvSpPr>
        <p:spPr>
          <a:xfrm>
            <a:off x="7546543" y="1280160"/>
            <a:ext cx="914400" cy="365760"/>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9" name="Text 7"/>
          <p:cNvSpPr txBox="1"/>
          <p:nvPr/>
        </p:nvSpPr>
        <p:spPr>
          <a:xfrm>
            <a:off x="7546543" y="1280160"/>
            <a:ext cx="914400" cy="36576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Plan</a:t>
            </a:r>
            <a:endParaRPr lang="en-US" sz="1200" dirty="0"/>
          </a:p>
        </p:txBody>
      </p:sp>
      <p:sp>
        <p:nvSpPr>
          <p:cNvPr id="10" name="Shape 8"/>
          <p:cNvSpPr/>
          <p:nvPr/>
        </p:nvSpPr>
        <p:spPr>
          <a:xfrm>
            <a:off x="8570671" y="1280160"/>
            <a:ext cx="914400" cy="365760"/>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11" name="Text 9"/>
          <p:cNvSpPr txBox="1"/>
          <p:nvPr/>
        </p:nvSpPr>
        <p:spPr>
          <a:xfrm>
            <a:off x="8570671" y="1280160"/>
            <a:ext cx="914400" cy="36576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Build</a:t>
            </a:r>
            <a:endParaRPr lang="en-US" sz="1200" dirty="0"/>
          </a:p>
        </p:txBody>
      </p:sp>
      <p:sp>
        <p:nvSpPr>
          <p:cNvPr id="12" name="Shape 10"/>
          <p:cNvSpPr/>
          <p:nvPr/>
        </p:nvSpPr>
        <p:spPr>
          <a:xfrm>
            <a:off x="9594799"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13" name="Text 11"/>
          <p:cNvSpPr txBox="1"/>
          <p:nvPr/>
        </p:nvSpPr>
        <p:spPr>
          <a:xfrm>
            <a:off x="9594799"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Test</a:t>
            </a:r>
            <a:endParaRPr lang="en-US" sz="1200" dirty="0"/>
          </a:p>
        </p:txBody>
      </p:sp>
      <p:sp>
        <p:nvSpPr>
          <p:cNvPr id="14" name="Shape 12"/>
          <p:cNvSpPr/>
          <p:nvPr/>
        </p:nvSpPr>
        <p:spPr>
          <a:xfrm>
            <a:off x="10618927"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15" name="Text 13"/>
          <p:cNvSpPr txBox="1"/>
          <p:nvPr/>
        </p:nvSpPr>
        <p:spPr>
          <a:xfrm>
            <a:off x="10618927"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Commit</a:t>
            </a:r>
            <a:endParaRPr lang="en-US" sz="1200" dirty="0"/>
          </a:p>
        </p:txBody>
      </p:sp>
      <p:sp>
        <p:nvSpPr>
          <p:cNvPr id="16" name="Text 14"/>
          <p:cNvSpPr txBox="1"/>
          <p:nvPr/>
        </p:nvSpPr>
        <p:spPr>
          <a:xfrm>
            <a:off x="548640" y="242316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SWITCH TO</a:t>
            </a:r>
            <a:endParaRPr lang="en-US" sz="1100" dirty="0"/>
          </a:p>
        </p:txBody>
      </p:sp>
      <p:sp>
        <p:nvSpPr>
          <p:cNvPr id="17" name="Text 15"/>
          <p:cNvSpPr txBox="1"/>
          <p:nvPr/>
        </p:nvSpPr>
        <p:spPr>
          <a:xfrm>
            <a:off x="548640" y="2715768"/>
            <a:ext cx="4754880" cy="54864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Terminal in the guest-followup folder. Shift+Tab into plan mode.</a:t>
            </a:r>
            <a:endParaRPr lang="en-US" sz="1600" dirty="0"/>
          </a:p>
        </p:txBody>
      </p:sp>
      <p:sp>
        <p:nvSpPr>
          <p:cNvPr id="18" name="Text 16"/>
          <p:cNvSpPr txBox="1"/>
          <p:nvPr/>
        </p:nvSpPr>
        <p:spPr>
          <a:xfrm>
            <a:off x="548640" y="342900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WATCH FOR</a:t>
            </a:r>
            <a:endParaRPr lang="en-US" sz="1100" dirty="0"/>
          </a:p>
        </p:txBody>
      </p:sp>
      <p:sp>
        <p:nvSpPr>
          <p:cNvPr id="19" name="Text 17"/>
          <p:cNvSpPr txBox="1"/>
          <p:nvPr/>
        </p:nvSpPr>
        <p:spPr>
          <a:xfrm>
            <a:off x="548640" y="374904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Read the plan out loud; push back on one item</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First permission prompt (npm install): read it to the room</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Drop the CSV on the page: about 192 households, orange duplicate badges</a:t>
            </a:r>
            <a:endParaRPr lang="en-US" sz="1500" dirty="0"/>
          </a:p>
        </p:txBody>
      </p:sp>
      <p:sp>
        <p:nvSpPr>
          <p:cNvPr id="20" name="Shape 18"/>
          <p:cNvSpPr/>
          <p:nvPr/>
        </p:nvSpPr>
        <p:spPr>
          <a:xfrm>
            <a:off x="5715000" y="2377440"/>
            <a:ext cx="5928055" cy="3429000"/>
          </a:xfrm>
          <a:prstGeom prst="roundRect">
            <a:avLst>
              <a:gd name="adj" fmla="val 4267"/>
            </a:avLst>
          </a:prstGeom>
          <a:solidFill>
            <a:srgbClr val="F7F5F3"/>
          </a:solidFill>
          <a:ln w="9525">
            <a:solidFill>
              <a:srgbClr val="E4DED8"/>
            </a:solidFill>
            <a:prstDash val="solid"/>
          </a:ln>
        </p:spPr>
        <p:txBody>
          <a:bodyPr/>
          <a:lstStyle/>
          <a:p>
            <a:endParaRPr lang="en-US"/>
          </a:p>
        </p:txBody>
      </p:sp>
      <p:sp>
        <p:nvSpPr>
          <p:cNvPr id="21" name="Text 19"/>
          <p:cNvSpPr txBox="1"/>
          <p:nvPr/>
        </p:nvSpPr>
        <p:spPr>
          <a:xfrm>
            <a:off x="6035040" y="2651760"/>
            <a:ext cx="5287975" cy="274320"/>
          </a:xfrm>
          <a:prstGeom prst="rect">
            <a:avLst/>
          </a:prstGeom>
          <a:noFill/>
          <a:ln/>
        </p:spPr>
        <p:txBody>
          <a:bodyPr wrap="square" lIns="0" tIns="0" rIns="0" bIns="0" rtlCol="0" anchor="t"/>
          <a:lstStyle/>
          <a:p>
            <a:pPr marL="0" indent="0">
              <a:buNone/>
            </a:pPr>
            <a:r>
              <a:rPr lang="en-US" sz="1100" b="1" kern="0" spc="200" dirty="0">
                <a:solidFill>
                  <a:srgbClr val="DC8F2E"/>
                </a:solidFill>
                <a:latin typeface="Arial" pitchFamily="34" charset="0"/>
                <a:ea typeface="Arial" pitchFamily="34" charset="-122"/>
                <a:cs typeface="Arial" pitchFamily="34" charset="-120"/>
              </a:rPr>
              <a:t>TYPE THIS</a:t>
            </a:r>
            <a:endParaRPr lang="en-US" sz="1100" dirty="0"/>
          </a:p>
        </p:txBody>
      </p:sp>
      <p:sp>
        <p:nvSpPr>
          <p:cNvPr id="22" name="Text 20"/>
          <p:cNvSpPr txBox="1"/>
          <p:nvPr/>
        </p:nvSpPr>
        <p:spPr>
          <a:xfrm>
            <a:off x="6035040" y="3017520"/>
            <a:ext cx="5287975" cy="2560320"/>
          </a:xfrm>
          <a:prstGeom prst="rect">
            <a:avLst/>
          </a:prstGeom>
          <a:noFill/>
          <a:ln/>
        </p:spPr>
        <p:txBody>
          <a:bodyPr wrap="square" lIns="0" tIns="0" rIns="0" bIns="0" rtlCol="0" anchor="t"/>
          <a:lstStyle/>
          <a:p>
            <a:pPr marL="0" indent="0">
              <a:buNone/>
            </a:pPr>
            <a:r>
              <a:rPr lang="en-US" sz="1300" dirty="0">
                <a:solidFill>
                  <a:srgbClr val="2D2926"/>
                </a:solidFill>
                <a:latin typeface="Courier New" pitchFamily="34" charset="0"/>
                <a:ea typeface="Courier New" pitchFamily="34" charset="-122"/>
                <a:cs typeface="Courier New" pitchFamily="34" charset="-120"/>
              </a:rPr>
              <a:t>Build the Guest Follow-Up Board described in CLAUDE.md. I drop guests-september-2026.csv on the page; it shows a table of guests, groups duplicates (same email, same phone, or same name + address after normalizing case, spaces, phone formats and street abbreviations), flags rows with an invalid visit date or no contact info, and has a button to download the cleaned follow-up list as CSV, one row per household. Give me a plan first.</a:t>
            </a:r>
            <a:endParaRPr lang="en-US" sz="1300" dirty="0"/>
          </a:p>
        </p:txBody>
      </p:sp>
      <p:sp>
        <p:nvSpPr>
          <p:cNvPr id="23" name="Text 21"/>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BFB8B1"/>
                </a:solidFill>
                <a:latin typeface="Arial" pitchFamily="34" charset="0"/>
                <a:ea typeface="Arial" pitchFamily="34" charset="-122"/>
                <a:cs typeface="Arial" pitchFamily="34" charset="-120"/>
              </a:rPr>
              <a:t>You Can Build That  ·  CITN26</a:t>
            </a:r>
            <a:endParaRPr lang="en-US" sz="1000" dirty="0"/>
          </a:p>
        </p:txBody>
      </p:sp>
      <p:sp>
        <p:nvSpPr>
          <p:cNvPr id="24" name="Text 22"/>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BFB8B1"/>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92420"/>
        </a:solidFill>
        <a:effectLst/>
      </p:bgPr>
    </p:bg>
    <p:spTree>
      <p:nvGrpSpPr>
        <p:cNvPr id="1" name=""/>
        <p:cNvGrpSpPr/>
        <p:nvPr/>
      </p:nvGrpSpPr>
      <p:grpSpPr>
        <a:xfrm>
          <a:off x="0" y="0"/>
          <a:ext cx="0" cy="0"/>
          <a:chOff x="0" y="0"/>
          <a:chExt cx="0" cy="0"/>
        </a:xfrm>
      </p:grpSpPr>
      <p:sp>
        <p:nvSpPr>
          <p:cNvPr id="2" name="Shape 0"/>
          <p:cNvSpPr/>
          <p:nvPr/>
        </p:nvSpPr>
        <p:spPr>
          <a:xfrm>
            <a:off x="548640" y="457200"/>
            <a:ext cx="301752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301752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  2 OF 4</a:t>
            </a:r>
            <a:endParaRPr lang="en-US" sz="1100" dirty="0"/>
          </a:p>
        </p:txBody>
      </p:sp>
      <p:sp>
        <p:nvSpPr>
          <p:cNvPr id="4" name="Shape 2"/>
          <p:cNvSpPr/>
          <p:nvPr/>
        </p:nvSpPr>
        <p:spPr>
          <a:xfrm>
            <a:off x="8570671" y="457200"/>
            <a:ext cx="3072384" cy="329184"/>
          </a:xfrm>
          <a:prstGeom prst="roundRect">
            <a:avLst>
              <a:gd name="adj" fmla="val 50000"/>
            </a:avLst>
          </a:prstGeom>
          <a:ln w="12700">
            <a:solidFill>
              <a:srgbClr val="BFB8B1"/>
            </a:solidFill>
            <a:prstDash val="solid"/>
          </a:ln>
        </p:spPr>
        <p:txBody>
          <a:bodyPr/>
          <a:lstStyle/>
          <a:p>
            <a:endParaRPr lang="en-US"/>
          </a:p>
        </p:txBody>
      </p:sp>
      <p:sp>
        <p:nvSpPr>
          <p:cNvPr id="5" name="Text 3"/>
          <p:cNvSpPr txBox="1"/>
          <p:nvPr/>
        </p:nvSpPr>
        <p:spPr>
          <a:xfrm>
            <a:off x="8570671" y="457200"/>
            <a:ext cx="307238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~3 MIN  ·  15:00-18:00</a:t>
            </a:r>
            <a:endParaRPr lang="en-US" sz="1100" dirty="0"/>
          </a:p>
        </p:txBody>
      </p:sp>
      <p:sp>
        <p:nvSpPr>
          <p:cNvPr id="6" name="Text 4"/>
          <p:cNvSpPr txBox="1"/>
          <p:nvPr/>
        </p:nvSpPr>
        <p:spPr>
          <a:xfrm>
            <a:off x="548640" y="9144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Make it prove it</a:t>
            </a:r>
            <a:endParaRPr lang="en-US" sz="3600" dirty="0"/>
          </a:p>
        </p:txBody>
      </p:sp>
      <p:sp>
        <p:nvSpPr>
          <p:cNvPr id="7" name="Text 5"/>
          <p:cNvSpPr txBox="1"/>
          <p:nvPr/>
        </p:nvSpPr>
        <p:spPr>
          <a:xfrm>
            <a:off x="548640" y="1645920"/>
            <a:ext cx="7315200" cy="365760"/>
          </a:xfrm>
          <a:prstGeom prst="rect">
            <a:avLst/>
          </a:prstGeom>
          <a:noFill/>
          <a:ln/>
        </p:spPr>
        <p:txBody>
          <a:bodyPr wrap="square" lIns="0" tIns="0" rIns="0" bIns="0" rtlCol="0" anchor="t"/>
          <a:lstStyle/>
          <a:p>
            <a:pPr marL="0" indent="0">
              <a:buNone/>
            </a:pPr>
            <a:r>
              <a:rPr lang="en-US" sz="1800" b="1" dirty="0">
                <a:solidFill>
                  <a:srgbClr val="F6921E"/>
                </a:solidFill>
                <a:latin typeface="Arial" pitchFamily="34" charset="0"/>
                <a:ea typeface="Arial" pitchFamily="34" charset="-122"/>
                <a:cs typeface="Arial" pitchFamily="34" charset="-120"/>
              </a:rPr>
              <a:t>Guest Follow-Up Board  ·  part 2</a:t>
            </a:r>
            <a:endParaRPr lang="en-US" sz="1800" dirty="0"/>
          </a:p>
        </p:txBody>
      </p:sp>
      <p:sp>
        <p:nvSpPr>
          <p:cNvPr id="8" name="Shape 6"/>
          <p:cNvSpPr/>
          <p:nvPr/>
        </p:nvSpPr>
        <p:spPr>
          <a:xfrm>
            <a:off x="7546543"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9" name="Text 7"/>
          <p:cNvSpPr txBox="1"/>
          <p:nvPr/>
        </p:nvSpPr>
        <p:spPr>
          <a:xfrm>
            <a:off x="7546543"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Plan</a:t>
            </a:r>
            <a:endParaRPr lang="en-US" sz="1200" dirty="0"/>
          </a:p>
        </p:txBody>
      </p:sp>
      <p:sp>
        <p:nvSpPr>
          <p:cNvPr id="10" name="Shape 8"/>
          <p:cNvSpPr/>
          <p:nvPr/>
        </p:nvSpPr>
        <p:spPr>
          <a:xfrm>
            <a:off x="8570671"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11" name="Text 9"/>
          <p:cNvSpPr txBox="1"/>
          <p:nvPr/>
        </p:nvSpPr>
        <p:spPr>
          <a:xfrm>
            <a:off x="8570671"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Build</a:t>
            </a:r>
            <a:endParaRPr lang="en-US" sz="1200" dirty="0"/>
          </a:p>
        </p:txBody>
      </p:sp>
      <p:sp>
        <p:nvSpPr>
          <p:cNvPr id="12" name="Shape 10"/>
          <p:cNvSpPr/>
          <p:nvPr/>
        </p:nvSpPr>
        <p:spPr>
          <a:xfrm>
            <a:off x="9594799" y="1280160"/>
            <a:ext cx="914400" cy="365760"/>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13" name="Text 11"/>
          <p:cNvSpPr txBox="1"/>
          <p:nvPr/>
        </p:nvSpPr>
        <p:spPr>
          <a:xfrm>
            <a:off x="9594799" y="1280160"/>
            <a:ext cx="914400" cy="36576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Test</a:t>
            </a:r>
            <a:endParaRPr lang="en-US" sz="1200" dirty="0"/>
          </a:p>
        </p:txBody>
      </p:sp>
      <p:sp>
        <p:nvSpPr>
          <p:cNvPr id="14" name="Shape 12"/>
          <p:cNvSpPr/>
          <p:nvPr/>
        </p:nvSpPr>
        <p:spPr>
          <a:xfrm>
            <a:off x="10618927"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15" name="Text 13"/>
          <p:cNvSpPr txBox="1"/>
          <p:nvPr/>
        </p:nvSpPr>
        <p:spPr>
          <a:xfrm>
            <a:off x="10618927"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Commit</a:t>
            </a:r>
            <a:endParaRPr lang="en-US" sz="1200" dirty="0"/>
          </a:p>
        </p:txBody>
      </p:sp>
      <p:sp>
        <p:nvSpPr>
          <p:cNvPr id="16" name="Text 14"/>
          <p:cNvSpPr txBox="1"/>
          <p:nvPr/>
        </p:nvSpPr>
        <p:spPr>
          <a:xfrm>
            <a:off x="548640" y="242316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SWITCH TO</a:t>
            </a:r>
            <a:endParaRPr lang="en-US" sz="1100" dirty="0"/>
          </a:p>
        </p:txBody>
      </p:sp>
      <p:sp>
        <p:nvSpPr>
          <p:cNvPr id="17" name="Text 15"/>
          <p:cNvSpPr txBox="1"/>
          <p:nvPr/>
        </p:nvSpPr>
        <p:spPr>
          <a:xfrm>
            <a:off x="548640" y="2715768"/>
            <a:ext cx="4754880" cy="54864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The browser, then back to the terminal. Scroll to Michael Brown (row 136).</a:t>
            </a:r>
            <a:endParaRPr lang="en-US" sz="1600" dirty="0"/>
          </a:p>
        </p:txBody>
      </p:sp>
      <p:sp>
        <p:nvSpPr>
          <p:cNvPr id="18" name="Text 16"/>
          <p:cNvSpPr txBox="1"/>
          <p:nvPr/>
        </p:nvSpPr>
        <p:spPr>
          <a:xfrm>
            <a:off x="548640" y="342900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WATCH FOR</a:t>
            </a:r>
            <a:endParaRPr lang="en-US" sz="1100" dirty="0"/>
          </a:p>
        </p:txBody>
      </p:sp>
      <p:sp>
        <p:nvSpPr>
          <p:cNvPr id="19" name="Text 17"/>
          <p:cNvSpPr txBox="1"/>
          <p:nvPr/>
        </p:nvSpPr>
        <p:spPr>
          <a:xfrm>
            <a:off x="548640" y="374904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Michael Brown's visit date of Sep 31 is accepted or shown wrong</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A test fails, Claude fixes the parser, the tests go green</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Refresh: Michael Brown now shows a red "invalid date" flag</a:t>
            </a:r>
            <a:endParaRPr lang="en-US" sz="1500" dirty="0"/>
          </a:p>
        </p:txBody>
      </p:sp>
      <p:sp>
        <p:nvSpPr>
          <p:cNvPr id="20" name="Shape 18"/>
          <p:cNvSpPr/>
          <p:nvPr/>
        </p:nvSpPr>
        <p:spPr>
          <a:xfrm>
            <a:off x="5715000" y="2377440"/>
            <a:ext cx="5928055" cy="2743200"/>
          </a:xfrm>
          <a:prstGeom prst="roundRect">
            <a:avLst>
              <a:gd name="adj" fmla="val 5333"/>
            </a:avLst>
          </a:prstGeom>
          <a:solidFill>
            <a:srgbClr val="F7F5F3"/>
          </a:solidFill>
          <a:ln w="9525">
            <a:solidFill>
              <a:srgbClr val="E4DED8"/>
            </a:solidFill>
            <a:prstDash val="solid"/>
          </a:ln>
        </p:spPr>
        <p:txBody>
          <a:bodyPr/>
          <a:lstStyle/>
          <a:p>
            <a:endParaRPr lang="en-US"/>
          </a:p>
        </p:txBody>
      </p:sp>
      <p:sp>
        <p:nvSpPr>
          <p:cNvPr id="21" name="Text 19"/>
          <p:cNvSpPr txBox="1"/>
          <p:nvPr/>
        </p:nvSpPr>
        <p:spPr>
          <a:xfrm>
            <a:off x="6035040" y="2651760"/>
            <a:ext cx="5287975" cy="274320"/>
          </a:xfrm>
          <a:prstGeom prst="rect">
            <a:avLst/>
          </a:prstGeom>
          <a:noFill/>
          <a:ln/>
        </p:spPr>
        <p:txBody>
          <a:bodyPr wrap="square" lIns="0" tIns="0" rIns="0" bIns="0" rtlCol="0" anchor="t"/>
          <a:lstStyle/>
          <a:p>
            <a:pPr marL="0" indent="0">
              <a:buNone/>
            </a:pPr>
            <a:r>
              <a:rPr lang="en-US" sz="1100" b="1" kern="0" spc="200" dirty="0">
                <a:solidFill>
                  <a:srgbClr val="DC8F2E"/>
                </a:solidFill>
                <a:latin typeface="Arial" pitchFamily="34" charset="0"/>
                <a:ea typeface="Arial" pitchFamily="34" charset="-122"/>
                <a:cs typeface="Arial" pitchFamily="34" charset="-120"/>
              </a:rPr>
              <a:t>TYPE THIS</a:t>
            </a:r>
            <a:endParaRPr lang="en-US" sz="1100" dirty="0"/>
          </a:p>
        </p:txBody>
      </p:sp>
      <p:sp>
        <p:nvSpPr>
          <p:cNvPr id="22" name="Text 20"/>
          <p:cNvSpPr txBox="1"/>
          <p:nvPr/>
        </p:nvSpPr>
        <p:spPr>
          <a:xfrm>
            <a:off x="6035040" y="3017520"/>
            <a:ext cx="5287975" cy="1874520"/>
          </a:xfrm>
          <a:prstGeom prst="rect">
            <a:avLst/>
          </a:prstGeom>
          <a:noFill/>
          <a:ln/>
        </p:spPr>
        <p:txBody>
          <a:bodyPr wrap="square" lIns="0" tIns="0" rIns="0" bIns="0" rtlCol="0" anchor="t"/>
          <a:lstStyle/>
          <a:p>
            <a:pPr marL="0" indent="0">
              <a:buNone/>
            </a:pPr>
            <a:r>
              <a:rPr lang="en-US" sz="1300" dirty="0">
                <a:solidFill>
                  <a:srgbClr val="2D2926"/>
                </a:solidFill>
                <a:latin typeface="Courier New" pitchFamily="34" charset="0"/>
                <a:ea typeface="Courier New" pitchFamily="34" charset="-122"/>
                <a:cs typeface="Courier New" pitchFamily="34" charset="-120"/>
              </a:rPr>
              <a:t>Write unit tests for the date handling: "2026-09-31" must be flagged invalid, and "2026-09-13" must display as Sunday, Sep 13 no matter what time zone the browser is in. Run them, and fix the code if they fail.</a:t>
            </a:r>
            <a:endParaRPr lang="en-US" sz="1300" dirty="0"/>
          </a:p>
          <a:p>
            <a:pPr marL="0" indent="0">
              <a:spcBef>
                <a:spcPts val="1000"/>
              </a:spcBef>
              <a:buNone/>
            </a:pPr>
            <a:r>
              <a:rPr lang="en-US" sz="1100" b="1" dirty="0">
                <a:solidFill>
                  <a:srgbClr val="5A544F"/>
                </a:solidFill>
                <a:latin typeface="Arial" pitchFamily="34" charset="0"/>
                <a:ea typeface="Arial" pitchFamily="34" charset="-122"/>
                <a:cs typeface="Arial" pitchFamily="34" charset="-120"/>
              </a:rPr>
              <a:t>IF THE TESTS PASS FIRST TIME</a:t>
            </a:r>
            <a:endParaRPr lang="en-US" sz="1300" dirty="0"/>
          </a:p>
          <a:p>
            <a:pPr marL="0" indent="0">
              <a:buNone/>
            </a:pPr>
            <a:r>
              <a:rPr lang="en-US" sz="1300" dirty="0">
                <a:solidFill>
                  <a:srgbClr val="2D2926"/>
                </a:solidFill>
                <a:latin typeface="Courier New" pitchFamily="34" charset="0"/>
                <a:ea typeface="Courier New" pitchFamily="34" charset="-122"/>
                <a:cs typeface="Courier New" pitchFamily="34" charset="-120"/>
              </a:rPr>
              <a:t>How many duplicate groups did you find, and which rule caught each one?</a:t>
            </a:r>
            <a:endParaRPr lang="en-US" sz="1300" dirty="0"/>
          </a:p>
        </p:txBody>
      </p:sp>
      <p:sp>
        <p:nvSpPr>
          <p:cNvPr id="23" name="Text 21"/>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BFB8B1"/>
                </a:solidFill>
                <a:latin typeface="Arial" pitchFamily="34" charset="0"/>
                <a:ea typeface="Arial" pitchFamily="34" charset="-122"/>
                <a:cs typeface="Arial" pitchFamily="34" charset="-120"/>
              </a:rPr>
              <a:t>You Can Build That  ·  CITN26</a:t>
            </a:r>
            <a:endParaRPr lang="en-US" sz="1000" dirty="0"/>
          </a:p>
        </p:txBody>
      </p:sp>
      <p:sp>
        <p:nvSpPr>
          <p:cNvPr id="24" name="Text 22"/>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BFB8B1"/>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92420"/>
        </a:solidFill>
        <a:effectLst/>
      </p:bgPr>
    </p:bg>
    <p:spTree>
      <p:nvGrpSpPr>
        <p:cNvPr id="1" name=""/>
        <p:cNvGrpSpPr/>
        <p:nvPr/>
      </p:nvGrpSpPr>
      <p:grpSpPr>
        <a:xfrm>
          <a:off x="0" y="0"/>
          <a:ext cx="0" cy="0"/>
          <a:chOff x="0" y="0"/>
          <a:chExt cx="0" cy="0"/>
        </a:xfrm>
      </p:grpSpPr>
      <p:sp>
        <p:nvSpPr>
          <p:cNvPr id="2" name="Shape 0"/>
          <p:cNvSpPr/>
          <p:nvPr/>
        </p:nvSpPr>
        <p:spPr>
          <a:xfrm>
            <a:off x="548640" y="457200"/>
            <a:ext cx="301752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301752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  3 OF 4</a:t>
            </a:r>
            <a:endParaRPr lang="en-US" sz="1100" dirty="0"/>
          </a:p>
        </p:txBody>
      </p:sp>
      <p:sp>
        <p:nvSpPr>
          <p:cNvPr id="4" name="Shape 2"/>
          <p:cNvSpPr/>
          <p:nvPr/>
        </p:nvSpPr>
        <p:spPr>
          <a:xfrm>
            <a:off x="8570671" y="457200"/>
            <a:ext cx="3072384" cy="329184"/>
          </a:xfrm>
          <a:prstGeom prst="roundRect">
            <a:avLst>
              <a:gd name="adj" fmla="val 50000"/>
            </a:avLst>
          </a:prstGeom>
          <a:ln w="12700">
            <a:solidFill>
              <a:srgbClr val="BFB8B1"/>
            </a:solidFill>
            <a:prstDash val="solid"/>
          </a:ln>
        </p:spPr>
        <p:txBody>
          <a:bodyPr/>
          <a:lstStyle/>
          <a:p>
            <a:endParaRPr lang="en-US"/>
          </a:p>
        </p:txBody>
      </p:sp>
      <p:sp>
        <p:nvSpPr>
          <p:cNvPr id="5" name="Text 3"/>
          <p:cNvSpPr txBox="1"/>
          <p:nvPr/>
        </p:nvSpPr>
        <p:spPr>
          <a:xfrm>
            <a:off x="8570671" y="457200"/>
            <a:ext cx="307238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~1 MIN  ·  18:00-19:00</a:t>
            </a:r>
            <a:endParaRPr lang="en-US" sz="1100" dirty="0"/>
          </a:p>
        </p:txBody>
      </p:sp>
      <p:sp>
        <p:nvSpPr>
          <p:cNvPr id="6" name="Text 4"/>
          <p:cNvSpPr txBox="1"/>
          <p:nvPr/>
        </p:nvSpPr>
        <p:spPr>
          <a:xfrm>
            <a:off x="548640" y="9144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Commit and reset</a:t>
            </a:r>
            <a:endParaRPr lang="en-US" sz="3600" dirty="0"/>
          </a:p>
        </p:txBody>
      </p:sp>
      <p:sp>
        <p:nvSpPr>
          <p:cNvPr id="7" name="Text 5"/>
          <p:cNvSpPr txBox="1"/>
          <p:nvPr/>
        </p:nvSpPr>
        <p:spPr>
          <a:xfrm>
            <a:off x="548640" y="1645920"/>
            <a:ext cx="7315200" cy="365760"/>
          </a:xfrm>
          <a:prstGeom prst="rect">
            <a:avLst/>
          </a:prstGeom>
          <a:noFill/>
          <a:ln/>
        </p:spPr>
        <p:txBody>
          <a:bodyPr wrap="square" lIns="0" tIns="0" rIns="0" bIns="0" rtlCol="0" anchor="t"/>
          <a:lstStyle/>
          <a:p>
            <a:pPr marL="0" indent="0">
              <a:buNone/>
            </a:pPr>
            <a:r>
              <a:rPr lang="en-US" sz="1800" b="1" dirty="0">
                <a:solidFill>
                  <a:srgbClr val="F6921E"/>
                </a:solidFill>
                <a:latin typeface="Arial" pitchFamily="34" charset="0"/>
                <a:ea typeface="Arial" pitchFamily="34" charset="-122"/>
                <a:cs typeface="Arial" pitchFamily="34" charset="-120"/>
              </a:rPr>
              <a:t>Guest Follow-Up Board  ·  part 3</a:t>
            </a:r>
            <a:endParaRPr lang="en-US" sz="1800" dirty="0"/>
          </a:p>
        </p:txBody>
      </p:sp>
      <p:sp>
        <p:nvSpPr>
          <p:cNvPr id="8" name="Shape 6"/>
          <p:cNvSpPr/>
          <p:nvPr/>
        </p:nvSpPr>
        <p:spPr>
          <a:xfrm>
            <a:off x="7546543"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9" name="Text 7"/>
          <p:cNvSpPr txBox="1"/>
          <p:nvPr/>
        </p:nvSpPr>
        <p:spPr>
          <a:xfrm>
            <a:off x="7546543"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Plan</a:t>
            </a:r>
            <a:endParaRPr lang="en-US" sz="1200" dirty="0"/>
          </a:p>
        </p:txBody>
      </p:sp>
      <p:sp>
        <p:nvSpPr>
          <p:cNvPr id="10" name="Shape 8"/>
          <p:cNvSpPr/>
          <p:nvPr/>
        </p:nvSpPr>
        <p:spPr>
          <a:xfrm>
            <a:off x="8570671"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11" name="Text 9"/>
          <p:cNvSpPr txBox="1"/>
          <p:nvPr/>
        </p:nvSpPr>
        <p:spPr>
          <a:xfrm>
            <a:off x="8570671"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Build</a:t>
            </a:r>
            <a:endParaRPr lang="en-US" sz="1200" dirty="0"/>
          </a:p>
        </p:txBody>
      </p:sp>
      <p:sp>
        <p:nvSpPr>
          <p:cNvPr id="12" name="Shape 10"/>
          <p:cNvSpPr/>
          <p:nvPr/>
        </p:nvSpPr>
        <p:spPr>
          <a:xfrm>
            <a:off x="9594799" y="1280160"/>
            <a:ext cx="914400" cy="365760"/>
          </a:xfrm>
          <a:prstGeom prst="roundRect">
            <a:avLst>
              <a:gd name="adj" fmla="val 50000"/>
            </a:avLst>
          </a:prstGeom>
          <a:solidFill>
            <a:srgbClr val="292420"/>
          </a:solidFill>
          <a:ln w="12700">
            <a:solidFill>
              <a:srgbClr val="6B645E"/>
            </a:solidFill>
            <a:prstDash val="solid"/>
          </a:ln>
        </p:spPr>
        <p:txBody>
          <a:bodyPr/>
          <a:lstStyle/>
          <a:p>
            <a:endParaRPr lang="en-US"/>
          </a:p>
        </p:txBody>
      </p:sp>
      <p:sp>
        <p:nvSpPr>
          <p:cNvPr id="13" name="Text 11"/>
          <p:cNvSpPr txBox="1"/>
          <p:nvPr/>
        </p:nvSpPr>
        <p:spPr>
          <a:xfrm>
            <a:off x="9594799" y="1280160"/>
            <a:ext cx="914400" cy="365760"/>
          </a:xfrm>
          <a:prstGeom prst="rect">
            <a:avLst/>
          </a:prstGeom>
          <a:noFill/>
          <a:ln/>
        </p:spPr>
        <p:txBody>
          <a:bodyPr wrap="square" lIns="0" tIns="0" rIns="0" bIns="0" rtlCol="0" anchor="ctr"/>
          <a:lstStyle/>
          <a:p>
            <a:pPr marL="0" indent="0" algn="ctr">
              <a:buNone/>
            </a:pPr>
            <a:r>
              <a:rPr lang="en-US" sz="1200" b="1" dirty="0">
                <a:solidFill>
                  <a:srgbClr val="BFB8B1"/>
                </a:solidFill>
                <a:latin typeface="Arial" pitchFamily="34" charset="0"/>
                <a:ea typeface="Arial" pitchFamily="34" charset="-122"/>
                <a:cs typeface="Arial" pitchFamily="34" charset="-120"/>
              </a:rPr>
              <a:t>Test</a:t>
            </a:r>
            <a:endParaRPr lang="en-US" sz="1200" dirty="0"/>
          </a:p>
        </p:txBody>
      </p:sp>
      <p:sp>
        <p:nvSpPr>
          <p:cNvPr id="14" name="Shape 12"/>
          <p:cNvSpPr/>
          <p:nvPr/>
        </p:nvSpPr>
        <p:spPr>
          <a:xfrm>
            <a:off x="10618927" y="1280160"/>
            <a:ext cx="914400" cy="365760"/>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15" name="Text 13"/>
          <p:cNvSpPr txBox="1"/>
          <p:nvPr/>
        </p:nvSpPr>
        <p:spPr>
          <a:xfrm>
            <a:off x="10618927" y="1280160"/>
            <a:ext cx="914400" cy="36576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Commit</a:t>
            </a:r>
            <a:endParaRPr lang="en-US" sz="1200" dirty="0"/>
          </a:p>
        </p:txBody>
      </p:sp>
      <p:sp>
        <p:nvSpPr>
          <p:cNvPr id="16" name="Text 14"/>
          <p:cNvSpPr txBox="1"/>
          <p:nvPr/>
        </p:nvSpPr>
        <p:spPr>
          <a:xfrm>
            <a:off x="548640" y="242316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SWITCH TO</a:t>
            </a:r>
            <a:endParaRPr lang="en-US" sz="1100" dirty="0"/>
          </a:p>
        </p:txBody>
      </p:sp>
      <p:sp>
        <p:nvSpPr>
          <p:cNvPr id="17" name="Text 15"/>
          <p:cNvSpPr txBox="1"/>
          <p:nvPr/>
        </p:nvSpPr>
        <p:spPr>
          <a:xfrm>
            <a:off x="548640" y="2715768"/>
            <a:ext cx="4754880" cy="54864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Terminal.</a:t>
            </a:r>
            <a:endParaRPr lang="en-US" sz="1600" dirty="0"/>
          </a:p>
        </p:txBody>
      </p:sp>
      <p:sp>
        <p:nvSpPr>
          <p:cNvPr id="18" name="Text 16"/>
          <p:cNvSpPr txBox="1"/>
          <p:nvPr/>
        </p:nvSpPr>
        <p:spPr>
          <a:xfrm>
            <a:off x="548640" y="342900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WATCH FOR</a:t>
            </a:r>
            <a:endParaRPr lang="en-US" sz="1100" dirty="0"/>
          </a:p>
        </p:txBody>
      </p:sp>
      <p:sp>
        <p:nvSpPr>
          <p:cNvPr id="19" name="Text 17"/>
          <p:cNvSpPr txBox="1"/>
          <p:nvPr/>
        </p:nvSpPr>
        <p:spPr>
          <a:xfrm>
            <a:off x="548640" y="374904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A two-sentence summary of the diff</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A clear commit message</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/clear: a fresh session for the next task</a:t>
            </a:r>
            <a:endParaRPr lang="en-US" sz="1500" dirty="0"/>
          </a:p>
        </p:txBody>
      </p:sp>
      <p:sp>
        <p:nvSpPr>
          <p:cNvPr id="20" name="Shape 18"/>
          <p:cNvSpPr/>
          <p:nvPr/>
        </p:nvSpPr>
        <p:spPr>
          <a:xfrm>
            <a:off x="5715000" y="2377440"/>
            <a:ext cx="5928055" cy="1737360"/>
          </a:xfrm>
          <a:prstGeom prst="roundRect">
            <a:avLst>
              <a:gd name="adj" fmla="val 8421"/>
            </a:avLst>
          </a:prstGeom>
          <a:solidFill>
            <a:srgbClr val="F7F5F3"/>
          </a:solidFill>
          <a:ln w="9525">
            <a:solidFill>
              <a:srgbClr val="E4DED8"/>
            </a:solidFill>
            <a:prstDash val="solid"/>
          </a:ln>
        </p:spPr>
        <p:txBody>
          <a:bodyPr/>
          <a:lstStyle/>
          <a:p>
            <a:endParaRPr lang="en-US"/>
          </a:p>
        </p:txBody>
      </p:sp>
      <p:sp>
        <p:nvSpPr>
          <p:cNvPr id="21" name="Text 19"/>
          <p:cNvSpPr txBox="1"/>
          <p:nvPr/>
        </p:nvSpPr>
        <p:spPr>
          <a:xfrm>
            <a:off x="6035040" y="2651760"/>
            <a:ext cx="5287975" cy="274320"/>
          </a:xfrm>
          <a:prstGeom prst="rect">
            <a:avLst/>
          </a:prstGeom>
          <a:noFill/>
          <a:ln/>
        </p:spPr>
        <p:txBody>
          <a:bodyPr wrap="square" lIns="0" tIns="0" rIns="0" bIns="0" rtlCol="0" anchor="t"/>
          <a:lstStyle/>
          <a:p>
            <a:pPr marL="0" indent="0">
              <a:buNone/>
            </a:pPr>
            <a:r>
              <a:rPr lang="en-US" sz="1100" b="1" kern="0" spc="200" dirty="0">
                <a:solidFill>
                  <a:srgbClr val="DC8F2E"/>
                </a:solidFill>
                <a:latin typeface="Arial" pitchFamily="34" charset="0"/>
                <a:ea typeface="Arial" pitchFamily="34" charset="-122"/>
                <a:cs typeface="Arial" pitchFamily="34" charset="-120"/>
              </a:rPr>
              <a:t>TYPE THIS</a:t>
            </a:r>
            <a:endParaRPr lang="en-US" sz="1100" dirty="0"/>
          </a:p>
        </p:txBody>
      </p:sp>
      <p:sp>
        <p:nvSpPr>
          <p:cNvPr id="22" name="Text 20"/>
          <p:cNvSpPr txBox="1"/>
          <p:nvPr/>
        </p:nvSpPr>
        <p:spPr>
          <a:xfrm>
            <a:off x="6035040" y="3017520"/>
            <a:ext cx="5287975" cy="868680"/>
          </a:xfrm>
          <a:prstGeom prst="rect">
            <a:avLst/>
          </a:prstGeom>
          <a:noFill/>
          <a:ln/>
        </p:spPr>
        <p:txBody>
          <a:bodyPr wrap="square" lIns="0" tIns="0" rIns="0" bIns="0" rtlCol="0" anchor="t"/>
          <a:lstStyle/>
          <a:p>
            <a:pPr marL="0" indent="0">
              <a:buNone/>
            </a:pPr>
            <a:r>
              <a:rPr lang="en-US" sz="1300" dirty="0">
                <a:solidFill>
                  <a:srgbClr val="2D2926"/>
                </a:solidFill>
                <a:latin typeface="Courier New" pitchFamily="34" charset="0"/>
                <a:ea typeface="Courier New" pitchFamily="34" charset="-122"/>
                <a:cs typeface="Courier New" pitchFamily="34" charset="-120"/>
              </a:rPr>
              <a:t>Review the diff with me in two sentences, then commit with a clear message.</a:t>
            </a:r>
            <a:endParaRPr lang="en-US" sz="1300" dirty="0"/>
          </a:p>
          <a:p>
            <a:pPr marL="0" indent="0">
              <a:spcBef>
                <a:spcPts val="1000"/>
              </a:spcBef>
              <a:buNone/>
            </a:pPr>
            <a:r>
              <a:rPr lang="en-US" sz="1100" b="1" dirty="0">
                <a:solidFill>
                  <a:srgbClr val="5A544F"/>
                </a:solidFill>
                <a:latin typeface="Arial" pitchFamily="34" charset="0"/>
                <a:ea typeface="Arial" pitchFamily="34" charset="-122"/>
                <a:cs typeface="Arial" pitchFamily="34" charset="-120"/>
              </a:rPr>
              <a:t>THEN</a:t>
            </a:r>
            <a:endParaRPr lang="en-US" sz="1300" dirty="0"/>
          </a:p>
          <a:p>
            <a:pPr marL="0" indent="0">
              <a:buNone/>
            </a:pPr>
            <a:r>
              <a:rPr lang="en-US" sz="1300" dirty="0">
                <a:solidFill>
                  <a:srgbClr val="2D2926"/>
                </a:solidFill>
                <a:latin typeface="Courier New" pitchFamily="34" charset="0"/>
                <a:ea typeface="Courier New" pitchFamily="34" charset="-122"/>
                <a:cs typeface="Courier New" pitchFamily="34" charset="-120"/>
              </a:rPr>
              <a:t>/clear</a:t>
            </a:r>
            <a:endParaRPr lang="en-US" sz="1300" dirty="0"/>
          </a:p>
        </p:txBody>
      </p:sp>
      <p:sp>
        <p:nvSpPr>
          <p:cNvPr id="23" name="Text 21"/>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BFB8B1"/>
                </a:solidFill>
                <a:latin typeface="Arial" pitchFamily="34" charset="0"/>
                <a:ea typeface="Arial" pitchFamily="34" charset="-122"/>
                <a:cs typeface="Arial" pitchFamily="34" charset="-120"/>
              </a:rPr>
              <a:t>You Can Build That  ·  CITN26</a:t>
            </a:r>
            <a:endParaRPr lang="en-US" sz="1000" dirty="0"/>
          </a:p>
        </p:txBody>
      </p:sp>
      <p:sp>
        <p:nvSpPr>
          <p:cNvPr id="24" name="Text 22"/>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BFB8B1"/>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0934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60934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CALIBRATE</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Where it shines, where it wastes your afternoon</a:t>
            </a:r>
            <a:endParaRPr lang="en-US" sz="3400" dirty="0"/>
          </a:p>
        </p:txBody>
      </p:sp>
      <p:sp>
        <p:nvSpPr>
          <p:cNvPr id="5" name="Shape 3"/>
          <p:cNvSpPr/>
          <p:nvPr/>
        </p:nvSpPr>
        <p:spPr>
          <a:xfrm>
            <a:off x="548640" y="1920240"/>
            <a:ext cx="5364328" cy="3931920"/>
          </a:xfrm>
          <a:prstGeom prst="roundRect">
            <a:avLst>
              <a:gd name="adj" fmla="val 3721"/>
            </a:avLst>
          </a:prstGeom>
          <a:solidFill>
            <a:srgbClr val="F7F5F3"/>
          </a:solidFill>
          <a:ln w="9525">
            <a:solidFill>
              <a:srgbClr val="E4DED8"/>
            </a:solidFill>
            <a:prstDash val="solid"/>
          </a:ln>
        </p:spPr>
        <p:txBody>
          <a:bodyPr/>
          <a:lstStyle/>
          <a:p>
            <a:endParaRPr lang="en-US"/>
          </a:p>
        </p:txBody>
      </p:sp>
      <p:sp>
        <p:nvSpPr>
          <p:cNvPr id="6" name="Text 4"/>
          <p:cNvSpPr txBox="1"/>
          <p:nvPr/>
        </p:nvSpPr>
        <p:spPr>
          <a:xfrm>
            <a:off x="914400" y="2194560"/>
            <a:ext cx="4632808" cy="457200"/>
          </a:xfrm>
          <a:prstGeom prst="rect">
            <a:avLst/>
          </a:prstGeom>
          <a:noFill/>
          <a:ln/>
        </p:spPr>
        <p:txBody>
          <a:bodyPr wrap="square" lIns="0" tIns="0" rIns="0" bIns="0" rtlCol="0" anchor="t"/>
          <a:lstStyle/>
          <a:p>
            <a:pPr marL="0" indent="0">
              <a:buNone/>
            </a:pPr>
            <a:r>
              <a:rPr lang="en-US" sz="2200" b="1" dirty="0">
                <a:solidFill>
                  <a:srgbClr val="2D2926"/>
                </a:solidFill>
                <a:latin typeface="Arial" pitchFamily="34" charset="0"/>
                <a:ea typeface="Arial" pitchFamily="34" charset="-122"/>
                <a:cs typeface="Arial" pitchFamily="34" charset="-120"/>
              </a:rPr>
              <a:t>Shines</a:t>
            </a:r>
            <a:endParaRPr lang="en-US" sz="2200" dirty="0"/>
          </a:p>
        </p:txBody>
      </p:sp>
      <p:sp>
        <p:nvSpPr>
          <p:cNvPr id="7" name="Shape 5"/>
          <p:cNvSpPr/>
          <p:nvPr/>
        </p:nvSpPr>
        <p:spPr>
          <a:xfrm>
            <a:off x="914400" y="2880360"/>
            <a:ext cx="329184" cy="329184"/>
          </a:xfrm>
          <a:prstGeom prst="ellipse">
            <a:avLst/>
          </a:prstGeom>
          <a:solidFill>
            <a:srgbClr val="F6921E"/>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96696" y="2962656"/>
            <a:ext cx="164592" cy="164592"/>
          </a:xfrm>
          <a:prstGeom prst="rect">
            <a:avLst/>
          </a:prstGeom>
        </p:spPr>
      </p:pic>
      <p:sp>
        <p:nvSpPr>
          <p:cNvPr id="9" name="Text 6"/>
          <p:cNvSpPr txBox="1"/>
          <p:nvPr/>
        </p:nvSpPr>
        <p:spPr>
          <a:xfrm>
            <a:off x="1417320" y="2843784"/>
            <a:ext cx="4175608" cy="402336"/>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Glue scripts, exports, report reshaping</a:t>
            </a:r>
            <a:endParaRPr lang="en-US" sz="1500" dirty="0"/>
          </a:p>
        </p:txBody>
      </p:sp>
      <p:sp>
        <p:nvSpPr>
          <p:cNvPr id="10" name="Shape 7"/>
          <p:cNvSpPr/>
          <p:nvPr/>
        </p:nvSpPr>
        <p:spPr>
          <a:xfrm>
            <a:off x="914400" y="3447288"/>
            <a:ext cx="329184" cy="329184"/>
          </a:xfrm>
          <a:prstGeom prst="ellipse">
            <a:avLst/>
          </a:prstGeom>
          <a:solidFill>
            <a:srgbClr val="F6921E"/>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996696" y="3529584"/>
            <a:ext cx="164592" cy="164592"/>
          </a:xfrm>
          <a:prstGeom prst="rect">
            <a:avLst/>
          </a:prstGeom>
        </p:spPr>
      </p:pic>
      <p:sp>
        <p:nvSpPr>
          <p:cNvPr id="12" name="Text 8"/>
          <p:cNvSpPr txBox="1"/>
          <p:nvPr/>
        </p:nvSpPr>
        <p:spPr>
          <a:xfrm>
            <a:off x="1417320" y="3410712"/>
            <a:ext cx="4175608" cy="402336"/>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Explaining a legacy script or codebase</a:t>
            </a:r>
            <a:endParaRPr lang="en-US" sz="1500" dirty="0"/>
          </a:p>
        </p:txBody>
      </p:sp>
      <p:sp>
        <p:nvSpPr>
          <p:cNvPr id="13" name="Shape 9"/>
          <p:cNvSpPr/>
          <p:nvPr/>
        </p:nvSpPr>
        <p:spPr>
          <a:xfrm>
            <a:off x="914400" y="4014216"/>
            <a:ext cx="329184" cy="329184"/>
          </a:xfrm>
          <a:prstGeom prst="ellipse">
            <a:avLst/>
          </a:prstGeom>
          <a:solidFill>
            <a:srgbClr val="F6921E"/>
          </a:solidFill>
          <a:ln/>
        </p:spPr>
        <p:txBody>
          <a:bodyPr/>
          <a:lstStyle/>
          <a:p>
            <a:endParaRPr lang="en-US"/>
          </a:p>
        </p:txBody>
      </p:sp>
      <p:pic>
        <p:nvPicPr>
          <p:cNvPr id="14" name="Image 2" descr="preencoded.png"/>
          <p:cNvPicPr>
            <a:picLocks noChangeAspect="1"/>
          </p:cNvPicPr>
          <p:nvPr/>
        </p:nvPicPr>
        <p:blipFill>
          <a:blip r:embed="rId3"/>
          <a:stretch>
            <a:fillRect/>
          </a:stretch>
        </p:blipFill>
        <p:spPr>
          <a:xfrm>
            <a:off x="996696" y="4096512"/>
            <a:ext cx="164592" cy="164592"/>
          </a:xfrm>
          <a:prstGeom prst="rect">
            <a:avLst/>
          </a:prstGeom>
        </p:spPr>
      </p:pic>
      <p:sp>
        <p:nvSpPr>
          <p:cNvPr id="15" name="Text 10"/>
          <p:cNvSpPr txBox="1"/>
          <p:nvPr/>
        </p:nvSpPr>
        <p:spPr>
          <a:xfrm>
            <a:off x="1417320" y="3977640"/>
            <a:ext cx="4175608" cy="402336"/>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Tests, docs and READMEs for what you have</a:t>
            </a:r>
            <a:endParaRPr lang="en-US" sz="1500" dirty="0"/>
          </a:p>
        </p:txBody>
      </p:sp>
      <p:sp>
        <p:nvSpPr>
          <p:cNvPr id="16" name="Shape 11"/>
          <p:cNvSpPr/>
          <p:nvPr/>
        </p:nvSpPr>
        <p:spPr>
          <a:xfrm>
            <a:off x="914400" y="4581144"/>
            <a:ext cx="329184" cy="329184"/>
          </a:xfrm>
          <a:prstGeom prst="ellipse">
            <a:avLst/>
          </a:prstGeom>
          <a:solidFill>
            <a:srgbClr val="F6921E"/>
          </a:solidFill>
          <a:ln/>
        </p:spPr>
        <p:txBody>
          <a:bodyPr/>
          <a:lstStyle/>
          <a:p>
            <a:endParaRPr lang="en-US"/>
          </a:p>
        </p:txBody>
      </p:sp>
      <p:pic>
        <p:nvPicPr>
          <p:cNvPr id="17" name="Image 3" descr="preencoded.png"/>
          <p:cNvPicPr>
            <a:picLocks noChangeAspect="1"/>
          </p:cNvPicPr>
          <p:nvPr/>
        </p:nvPicPr>
        <p:blipFill>
          <a:blip r:embed="rId3"/>
          <a:stretch>
            <a:fillRect/>
          </a:stretch>
        </p:blipFill>
        <p:spPr>
          <a:xfrm>
            <a:off x="996696" y="4663440"/>
            <a:ext cx="164592" cy="164592"/>
          </a:xfrm>
          <a:prstGeom prst="rect">
            <a:avLst/>
          </a:prstGeom>
        </p:spPr>
      </p:pic>
      <p:sp>
        <p:nvSpPr>
          <p:cNvPr id="18" name="Text 12"/>
          <p:cNvSpPr txBox="1"/>
          <p:nvPr/>
        </p:nvSpPr>
        <p:spPr>
          <a:xfrm>
            <a:off x="1417320" y="4544568"/>
            <a:ext cx="4175608" cy="402336"/>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Small internal tools with one or two screens</a:t>
            </a:r>
            <a:endParaRPr lang="en-US" sz="1500" dirty="0"/>
          </a:p>
        </p:txBody>
      </p:sp>
      <p:sp>
        <p:nvSpPr>
          <p:cNvPr id="19" name="Shape 13"/>
          <p:cNvSpPr/>
          <p:nvPr/>
        </p:nvSpPr>
        <p:spPr>
          <a:xfrm>
            <a:off x="914400" y="5148072"/>
            <a:ext cx="329184" cy="329184"/>
          </a:xfrm>
          <a:prstGeom prst="ellipse">
            <a:avLst/>
          </a:prstGeom>
          <a:solidFill>
            <a:srgbClr val="F6921E"/>
          </a:solidFill>
          <a:ln/>
        </p:spPr>
        <p:txBody>
          <a:bodyPr/>
          <a:lstStyle/>
          <a:p>
            <a:endParaRPr lang="en-US"/>
          </a:p>
        </p:txBody>
      </p:sp>
      <p:pic>
        <p:nvPicPr>
          <p:cNvPr id="20" name="Image 4" descr="preencoded.png"/>
          <p:cNvPicPr>
            <a:picLocks noChangeAspect="1"/>
          </p:cNvPicPr>
          <p:nvPr/>
        </p:nvPicPr>
        <p:blipFill>
          <a:blip r:embed="rId3"/>
          <a:stretch>
            <a:fillRect/>
          </a:stretch>
        </p:blipFill>
        <p:spPr>
          <a:xfrm>
            <a:off x="996696" y="5230368"/>
            <a:ext cx="164592" cy="164592"/>
          </a:xfrm>
          <a:prstGeom prst="rect">
            <a:avLst/>
          </a:prstGeom>
        </p:spPr>
      </p:pic>
      <p:sp>
        <p:nvSpPr>
          <p:cNvPr id="21" name="Text 14"/>
          <p:cNvSpPr txBox="1"/>
          <p:nvPr/>
        </p:nvSpPr>
        <p:spPr>
          <a:xfrm>
            <a:off x="1417320" y="5111496"/>
            <a:ext cx="4175608" cy="402336"/>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Integrations with well-documented APIs</a:t>
            </a:r>
            <a:endParaRPr lang="en-US" sz="1500" dirty="0"/>
          </a:p>
        </p:txBody>
      </p:sp>
      <p:sp>
        <p:nvSpPr>
          <p:cNvPr id="22" name="Shape 15"/>
          <p:cNvSpPr/>
          <p:nvPr/>
        </p:nvSpPr>
        <p:spPr>
          <a:xfrm>
            <a:off x="6278728" y="1920240"/>
            <a:ext cx="5364328" cy="3931920"/>
          </a:xfrm>
          <a:prstGeom prst="roundRect">
            <a:avLst>
              <a:gd name="adj" fmla="val 3721"/>
            </a:avLst>
          </a:prstGeom>
          <a:solidFill>
            <a:srgbClr val="2D2926"/>
          </a:solidFill>
          <a:ln w="9525">
            <a:solidFill>
              <a:srgbClr val="2D2926"/>
            </a:solidFill>
            <a:prstDash val="solid"/>
          </a:ln>
        </p:spPr>
        <p:txBody>
          <a:bodyPr/>
          <a:lstStyle/>
          <a:p>
            <a:endParaRPr lang="en-US"/>
          </a:p>
        </p:txBody>
      </p:sp>
      <p:sp>
        <p:nvSpPr>
          <p:cNvPr id="23" name="Text 16"/>
          <p:cNvSpPr txBox="1"/>
          <p:nvPr/>
        </p:nvSpPr>
        <p:spPr>
          <a:xfrm>
            <a:off x="6644488" y="2194560"/>
            <a:ext cx="4632808" cy="457200"/>
          </a:xfrm>
          <a:prstGeom prst="rect">
            <a:avLst/>
          </a:prstGeom>
          <a:noFill/>
          <a:ln/>
        </p:spPr>
        <p:txBody>
          <a:bodyPr wrap="square" lIns="0" tIns="0" rIns="0" bIns="0" rtlCol="0" anchor="t"/>
          <a:lstStyle/>
          <a:p>
            <a:pPr marL="0" indent="0">
              <a:buNone/>
            </a:pPr>
            <a:r>
              <a:rPr lang="en-US" sz="2200" b="1" dirty="0">
                <a:solidFill>
                  <a:srgbClr val="F6921E"/>
                </a:solidFill>
                <a:latin typeface="Arial" pitchFamily="34" charset="0"/>
                <a:ea typeface="Arial" pitchFamily="34" charset="-122"/>
                <a:cs typeface="Arial" pitchFamily="34" charset="-120"/>
              </a:rPr>
              <a:t>Wastes your afternoon</a:t>
            </a:r>
            <a:endParaRPr lang="en-US" sz="2200" dirty="0"/>
          </a:p>
        </p:txBody>
      </p:sp>
      <p:sp>
        <p:nvSpPr>
          <p:cNvPr id="24" name="Shape 17"/>
          <p:cNvSpPr/>
          <p:nvPr/>
        </p:nvSpPr>
        <p:spPr>
          <a:xfrm>
            <a:off x="6644488" y="2880360"/>
            <a:ext cx="329184" cy="329184"/>
          </a:xfrm>
          <a:prstGeom prst="ellipse">
            <a:avLst/>
          </a:prstGeom>
          <a:solidFill>
            <a:srgbClr val="F6921E"/>
          </a:solidFill>
          <a:ln/>
        </p:spPr>
        <p:txBody>
          <a:bodyPr/>
          <a:lstStyle/>
          <a:p>
            <a:endParaRPr lang="en-US"/>
          </a:p>
        </p:txBody>
      </p:sp>
      <p:pic>
        <p:nvPicPr>
          <p:cNvPr id="25" name="Image 5" descr="preencoded.png"/>
          <p:cNvPicPr>
            <a:picLocks noChangeAspect="1"/>
          </p:cNvPicPr>
          <p:nvPr/>
        </p:nvPicPr>
        <p:blipFill>
          <a:blip r:embed="rId4"/>
          <a:stretch>
            <a:fillRect/>
          </a:stretch>
        </p:blipFill>
        <p:spPr>
          <a:xfrm>
            <a:off x="6726784" y="2962656"/>
            <a:ext cx="164592" cy="164592"/>
          </a:xfrm>
          <a:prstGeom prst="rect">
            <a:avLst/>
          </a:prstGeom>
        </p:spPr>
      </p:pic>
      <p:sp>
        <p:nvSpPr>
          <p:cNvPr id="26" name="Text 18"/>
          <p:cNvSpPr txBox="1"/>
          <p:nvPr/>
        </p:nvSpPr>
        <p:spPr>
          <a:xfrm>
            <a:off x="7147408" y="2843784"/>
            <a:ext cx="4175608" cy="402336"/>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"Build me an app" with no spec</a:t>
            </a:r>
            <a:endParaRPr lang="en-US" sz="1500" dirty="0"/>
          </a:p>
        </p:txBody>
      </p:sp>
      <p:sp>
        <p:nvSpPr>
          <p:cNvPr id="27" name="Shape 19"/>
          <p:cNvSpPr/>
          <p:nvPr/>
        </p:nvSpPr>
        <p:spPr>
          <a:xfrm>
            <a:off x="6644488" y="3447288"/>
            <a:ext cx="329184" cy="329184"/>
          </a:xfrm>
          <a:prstGeom prst="ellipse">
            <a:avLst/>
          </a:prstGeom>
          <a:solidFill>
            <a:srgbClr val="F6921E"/>
          </a:solidFill>
          <a:ln/>
        </p:spPr>
        <p:txBody>
          <a:bodyPr/>
          <a:lstStyle/>
          <a:p>
            <a:endParaRPr lang="en-US"/>
          </a:p>
        </p:txBody>
      </p:sp>
      <p:pic>
        <p:nvPicPr>
          <p:cNvPr id="28" name="Image 6" descr="preencoded.png"/>
          <p:cNvPicPr>
            <a:picLocks noChangeAspect="1"/>
          </p:cNvPicPr>
          <p:nvPr/>
        </p:nvPicPr>
        <p:blipFill>
          <a:blip r:embed="rId4"/>
          <a:stretch>
            <a:fillRect/>
          </a:stretch>
        </p:blipFill>
        <p:spPr>
          <a:xfrm>
            <a:off x="6726784" y="3529584"/>
            <a:ext cx="164592" cy="164592"/>
          </a:xfrm>
          <a:prstGeom prst="rect">
            <a:avLst/>
          </a:prstGeom>
        </p:spPr>
      </p:pic>
      <p:sp>
        <p:nvSpPr>
          <p:cNvPr id="29" name="Text 20"/>
          <p:cNvSpPr txBox="1"/>
          <p:nvPr/>
        </p:nvSpPr>
        <p:spPr>
          <a:xfrm>
            <a:off x="7147408" y="3410712"/>
            <a:ext cx="4175608" cy="402336"/>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Arguing in circles on a bug in a stale session</a:t>
            </a:r>
            <a:endParaRPr lang="en-US" sz="1500" dirty="0"/>
          </a:p>
        </p:txBody>
      </p:sp>
      <p:sp>
        <p:nvSpPr>
          <p:cNvPr id="30" name="Shape 21"/>
          <p:cNvSpPr/>
          <p:nvPr/>
        </p:nvSpPr>
        <p:spPr>
          <a:xfrm>
            <a:off x="6644488" y="4014216"/>
            <a:ext cx="329184" cy="329184"/>
          </a:xfrm>
          <a:prstGeom prst="ellipse">
            <a:avLst/>
          </a:prstGeom>
          <a:solidFill>
            <a:srgbClr val="F6921E"/>
          </a:solidFill>
          <a:ln/>
        </p:spPr>
        <p:txBody>
          <a:bodyPr/>
          <a:lstStyle/>
          <a:p>
            <a:endParaRPr lang="en-US"/>
          </a:p>
        </p:txBody>
      </p:sp>
      <p:pic>
        <p:nvPicPr>
          <p:cNvPr id="31" name="Image 7" descr="preencoded.png"/>
          <p:cNvPicPr>
            <a:picLocks noChangeAspect="1"/>
          </p:cNvPicPr>
          <p:nvPr/>
        </p:nvPicPr>
        <p:blipFill>
          <a:blip r:embed="rId4"/>
          <a:stretch>
            <a:fillRect/>
          </a:stretch>
        </p:blipFill>
        <p:spPr>
          <a:xfrm>
            <a:off x="6726784" y="4096512"/>
            <a:ext cx="164592" cy="164592"/>
          </a:xfrm>
          <a:prstGeom prst="rect">
            <a:avLst/>
          </a:prstGeom>
        </p:spPr>
      </p:pic>
      <p:sp>
        <p:nvSpPr>
          <p:cNvPr id="32" name="Text 22"/>
          <p:cNvSpPr txBox="1"/>
          <p:nvPr/>
        </p:nvSpPr>
        <p:spPr>
          <a:xfrm>
            <a:off x="7147408" y="3977640"/>
            <a:ext cx="4175608" cy="402336"/>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Live production data without a sandbox</a:t>
            </a:r>
            <a:endParaRPr lang="en-US" sz="1500" dirty="0"/>
          </a:p>
        </p:txBody>
      </p:sp>
      <p:sp>
        <p:nvSpPr>
          <p:cNvPr id="33" name="Shape 23"/>
          <p:cNvSpPr/>
          <p:nvPr/>
        </p:nvSpPr>
        <p:spPr>
          <a:xfrm>
            <a:off x="6644488" y="4581144"/>
            <a:ext cx="329184" cy="329184"/>
          </a:xfrm>
          <a:prstGeom prst="ellipse">
            <a:avLst/>
          </a:prstGeom>
          <a:solidFill>
            <a:srgbClr val="F6921E"/>
          </a:solidFill>
          <a:ln/>
        </p:spPr>
        <p:txBody>
          <a:bodyPr/>
          <a:lstStyle/>
          <a:p>
            <a:endParaRPr lang="en-US"/>
          </a:p>
        </p:txBody>
      </p:sp>
      <p:pic>
        <p:nvPicPr>
          <p:cNvPr id="34" name="Image 8" descr="preencoded.png"/>
          <p:cNvPicPr>
            <a:picLocks noChangeAspect="1"/>
          </p:cNvPicPr>
          <p:nvPr/>
        </p:nvPicPr>
        <p:blipFill>
          <a:blip r:embed="rId4"/>
          <a:stretch>
            <a:fillRect/>
          </a:stretch>
        </p:blipFill>
        <p:spPr>
          <a:xfrm>
            <a:off x="6726784" y="4663440"/>
            <a:ext cx="164592" cy="164592"/>
          </a:xfrm>
          <a:prstGeom prst="rect">
            <a:avLst/>
          </a:prstGeom>
        </p:spPr>
      </p:pic>
      <p:sp>
        <p:nvSpPr>
          <p:cNvPr id="35" name="Text 24"/>
          <p:cNvSpPr txBox="1"/>
          <p:nvPr/>
        </p:nvSpPr>
        <p:spPr>
          <a:xfrm>
            <a:off x="7147408" y="4544568"/>
            <a:ext cx="4175608" cy="402336"/>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Auth, payments or PII you can't review</a:t>
            </a:r>
            <a:endParaRPr lang="en-US" sz="1500" dirty="0"/>
          </a:p>
        </p:txBody>
      </p:sp>
      <p:sp>
        <p:nvSpPr>
          <p:cNvPr id="36" name="Shape 25"/>
          <p:cNvSpPr/>
          <p:nvPr/>
        </p:nvSpPr>
        <p:spPr>
          <a:xfrm>
            <a:off x="6644488" y="5148072"/>
            <a:ext cx="329184" cy="329184"/>
          </a:xfrm>
          <a:prstGeom prst="ellipse">
            <a:avLst/>
          </a:prstGeom>
          <a:solidFill>
            <a:srgbClr val="F6921E"/>
          </a:solidFill>
          <a:ln/>
        </p:spPr>
        <p:txBody>
          <a:bodyPr/>
          <a:lstStyle/>
          <a:p>
            <a:endParaRPr lang="en-US"/>
          </a:p>
        </p:txBody>
      </p:sp>
      <p:pic>
        <p:nvPicPr>
          <p:cNvPr id="37" name="Image 9" descr="preencoded.png"/>
          <p:cNvPicPr>
            <a:picLocks noChangeAspect="1"/>
          </p:cNvPicPr>
          <p:nvPr/>
        </p:nvPicPr>
        <p:blipFill>
          <a:blip r:embed="rId4"/>
          <a:stretch>
            <a:fillRect/>
          </a:stretch>
        </p:blipFill>
        <p:spPr>
          <a:xfrm>
            <a:off x="6726784" y="5230368"/>
            <a:ext cx="164592" cy="164592"/>
          </a:xfrm>
          <a:prstGeom prst="rect">
            <a:avLst/>
          </a:prstGeom>
        </p:spPr>
      </p:pic>
      <p:sp>
        <p:nvSpPr>
          <p:cNvPr id="38" name="Text 26"/>
          <p:cNvSpPr txBox="1"/>
          <p:nvPr/>
        </p:nvSpPr>
        <p:spPr>
          <a:xfrm>
            <a:off x="7147408" y="5111496"/>
            <a:ext cx="4175608" cy="402336"/>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Requirements that change mid-session</a:t>
            </a:r>
            <a:endParaRPr lang="en-US" sz="1500" dirty="0"/>
          </a:p>
        </p:txBody>
      </p:sp>
      <p:sp>
        <p:nvSpPr>
          <p:cNvPr id="39" name="Text 27"/>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40" name="Text 28"/>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4942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224942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RULES OF THUMB</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Two threes worth remembering</a:t>
            </a:r>
            <a:endParaRPr lang="en-US" sz="3400" dirty="0"/>
          </a:p>
        </p:txBody>
      </p:sp>
      <p:sp>
        <p:nvSpPr>
          <p:cNvPr id="5" name="Shape 3"/>
          <p:cNvSpPr/>
          <p:nvPr/>
        </p:nvSpPr>
        <p:spPr>
          <a:xfrm>
            <a:off x="548640" y="2011680"/>
            <a:ext cx="5364328" cy="3383280"/>
          </a:xfrm>
          <a:prstGeom prst="roundRect">
            <a:avLst>
              <a:gd name="adj" fmla="val 4324"/>
            </a:avLst>
          </a:prstGeom>
          <a:solidFill>
            <a:srgbClr val="F7F5F3"/>
          </a:solidFill>
          <a:ln w="9525">
            <a:solidFill>
              <a:srgbClr val="E4DED8"/>
            </a:solidFill>
            <a:prstDash val="solid"/>
          </a:ln>
        </p:spPr>
        <p:txBody>
          <a:bodyPr/>
          <a:lstStyle/>
          <a:p>
            <a:endParaRPr lang="en-US"/>
          </a:p>
        </p:txBody>
      </p:sp>
      <p:sp>
        <p:nvSpPr>
          <p:cNvPr id="6" name="Text 4"/>
          <p:cNvSpPr txBox="1"/>
          <p:nvPr/>
        </p:nvSpPr>
        <p:spPr>
          <a:xfrm>
            <a:off x="914400" y="2286000"/>
            <a:ext cx="1463040" cy="1463040"/>
          </a:xfrm>
          <a:prstGeom prst="rect">
            <a:avLst/>
          </a:prstGeom>
          <a:noFill/>
          <a:ln/>
        </p:spPr>
        <p:txBody>
          <a:bodyPr wrap="square" lIns="0" tIns="0" rIns="0" bIns="0" rtlCol="0" anchor="t"/>
          <a:lstStyle/>
          <a:p>
            <a:pPr marL="0" indent="0">
              <a:buNone/>
            </a:pPr>
            <a:r>
              <a:rPr lang="en-US" sz="11000" b="1" dirty="0">
                <a:solidFill>
                  <a:srgbClr val="F6921E"/>
                </a:solidFill>
                <a:latin typeface="Arial" pitchFamily="34" charset="0"/>
                <a:ea typeface="Arial" pitchFamily="34" charset="-122"/>
                <a:cs typeface="Arial" pitchFamily="34" charset="-120"/>
              </a:rPr>
              <a:t>3</a:t>
            </a:r>
            <a:endParaRPr lang="en-US" sz="11000" dirty="0"/>
          </a:p>
        </p:txBody>
      </p:sp>
      <p:sp>
        <p:nvSpPr>
          <p:cNvPr id="7" name="Text 5"/>
          <p:cNvSpPr txBox="1"/>
          <p:nvPr/>
        </p:nvSpPr>
        <p:spPr>
          <a:xfrm>
            <a:off x="2286000" y="2880360"/>
            <a:ext cx="3261208" cy="640080"/>
          </a:xfrm>
          <a:prstGeom prst="rect">
            <a:avLst/>
          </a:prstGeom>
          <a:noFill/>
          <a:ln/>
        </p:spPr>
        <p:txBody>
          <a:bodyPr wrap="square" lIns="0" tIns="0" rIns="0" bIns="0" rtlCol="0" anchor="t"/>
          <a:lstStyle/>
          <a:p>
            <a:pPr marL="0" indent="0">
              <a:buNone/>
            </a:pPr>
            <a:r>
              <a:rPr lang="en-US" sz="3000" b="1" dirty="0">
                <a:solidFill>
                  <a:srgbClr val="2D2926"/>
                </a:solidFill>
                <a:latin typeface="Arial" pitchFamily="34" charset="0"/>
                <a:ea typeface="Arial" pitchFamily="34" charset="-122"/>
                <a:cs typeface="Arial" pitchFamily="34" charset="-120"/>
              </a:rPr>
              <a:t>sentences</a:t>
            </a:r>
            <a:endParaRPr lang="en-US" sz="3000" dirty="0"/>
          </a:p>
        </p:txBody>
      </p:sp>
      <p:sp>
        <p:nvSpPr>
          <p:cNvPr id="8" name="Text 6"/>
          <p:cNvSpPr txBox="1"/>
          <p:nvPr/>
        </p:nvSpPr>
        <p:spPr>
          <a:xfrm>
            <a:off x="914400" y="3931920"/>
            <a:ext cx="4632808" cy="1188720"/>
          </a:xfrm>
          <a:prstGeom prst="rect">
            <a:avLst/>
          </a:prstGeom>
          <a:noFill/>
          <a:ln/>
        </p:spPr>
        <p:txBody>
          <a:bodyPr wrap="square" lIns="0" tIns="0" rIns="0" bIns="0" rtlCol="0" anchor="t"/>
          <a:lstStyle/>
          <a:p>
            <a:pPr marL="0" indent="0">
              <a:buNone/>
            </a:pPr>
            <a:r>
              <a:rPr lang="en-US" sz="1800" dirty="0">
                <a:solidFill>
                  <a:srgbClr val="5A544F"/>
                </a:solidFill>
                <a:latin typeface="Arial" pitchFamily="34" charset="0"/>
                <a:ea typeface="Arial" pitchFamily="34" charset="-122"/>
                <a:cs typeface="Arial" pitchFamily="34" charset="-120"/>
              </a:rPr>
              <a:t>If you can't describe "done" in three sentences, it's not a first project.</a:t>
            </a:r>
            <a:endParaRPr lang="en-US" sz="1800" dirty="0"/>
          </a:p>
        </p:txBody>
      </p:sp>
      <p:sp>
        <p:nvSpPr>
          <p:cNvPr id="9" name="Shape 7"/>
          <p:cNvSpPr/>
          <p:nvPr/>
        </p:nvSpPr>
        <p:spPr>
          <a:xfrm>
            <a:off x="6278728" y="2011680"/>
            <a:ext cx="5364328" cy="3383280"/>
          </a:xfrm>
          <a:prstGeom prst="roundRect">
            <a:avLst>
              <a:gd name="adj" fmla="val 4324"/>
            </a:avLst>
          </a:prstGeom>
          <a:solidFill>
            <a:srgbClr val="F7F5F3"/>
          </a:solidFill>
          <a:ln w="9525">
            <a:solidFill>
              <a:srgbClr val="E4DED8"/>
            </a:solidFill>
            <a:prstDash val="solid"/>
          </a:ln>
        </p:spPr>
        <p:txBody>
          <a:bodyPr/>
          <a:lstStyle/>
          <a:p>
            <a:endParaRPr lang="en-US"/>
          </a:p>
        </p:txBody>
      </p:sp>
      <p:sp>
        <p:nvSpPr>
          <p:cNvPr id="10" name="Text 8"/>
          <p:cNvSpPr txBox="1"/>
          <p:nvPr/>
        </p:nvSpPr>
        <p:spPr>
          <a:xfrm>
            <a:off x="6644488" y="2286000"/>
            <a:ext cx="1463040" cy="1463040"/>
          </a:xfrm>
          <a:prstGeom prst="rect">
            <a:avLst/>
          </a:prstGeom>
          <a:noFill/>
          <a:ln/>
        </p:spPr>
        <p:txBody>
          <a:bodyPr wrap="square" lIns="0" tIns="0" rIns="0" bIns="0" rtlCol="0" anchor="t"/>
          <a:lstStyle/>
          <a:p>
            <a:pPr marL="0" indent="0">
              <a:buNone/>
            </a:pPr>
            <a:r>
              <a:rPr lang="en-US" sz="11000" b="1" dirty="0">
                <a:solidFill>
                  <a:srgbClr val="F6921E"/>
                </a:solidFill>
                <a:latin typeface="Arial" pitchFamily="34" charset="0"/>
                <a:ea typeface="Arial" pitchFamily="34" charset="-122"/>
                <a:cs typeface="Arial" pitchFamily="34" charset="-120"/>
              </a:rPr>
              <a:t>3</a:t>
            </a:r>
            <a:endParaRPr lang="en-US" sz="11000" dirty="0"/>
          </a:p>
        </p:txBody>
      </p:sp>
      <p:sp>
        <p:nvSpPr>
          <p:cNvPr id="11" name="Text 9"/>
          <p:cNvSpPr txBox="1"/>
          <p:nvPr/>
        </p:nvSpPr>
        <p:spPr>
          <a:xfrm>
            <a:off x="8016088" y="2880360"/>
            <a:ext cx="3261208" cy="640080"/>
          </a:xfrm>
          <a:prstGeom prst="rect">
            <a:avLst/>
          </a:prstGeom>
          <a:noFill/>
          <a:ln/>
        </p:spPr>
        <p:txBody>
          <a:bodyPr wrap="square" lIns="0" tIns="0" rIns="0" bIns="0" rtlCol="0" anchor="t"/>
          <a:lstStyle/>
          <a:p>
            <a:pPr marL="0" indent="0">
              <a:buNone/>
            </a:pPr>
            <a:r>
              <a:rPr lang="en-US" sz="3000" b="1" dirty="0">
                <a:solidFill>
                  <a:srgbClr val="2D2926"/>
                </a:solidFill>
                <a:latin typeface="Arial" pitchFamily="34" charset="0"/>
                <a:ea typeface="Arial" pitchFamily="34" charset="-122"/>
                <a:cs typeface="Arial" pitchFamily="34" charset="-120"/>
              </a:rPr>
              <a:t>strikes</a:t>
            </a:r>
            <a:endParaRPr lang="en-US" sz="3000" dirty="0"/>
          </a:p>
        </p:txBody>
      </p:sp>
      <p:sp>
        <p:nvSpPr>
          <p:cNvPr id="12" name="Text 10"/>
          <p:cNvSpPr txBox="1"/>
          <p:nvPr/>
        </p:nvSpPr>
        <p:spPr>
          <a:xfrm>
            <a:off x="6644488" y="3931920"/>
            <a:ext cx="4632808" cy="1188720"/>
          </a:xfrm>
          <a:prstGeom prst="rect">
            <a:avLst/>
          </a:prstGeom>
          <a:noFill/>
          <a:ln/>
        </p:spPr>
        <p:txBody>
          <a:bodyPr wrap="square" lIns="0" tIns="0" rIns="0" bIns="0" rtlCol="0" anchor="t"/>
          <a:lstStyle/>
          <a:p>
            <a:pPr marL="0" indent="0">
              <a:buNone/>
            </a:pPr>
            <a:r>
              <a:rPr lang="en-US" sz="1800" dirty="0">
                <a:solidFill>
                  <a:srgbClr val="5A544F"/>
                </a:solidFill>
                <a:latin typeface="Arial" pitchFamily="34" charset="0"/>
                <a:ea typeface="Arial" pitchFamily="34" charset="-122"/>
                <a:cs typeface="Arial" pitchFamily="34" charset="-120"/>
              </a:rPr>
              <a:t>Said "no, that's still wrong" three times? Stop, /clear, and restate with what you learned.</a:t>
            </a:r>
            <a:endParaRPr lang="en-US" sz="1800" dirty="0"/>
          </a:p>
        </p:txBody>
      </p:sp>
      <p:sp>
        <p:nvSpPr>
          <p:cNvPr id="13" name="Text 11"/>
          <p:cNvSpPr txBox="1"/>
          <p:nvPr/>
        </p:nvSpPr>
        <p:spPr>
          <a:xfrm>
            <a:off x="548640" y="5577840"/>
            <a:ext cx="11094415" cy="365760"/>
          </a:xfrm>
          <a:prstGeom prst="rect">
            <a:avLst/>
          </a:prstGeom>
          <a:noFill/>
          <a:ln/>
        </p:spPr>
        <p:txBody>
          <a:bodyPr wrap="square" lIns="0" tIns="0" rIns="0" bIns="0" rtlCol="0" anchor="t"/>
          <a:lstStyle/>
          <a:p>
            <a:pPr marL="0" indent="0">
              <a:buNone/>
            </a:pPr>
            <a:r>
              <a:rPr lang="en-US" sz="1600" b="1" i="1" dirty="0">
                <a:solidFill>
                  <a:srgbClr val="2D2926"/>
                </a:solidFill>
                <a:latin typeface="Arial" pitchFamily="34" charset="0"/>
                <a:ea typeface="Arial" pitchFamily="34" charset="-122"/>
                <a:cs typeface="Arial" pitchFamily="34" charset="-120"/>
              </a:rPr>
              <a:t>The difference between the two columns is mostly habits.</a:t>
            </a:r>
            <a:endParaRPr lang="en-US" sz="1600" dirty="0"/>
          </a:p>
        </p:txBody>
      </p:sp>
      <p:sp>
        <p:nvSpPr>
          <p:cNvPr id="14" name="Text 1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15" name="Text 13"/>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92420"/>
        </a:solidFill>
        <a:effectLst/>
      </p:bgPr>
    </p:bg>
    <p:spTree>
      <p:nvGrpSpPr>
        <p:cNvPr id="1" name=""/>
        <p:cNvGrpSpPr/>
        <p:nvPr/>
      </p:nvGrpSpPr>
      <p:grpSpPr>
        <a:xfrm>
          <a:off x="0" y="0"/>
          <a:ext cx="0" cy="0"/>
          <a:chOff x="0" y="0"/>
          <a:chExt cx="0" cy="0"/>
        </a:xfrm>
      </p:grpSpPr>
      <p:pic>
        <p:nvPicPr>
          <p:cNvPr id="2" name="Image 0" descr="Five orange stepping stones rising toward a glowing open doorway"/>
          <p:cNvPicPr>
            <a:picLocks noChangeAspect="1"/>
          </p:cNvPicPr>
          <p:nvPr/>
        </p:nvPicPr>
        <p:blipFill>
          <a:blip r:embed="rId3"/>
          <a:stretch>
            <a:fillRect/>
          </a:stretch>
        </p:blipFill>
        <p:spPr>
          <a:xfrm>
            <a:off x="1904695" y="0"/>
            <a:ext cx="10287000" cy="6858000"/>
          </a:xfrm>
          <a:prstGeom prst="rect">
            <a:avLst/>
          </a:prstGeom>
        </p:spPr>
      </p:pic>
      <p:sp>
        <p:nvSpPr>
          <p:cNvPr id="3" name="Shape 0"/>
          <p:cNvSpPr/>
          <p:nvPr/>
        </p:nvSpPr>
        <p:spPr>
          <a:xfrm>
            <a:off x="548640" y="2103120"/>
            <a:ext cx="1481328" cy="329184"/>
          </a:xfrm>
          <a:prstGeom prst="roundRect">
            <a:avLst>
              <a:gd name="adj" fmla="val 50000"/>
            </a:avLst>
          </a:prstGeom>
          <a:solidFill>
            <a:srgbClr val="F6921E"/>
          </a:solidFill>
          <a:ln/>
        </p:spPr>
        <p:txBody>
          <a:bodyPr/>
          <a:lstStyle/>
          <a:p>
            <a:endParaRPr lang="en-US"/>
          </a:p>
        </p:txBody>
      </p:sp>
      <p:sp>
        <p:nvSpPr>
          <p:cNvPr id="4" name="Text 1"/>
          <p:cNvSpPr txBox="1"/>
          <p:nvPr/>
        </p:nvSpPr>
        <p:spPr>
          <a:xfrm>
            <a:off x="548640" y="2103120"/>
            <a:ext cx="148132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CORE</a:t>
            </a:r>
            <a:endParaRPr lang="en-US" sz="1100" dirty="0"/>
          </a:p>
        </p:txBody>
      </p:sp>
      <p:sp>
        <p:nvSpPr>
          <p:cNvPr id="5" name="Text 2"/>
          <p:cNvSpPr txBox="1"/>
          <p:nvPr/>
        </p:nvSpPr>
        <p:spPr>
          <a:xfrm>
            <a:off x="548640" y="2651760"/>
            <a:ext cx="5120640" cy="1645920"/>
          </a:xfrm>
          <a:prstGeom prst="rect">
            <a:avLst/>
          </a:prstGeom>
          <a:noFill/>
          <a:ln/>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Five habits decide the outcome</a:t>
            </a:r>
            <a:endParaRPr lang="en-US" sz="4400" dirty="0"/>
          </a:p>
        </p:txBody>
      </p:sp>
      <p:sp>
        <p:nvSpPr>
          <p:cNvPr id="6" name="Text 3"/>
          <p:cNvSpPr txBox="1"/>
          <p:nvPr/>
        </p:nvSpPr>
        <p:spPr>
          <a:xfrm>
            <a:off x="548640" y="4434840"/>
            <a:ext cx="4572000" cy="822960"/>
          </a:xfrm>
          <a:prstGeom prst="rect">
            <a:avLst/>
          </a:prstGeom>
          <a:noFill/>
          <a:ln/>
        </p:spPr>
        <p:txBody>
          <a:bodyPr wrap="square" lIns="0" tIns="0" rIns="0" bIns="0" rtlCol="0" anchor="t"/>
          <a:lstStyle/>
          <a:p>
            <a:pPr marL="0" indent="0">
              <a:buNone/>
            </a:pPr>
            <a:r>
              <a:rPr lang="en-US" sz="1800" dirty="0">
                <a:solidFill>
                  <a:srgbClr val="E4DED8"/>
                </a:solidFill>
                <a:latin typeface="Arial" pitchFamily="34" charset="0"/>
                <a:ea typeface="Arial" pitchFamily="34" charset="-122"/>
                <a:cs typeface="Arial" pitchFamily="34" charset="-120"/>
              </a:rPr>
              <a:t>Small steps, each one checked, toward a door you can actually walk through.</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48132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48132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CORE</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The five habits</a:t>
            </a:r>
            <a:endParaRPr lang="en-US" sz="3400" dirty="0"/>
          </a:p>
        </p:txBody>
      </p:sp>
      <p:sp>
        <p:nvSpPr>
          <p:cNvPr id="5" name="Text 3"/>
          <p:cNvSpPr txBox="1"/>
          <p:nvPr/>
        </p:nvSpPr>
        <p:spPr>
          <a:xfrm>
            <a:off x="4480560" y="1783080"/>
            <a:ext cx="4114800"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WHAT IT LOOKS LIKE</a:t>
            </a:r>
            <a:endParaRPr lang="en-US" sz="1100" dirty="0"/>
          </a:p>
        </p:txBody>
      </p:sp>
      <p:sp>
        <p:nvSpPr>
          <p:cNvPr id="6" name="Text 4"/>
          <p:cNvSpPr txBox="1"/>
          <p:nvPr/>
        </p:nvSpPr>
        <p:spPr>
          <a:xfrm>
            <a:off x="8869680" y="1783080"/>
            <a:ext cx="2743200"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WHAT IT PREVENTS</a:t>
            </a:r>
            <a:endParaRPr lang="en-US" sz="1100" dirty="0"/>
          </a:p>
        </p:txBody>
      </p:sp>
      <p:sp>
        <p:nvSpPr>
          <p:cNvPr id="7" name="Shape 5"/>
          <p:cNvSpPr/>
          <p:nvPr/>
        </p:nvSpPr>
        <p:spPr>
          <a:xfrm>
            <a:off x="548640" y="2148840"/>
            <a:ext cx="11094415" cy="658368"/>
          </a:xfrm>
          <a:prstGeom prst="roundRect">
            <a:avLst>
              <a:gd name="adj" fmla="val 16667"/>
            </a:avLst>
          </a:prstGeom>
          <a:solidFill>
            <a:srgbClr val="F7F5F3"/>
          </a:solidFill>
          <a:ln w="9525">
            <a:solidFill>
              <a:srgbClr val="E4DED8"/>
            </a:solidFill>
            <a:prstDash val="solid"/>
          </a:ln>
        </p:spPr>
        <p:txBody>
          <a:bodyPr/>
          <a:lstStyle/>
          <a:p>
            <a:endParaRPr lang="en-US"/>
          </a:p>
        </p:txBody>
      </p:sp>
      <p:sp>
        <p:nvSpPr>
          <p:cNvPr id="8" name="Shape 6"/>
          <p:cNvSpPr/>
          <p:nvPr/>
        </p:nvSpPr>
        <p:spPr>
          <a:xfrm>
            <a:off x="731520" y="2240280"/>
            <a:ext cx="475488" cy="475488"/>
          </a:xfrm>
          <a:prstGeom prst="ellipse">
            <a:avLst/>
          </a:prstGeom>
          <a:solidFill>
            <a:srgbClr val="F6921E"/>
          </a:solidFill>
          <a:ln/>
        </p:spPr>
        <p:txBody>
          <a:bodyPr/>
          <a:lstStyle/>
          <a:p>
            <a:endParaRPr lang="en-US"/>
          </a:p>
        </p:txBody>
      </p:sp>
      <p:sp>
        <p:nvSpPr>
          <p:cNvPr id="9" name="Text 7"/>
          <p:cNvSpPr txBox="1"/>
          <p:nvPr/>
        </p:nvSpPr>
        <p:spPr>
          <a:xfrm>
            <a:off x="731520" y="2240280"/>
            <a:ext cx="475488" cy="475488"/>
          </a:xfrm>
          <a:prstGeom prst="rect">
            <a:avLst/>
          </a:prstGeom>
          <a:noFill/>
          <a:ln/>
        </p:spPr>
        <p:txBody>
          <a:bodyPr wrap="square" lIns="0" tIns="0" rIns="0" bIns="0" rtlCol="0" anchor="ctr"/>
          <a:lstStyle/>
          <a:p>
            <a:pPr marL="0" indent="0" algn="ctr">
              <a:buNone/>
            </a:pPr>
            <a:r>
              <a:rPr lang="en-US" sz="1560" b="1" dirty="0">
                <a:solidFill>
                  <a:srgbClr val="2D2926"/>
                </a:solidFill>
                <a:latin typeface="Arial" pitchFamily="34" charset="0"/>
                <a:ea typeface="Arial" pitchFamily="34" charset="-122"/>
                <a:cs typeface="Arial" pitchFamily="34" charset="-120"/>
              </a:rPr>
              <a:t>1</a:t>
            </a:r>
            <a:endParaRPr lang="en-US" sz="1560" dirty="0"/>
          </a:p>
        </p:txBody>
      </p:sp>
      <p:sp>
        <p:nvSpPr>
          <p:cNvPr id="10" name="Text 8"/>
          <p:cNvSpPr txBox="1"/>
          <p:nvPr/>
        </p:nvSpPr>
        <p:spPr>
          <a:xfrm>
            <a:off x="1417320" y="2148840"/>
            <a:ext cx="3017520" cy="658368"/>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Plan before code</a:t>
            </a:r>
            <a:endParaRPr lang="en-US" sz="1700" dirty="0"/>
          </a:p>
        </p:txBody>
      </p:sp>
      <p:sp>
        <p:nvSpPr>
          <p:cNvPr id="11" name="Text 9"/>
          <p:cNvSpPr txBox="1"/>
          <p:nvPr/>
        </p:nvSpPr>
        <p:spPr>
          <a:xfrm>
            <a:off x="4480560" y="2148840"/>
            <a:ext cx="4206240" cy="658368"/>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Ask for a plan, read it, cut scope, then say "go".</a:t>
            </a:r>
            <a:endParaRPr lang="en-US" sz="1400" dirty="0"/>
          </a:p>
        </p:txBody>
      </p:sp>
      <p:sp>
        <p:nvSpPr>
          <p:cNvPr id="12" name="Text 10"/>
          <p:cNvSpPr txBox="1"/>
          <p:nvPr/>
        </p:nvSpPr>
        <p:spPr>
          <a:xfrm>
            <a:off x="8869680" y="2148840"/>
            <a:ext cx="2590495" cy="658368"/>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3,000 lines solving the wrong problem</a:t>
            </a:r>
            <a:endParaRPr lang="en-US" sz="1400" dirty="0"/>
          </a:p>
        </p:txBody>
      </p:sp>
      <p:sp>
        <p:nvSpPr>
          <p:cNvPr id="13" name="Shape 11"/>
          <p:cNvSpPr/>
          <p:nvPr/>
        </p:nvSpPr>
        <p:spPr>
          <a:xfrm>
            <a:off x="548640" y="2916936"/>
            <a:ext cx="11094415" cy="658368"/>
          </a:xfrm>
          <a:prstGeom prst="roundRect">
            <a:avLst>
              <a:gd name="adj" fmla="val 16667"/>
            </a:avLst>
          </a:prstGeom>
          <a:solidFill>
            <a:srgbClr val="FFFFFF"/>
          </a:solidFill>
          <a:ln w="9525">
            <a:solidFill>
              <a:srgbClr val="E4DED8"/>
            </a:solidFill>
            <a:prstDash val="solid"/>
          </a:ln>
        </p:spPr>
        <p:txBody>
          <a:bodyPr/>
          <a:lstStyle/>
          <a:p>
            <a:endParaRPr lang="en-US"/>
          </a:p>
        </p:txBody>
      </p:sp>
      <p:sp>
        <p:nvSpPr>
          <p:cNvPr id="14" name="Shape 12"/>
          <p:cNvSpPr/>
          <p:nvPr/>
        </p:nvSpPr>
        <p:spPr>
          <a:xfrm>
            <a:off x="731520" y="3008376"/>
            <a:ext cx="475488" cy="475488"/>
          </a:xfrm>
          <a:prstGeom prst="ellipse">
            <a:avLst/>
          </a:prstGeom>
          <a:solidFill>
            <a:srgbClr val="F6921E"/>
          </a:solidFill>
          <a:ln/>
        </p:spPr>
        <p:txBody>
          <a:bodyPr/>
          <a:lstStyle/>
          <a:p>
            <a:endParaRPr lang="en-US"/>
          </a:p>
        </p:txBody>
      </p:sp>
      <p:sp>
        <p:nvSpPr>
          <p:cNvPr id="15" name="Text 13"/>
          <p:cNvSpPr txBox="1"/>
          <p:nvPr/>
        </p:nvSpPr>
        <p:spPr>
          <a:xfrm>
            <a:off x="731520" y="3008376"/>
            <a:ext cx="475488" cy="475488"/>
          </a:xfrm>
          <a:prstGeom prst="rect">
            <a:avLst/>
          </a:prstGeom>
          <a:noFill/>
          <a:ln/>
        </p:spPr>
        <p:txBody>
          <a:bodyPr wrap="square" lIns="0" tIns="0" rIns="0" bIns="0" rtlCol="0" anchor="ctr"/>
          <a:lstStyle/>
          <a:p>
            <a:pPr marL="0" indent="0" algn="ctr">
              <a:buNone/>
            </a:pPr>
            <a:r>
              <a:rPr lang="en-US" sz="1560" b="1" dirty="0">
                <a:solidFill>
                  <a:srgbClr val="2D2926"/>
                </a:solidFill>
                <a:latin typeface="Arial" pitchFamily="34" charset="0"/>
                <a:ea typeface="Arial" pitchFamily="34" charset="-122"/>
                <a:cs typeface="Arial" pitchFamily="34" charset="-120"/>
              </a:rPr>
              <a:t>2</a:t>
            </a:r>
            <a:endParaRPr lang="en-US" sz="1560" dirty="0"/>
          </a:p>
        </p:txBody>
      </p:sp>
      <p:sp>
        <p:nvSpPr>
          <p:cNvPr id="16" name="Text 14"/>
          <p:cNvSpPr txBox="1"/>
          <p:nvPr/>
        </p:nvSpPr>
        <p:spPr>
          <a:xfrm>
            <a:off x="1417320" y="2916936"/>
            <a:ext cx="3017520" cy="658368"/>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Small steps, committed</a:t>
            </a:r>
            <a:endParaRPr lang="en-US" sz="1700" dirty="0"/>
          </a:p>
        </p:txBody>
      </p:sp>
      <p:sp>
        <p:nvSpPr>
          <p:cNvPr id="17" name="Text 15"/>
          <p:cNvSpPr txBox="1"/>
          <p:nvPr/>
        </p:nvSpPr>
        <p:spPr>
          <a:xfrm>
            <a:off x="4480560" y="2916936"/>
            <a:ext cx="4206240" cy="658368"/>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Git from minute one; commit after each working step.</a:t>
            </a:r>
            <a:endParaRPr lang="en-US" sz="1400" dirty="0"/>
          </a:p>
        </p:txBody>
      </p:sp>
      <p:sp>
        <p:nvSpPr>
          <p:cNvPr id="18" name="Text 16"/>
          <p:cNvSpPr txBox="1"/>
          <p:nvPr/>
        </p:nvSpPr>
        <p:spPr>
          <a:xfrm>
            <a:off x="8869680" y="2916936"/>
            <a:ext cx="2590495" cy="658368"/>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No way back when step 7 breaks 1-6</a:t>
            </a:r>
            <a:endParaRPr lang="en-US" sz="1400" dirty="0"/>
          </a:p>
        </p:txBody>
      </p:sp>
      <p:sp>
        <p:nvSpPr>
          <p:cNvPr id="19" name="Shape 17"/>
          <p:cNvSpPr/>
          <p:nvPr/>
        </p:nvSpPr>
        <p:spPr>
          <a:xfrm>
            <a:off x="548640" y="3685032"/>
            <a:ext cx="11094415" cy="658368"/>
          </a:xfrm>
          <a:prstGeom prst="roundRect">
            <a:avLst>
              <a:gd name="adj" fmla="val 16667"/>
            </a:avLst>
          </a:prstGeom>
          <a:solidFill>
            <a:srgbClr val="F7F5F3"/>
          </a:solidFill>
          <a:ln w="9525">
            <a:solidFill>
              <a:srgbClr val="E4DED8"/>
            </a:solidFill>
            <a:prstDash val="solid"/>
          </a:ln>
        </p:spPr>
        <p:txBody>
          <a:bodyPr/>
          <a:lstStyle/>
          <a:p>
            <a:endParaRPr lang="en-US"/>
          </a:p>
        </p:txBody>
      </p:sp>
      <p:sp>
        <p:nvSpPr>
          <p:cNvPr id="20" name="Shape 18"/>
          <p:cNvSpPr/>
          <p:nvPr/>
        </p:nvSpPr>
        <p:spPr>
          <a:xfrm>
            <a:off x="731520" y="3776472"/>
            <a:ext cx="475488" cy="475488"/>
          </a:xfrm>
          <a:prstGeom prst="ellipse">
            <a:avLst/>
          </a:prstGeom>
          <a:solidFill>
            <a:srgbClr val="F6921E"/>
          </a:solidFill>
          <a:ln/>
        </p:spPr>
        <p:txBody>
          <a:bodyPr/>
          <a:lstStyle/>
          <a:p>
            <a:endParaRPr lang="en-US"/>
          </a:p>
        </p:txBody>
      </p:sp>
      <p:sp>
        <p:nvSpPr>
          <p:cNvPr id="21" name="Text 19"/>
          <p:cNvSpPr txBox="1"/>
          <p:nvPr/>
        </p:nvSpPr>
        <p:spPr>
          <a:xfrm>
            <a:off x="731520" y="3776472"/>
            <a:ext cx="475488" cy="475488"/>
          </a:xfrm>
          <a:prstGeom prst="rect">
            <a:avLst/>
          </a:prstGeom>
          <a:noFill/>
          <a:ln/>
        </p:spPr>
        <p:txBody>
          <a:bodyPr wrap="square" lIns="0" tIns="0" rIns="0" bIns="0" rtlCol="0" anchor="ctr"/>
          <a:lstStyle/>
          <a:p>
            <a:pPr marL="0" indent="0" algn="ctr">
              <a:buNone/>
            </a:pPr>
            <a:r>
              <a:rPr lang="en-US" sz="1560" b="1" dirty="0">
                <a:solidFill>
                  <a:srgbClr val="2D2926"/>
                </a:solidFill>
                <a:latin typeface="Arial" pitchFamily="34" charset="0"/>
                <a:ea typeface="Arial" pitchFamily="34" charset="-122"/>
                <a:cs typeface="Arial" pitchFamily="34" charset="-120"/>
              </a:rPr>
              <a:t>3</a:t>
            </a:r>
            <a:endParaRPr lang="en-US" sz="1560" dirty="0"/>
          </a:p>
        </p:txBody>
      </p:sp>
      <p:sp>
        <p:nvSpPr>
          <p:cNvPr id="22" name="Text 20"/>
          <p:cNvSpPr txBox="1"/>
          <p:nvPr/>
        </p:nvSpPr>
        <p:spPr>
          <a:xfrm>
            <a:off x="1417320" y="3685032"/>
            <a:ext cx="3017520" cy="658368"/>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Write down the context</a:t>
            </a:r>
            <a:endParaRPr lang="en-US" sz="1700" dirty="0"/>
          </a:p>
        </p:txBody>
      </p:sp>
      <p:sp>
        <p:nvSpPr>
          <p:cNvPr id="23" name="Text 21"/>
          <p:cNvSpPr txBox="1"/>
          <p:nvPr/>
        </p:nvSpPr>
        <p:spPr>
          <a:xfrm>
            <a:off x="4480560" y="3685032"/>
            <a:ext cx="4206240" cy="658368"/>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A short CLAUDE.md: what it is, how to run it, what not to touch.</a:t>
            </a:r>
            <a:endParaRPr lang="en-US" sz="1400" dirty="0"/>
          </a:p>
        </p:txBody>
      </p:sp>
      <p:sp>
        <p:nvSpPr>
          <p:cNvPr id="24" name="Text 22"/>
          <p:cNvSpPr txBox="1"/>
          <p:nvPr/>
        </p:nvSpPr>
        <p:spPr>
          <a:xfrm>
            <a:off x="8869680" y="3685032"/>
            <a:ext cx="2590495" cy="658368"/>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Re-explaining your ChMS every session</a:t>
            </a:r>
            <a:endParaRPr lang="en-US" sz="1400" dirty="0"/>
          </a:p>
        </p:txBody>
      </p:sp>
      <p:sp>
        <p:nvSpPr>
          <p:cNvPr id="25" name="Shape 23"/>
          <p:cNvSpPr/>
          <p:nvPr/>
        </p:nvSpPr>
        <p:spPr>
          <a:xfrm>
            <a:off x="548640" y="4453128"/>
            <a:ext cx="11094415" cy="658368"/>
          </a:xfrm>
          <a:prstGeom prst="roundRect">
            <a:avLst>
              <a:gd name="adj" fmla="val 16667"/>
            </a:avLst>
          </a:prstGeom>
          <a:solidFill>
            <a:srgbClr val="FFFFFF"/>
          </a:solidFill>
          <a:ln w="9525">
            <a:solidFill>
              <a:srgbClr val="E4DED8"/>
            </a:solidFill>
            <a:prstDash val="solid"/>
          </a:ln>
        </p:spPr>
        <p:txBody>
          <a:bodyPr/>
          <a:lstStyle/>
          <a:p>
            <a:endParaRPr lang="en-US"/>
          </a:p>
        </p:txBody>
      </p:sp>
      <p:sp>
        <p:nvSpPr>
          <p:cNvPr id="26" name="Shape 24"/>
          <p:cNvSpPr/>
          <p:nvPr/>
        </p:nvSpPr>
        <p:spPr>
          <a:xfrm>
            <a:off x="731520" y="4544568"/>
            <a:ext cx="475488" cy="475488"/>
          </a:xfrm>
          <a:prstGeom prst="ellipse">
            <a:avLst/>
          </a:prstGeom>
          <a:solidFill>
            <a:srgbClr val="F6921E"/>
          </a:solidFill>
          <a:ln/>
        </p:spPr>
        <p:txBody>
          <a:bodyPr/>
          <a:lstStyle/>
          <a:p>
            <a:endParaRPr lang="en-US"/>
          </a:p>
        </p:txBody>
      </p:sp>
      <p:sp>
        <p:nvSpPr>
          <p:cNvPr id="27" name="Text 25"/>
          <p:cNvSpPr txBox="1"/>
          <p:nvPr/>
        </p:nvSpPr>
        <p:spPr>
          <a:xfrm>
            <a:off x="731520" y="4544568"/>
            <a:ext cx="475488" cy="475488"/>
          </a:xfrm>
          <a:prstGeom prst="rect">
            <a:avLst/>
          </a:prstGeom>
          <a:noFill/>
          <a:ln/>
        </p:spPr>
        <p:txBody>
          <a:bodyPr wrap="square" lIns="0" tIns="0" rIns="0" bIns="0" rtlCol="0" anchor="ctr"/>
          <a:lstStyle/>
          <a:p>
            <a:pPr marL="0" indent="0" algn="ctr">
              <a:buNone/>
            </a:pPr>
            <a:r>
              <a:rPr lang="en-US" sz="1560" b="1" dirty="0">
                <a:solidFill>
                  <a:srgbClr val="2D2926"/>
                </a:solidFill>
                <a:latin typeface="Arial" pitchFamily="34" charset="0"/>
                <a:ea typeface="Arial" pitchFamily="34" charset="-122"/>
                <a:cs typeface="Arial" pitchFamily="34" charset="-120"/>
              </a:rPr>
              <a:t>4</a:t>
            </a:r>
            <a:endParaRPr lang="en-US" sz="1560" dirty="0"/>
          </a:p>
        </p:txBody>
      </p:sp>
      <p:sp>
        <p:nvSpPr>
          <p:cNvPr id="28" name="Text 26"/>
          <p:cNvSpPr txBox="1"/>
          <p:nvPr/>
        </p:nvSpPr>
        <p:spPr>
          <a:xfrm>
            <a:off x="1417320" y="4453128"/>
            <a:ext cx="3017520" cy="658368"/>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Make it prove it</a:t>
            </a:r>
            <a:endParaRPr lang="en-US" sz="1700" dirty="0"/>
          </a:p>
        </p:txBody>
      </p:sp>
      <p:sp>
        <p:nvSpPr>
          <p:cNvPr id="29" name="Text 27"/>
          <p:cNvSpPr txBox="1"/>
          <p:nvPr/>
        </p:nvSpPr>
        <p:spPr>
          <a:xfrm>
            <a:off x="4480560" y="4453128"/>
            <a:ext cx="4206240" cy="658368"/>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Ask for tests or a sample run; read the diff before accepting.</a:t>
            </a:r>
            <a:endParaRPr lang="en-US" sz="1400" dirty="0"/>
          </a:p>
        </p:txBody>
      </p:sp>
      <p:sp>
        <p:nvSpPr>
          <p:cNvPr id="30" name="Text 28"/>
          <p:cNvSpPr txBox="1"/>
          <p:nvPr/>
        </p:nvSpPr>
        <p:spPr>
          <a:xfrm>
            <a:off x="8869680" y="4453128"/>
            <a:ext cx="2590495" cy="658368"/>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Code that silently drops rows</a:t>
            </a:r>
            <a:endParaRPr lang="en-US" sz="1400" dirty="0"/>
          </a:p>
        </p:txBody>
      </p:sp>
      <p:sp>
        <p:nvSpPr>
          <p:cNvPr id="31" name="Shape 29"/>
          <p:cNvSpPr/>
          <p:nvPr/>
        </p:nvSpPr>
        <p:spPr>
          <a:xfrm>
            <a:off x="548640" y="5221224"/>
            <a:ext cx="11094415" cy="658368"/>
          </a:xfrm>
          <a:prstGeom prst="roundRect">
            <a:avLst>
              <a:gd name="adj" fmla="val 16667"/>
            </a:avLst>
          </a:prstGeom>
          <a:solidFill>
            <a:srgbClr val="F7F5F3"/>
          </a:solidFill>
          <a:ln w="9525">
            <a:solidFill>
              <a:srgbClr val="E4DED8"/>
            </a:solidFill>
            <a:prstDash val="solid"/>
          </a:ln>
        </p:spPr>
        <p:txBody>
          <a:bodyPr/>
          <a:lstStyle/>
          <a:p>
            <a:endParaRPr lang="en-US"/>
          </a:p>
        </p:txBody>
      </p:sp>
      <p:sp>
        <p:nvSpPr>
          <p:cNvPr id="32" name="Shape 30"/>
          <p:cNvSpPr/>
          <p:nvPr/>
        </p:nvSpPr>
        <p:spPr>
          <a:xfrm>
            <a:off x="731520" y="5312664"/>
            <a:ext cx="475488" cy="475488"/>
          </a:xfrm>
          <a:prstGeom prst="ellipse">
            <a:avLst/>
          </a:prstGeom>
          <a:solidFill>
            <a:srgbClr val="F6921E"/>
          </a:solidFill>
          <a:ln/>
        </p:spPr>
        <p:txBody>
          <a:bodyPr/>
          <a:lstStyle/>
          <a:p>
            <a:endParaRPr lang="en-US"/>
          </a:p>
        </p:txBody>
      </p:sp>
      <p:sp>
        <p:nvSpPr>
          <p:cNvPr id="33" name="Text 31"/>
          <p:cNvSpPr txBox="1"/>
          <p:nvPr/>
        </p:nvSpPr>
        <p:spPr>
          <a:xfrm>
            <a:off x="731520" y="5312664"/>
            <a:ext cx="475488" cy="475488"/>
          </a:xfrm>
          <a:prstGeom prst="rect">
            <a:avLst/>
          </a:prstGeom>
          <a:noFill/>
          <a:ln/>
        </p:spPr>
        <p:txBody>
          <a:bodyPr wrap="square" lIns="0" tIns="0" rIns="0" bIns="0" rtlCol="0" anchor="ctr"/>
          <a:lstStyle/>
          <a:p>
            <a:pPr marL="0" indent="0" algn="ctr">
              <a:buNone/>
            </a:pPr>
            <a:r>
              <a:rPr lang="en-US" sz="1560" b="1" dirty="0">
                <a:solidFill>
                  <a:srgbClr val="2D2926"/>
                </a:solidFill>
                <a:latin typeface="Arial" pitchFamily="34" charset="0"/>
                <a:ea typeface="Arial" pitchFamily="34" charset="-122"/>
                <a:cs typeface="Arial" pitchFamily="34" charset="-120"/>
              </a:rPr>
              <a:t>5</a:t>
            </a:r>
            <a:endParaRPr lang="en-US" sz="1560" dirty="0"/>
          </a:p>
        </p:txBody>
      </p:sp>
      <p:sp>
        <p:nvSpPr>
          <p:cNvPr id="34" name="Text 32"/>
          <p:cNvSpPr txBox="1"/>
          <p:nvPr/>
        </p:nvSpPr>
        <p:spPr>
          <a:xfrm>
            <a:off x="1417320" y="5221224"/>
            <a:ext cx="3017520" cy="658368"/>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Reset instead of arguing</a:t>
            </a:r>
            <a:endParaRPr lang="en-US" sz="1700" dirty="0"/>
          </a:p>
        </p:txBody>
      </p:sp>
      <p:sp>
        <p:nvSpPr>
          <p:cNvPr id="35" name="Text 33"/>
          <p:cNvSpPr txBox="1"/>
          <p:nvPr/>
        </p:nvSpPr>
        <p:spPr>
          <a:xfrm>
            <a:off x="4480560" y="5221224"/>
            <a:ext cx="4206240" cy="658368"/>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Three failed tries: /clear and restate what you learned.</a:t>
            </a:r>
            <a:endParaRPr lang="en-US" sz="1400" dirty="0"/>
          </a:p>
        </p:txBody>
      </p:sp>
      <p:sp>
        <p:nvSpPr>
          <p:cNvPr id="36" name="Text 34"/>
          <p:cNvSpPr txBox="1"/>
          <p:nvPr/>
        </p:nvSpPr>
        <p:spPr>
          <a:xfrm>
            <a:off x="8869680" y="5221224"/>
            <a:ext cx="2590495" cy="658368"/>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An afternoon lost in a bloated session</a:t>
            </a:r>
            <a:endParaRPr lang="en-US" sz="1400" dirty="0"/>
          </a:p>
        </p:txBody>
      </p:sp>
      <p:sp>
        <p:nvSpPr>
          <p:cNvPr id="37" name="Text 35"/>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38" name="Text 36"/>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0934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60934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GUARDRAIL</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Under all five: never production first</a:t>
            </a:r>
            <a:endParaRPr lang="en-US" sz="3400" dirty="0"/>
          </a:p>
        </p:txBody>
      </p:sp>
      <p:pic>
        <p:nvPicPr>
          <p:cNvPr id="5" name="Image 0" descr="Ecosystem map: Claude Code connected to a sandbox, sample data and a read-only key, while production data, payments and member records sit behind a locked fence"/>
          <p:cNvPicPr>
            <a:picLocks noChangeAspect="1"/>
          </p:cNvPicPr>
          <p:nvPr/>
        </p:nvPicPr>
        <p:blipFill>
          <a:blip r:embed="rId3"/>
          <a:stretch>
            <a:fillRect/>
          </a:stretch>
        </p:blipFill>
        <p:spPr>
          <a:xfrm>
            <a:off x="2438248" y="1828800"/>
            <a:ext cx="7315200" cy="3810000"/>
          </a:xfrm>
          <a:prstGeom prst="rect">
            <a:avLst/>
          </a:prstGeom>
        </p:spPr>
      </p:pic>
      <p:sp>
        <p:nvSpPr>
          <p:cNvPr id="6" name="Text 3"/>
          <p:cNvSpPr txBox="1"/>
          <p:nvPr/>
        </p:nvSpPr>
        <p:spPr>
          <a:xfrm>
            <a:off x="548640" y="2114550"/>
            <a:ext cx="1752448" cy="274320"/>
          </a:xfrm>
          <a:prstGeom prst="rect">
            <a:avLst/>
          </a:prstGeom>
          <a:noFill/>
          <a:ln/>
        </p:spPr>
        <p:txBody>
          <a:bodyPr wrap="square" lIns="0" tIns="0" rIns="0" bIns="0" rtlCol="0" anchor="t"/>
          <a:lstStyle/>
          <a:p>
            <a:pPr marL="0" indent="0" algn="r">
              <a:buNone/>
            </a:pPr>
            <a:r>
              <a:rPr lang="en-US" sz="1100" b="1" kern="0" spc="200" dirty="0">
                <a:solidFill>
                  <a:srgbClr val="5A544F"/>
                </a:solidFill>
                <a:latin typeface="Arial" pitchFamily="34" charset="0"/>
                <a:ea typeface="Arial" pitchFamily="34" charset="-122"/>
                <a:cs typeface="Arial" pitchFamily="34" charset="-120"/>
              </a:rPr>
              <a:t>SAFE TO START</a:t>
            </a:r>
            <a:endParaRPr lang="en-US" sz="1100" dirty="0"/>
          </a:p>
        </p:txBody>
      </p:sp>
      <p:sp>
        <p:nvSpPr>
          <p:cNvPr id="7" name="Text 4"/>
          <p:cNvSpPr txBox="1"/>
          <p:nvPr/>
        </p:nvSpPr>
        <p:spPr>
          <a:xfrm>
            <a:off x="9890608" y="2114550"/>
            <a:ext cx="1752448"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FENCED OFF</a:t>
            </a:r>
            <a:endParaRPr lang="en-US" sz="1100" dirty="0"/>
          </a:p>
        </p:txBody>
      </p:sp>
      <p:sp>
        <p:nvSpPr>
          <p:cNvPr id="8" name="Text 5"/>
          <p:cNvSpPr txBox="1"/>
          <p:nvPr/>
        </p:nvSpPr>
        <p:spPr>
          <a:xfrm>
            <a:off x="548640" y="2431733"/>
            <a:ext cx="1752448" cy="365760"/>
          </a:xfrm>
          <a:prstGeom prst="rect">
            <a:avLst/>
          </a:prstGeom>
          <a:noFill/>
          <a:ln/>
        </p:spPr>
        <p:txBody>
          <a:bodyPr wrap="square" lIns="0" tIns="0" rIns="0" bIns="0" rtlCol="0" anchor="ctr"/>
          <a:lstStyle/>
          <a:p>
            <a:pPr marL="0" indent="0" algn="r">
              <a:buNone/>
            </a:pPr>
            <a:r>
              <a:rPr lang="en-US" sz="1600" b="1" dirty="0">
                <a:solidFill>
                  <a:srgbClr val="2D2926"/>
                </a:solidFill>
                <a:latin typeface="Arial" pitchFamily="34" charset="0"/>
                <a:ea typeface="Arial" pitchFamily="34" charset="-122"/>
                <a:cs typeface="Arial" pitchFamily="34" charset="-120"/>
              </a:rPr>
              <a:t>Sandbox</a:t>
            </a:r>
            <a:endParaRPr lang="en-US" sz="1600" dirty="0"/>
          </a:p>
        </p:txBody>
      </p:sp>
      <p:sp>
        <p:nvSpPr>
          <p:cNvPr id="9" name="Text 6"/>
          <p:cNvSpPr txBox="1"/>
          <p:nvPr/>
        </p:nvSpPr>
        <p:spPr>
          <a:xfrm>
            <a:off x="548640" y="3455670"/>
            <a:ext cx="1752448" cy="365760"/>
          </a:xfrm>
          <a:prstGeom prst="rect">
            <a:avLst/>
          </a:prstGeom>
          <a:noFill/>
          <a:ln/>
        </p:spPr>
        <p:txBody>
          <a:bodyPr wrap="square" lIns="0" tIns="0" rIns="0" bIns="0" rtlCol="0" anchor="ctr"/>
          <a:lstStyle/>
          <a:p>
            <a:pPr marL="0" indent="0" algn="r">
              <a:buNone/>
            </a:pPr>
            <a:r>
              <a:rPr lang="en-US" sz="1600" b="1" dirty="0">
                <a:solidFill>
                  <a:srgbClr val="2D2926"/>
                </a:solidFill>
                <a:latin typeface="Arial" pitchFamily="34" charset="0"/>
                <a:ea typeface="Arial" pitchFamily="34" charset="-122"/>
                <a:cs typeface="Arial" pitchFamily="34" charset="-120"/>
              </a:rPr>
              <a:t>Sample export</a:t>
            </a:r>
            <a:endParaRPr lang="en-US" sz="1600" dirty="0"/>
          </a:p>
        </p:txBody>
      </p:sp>
      <p:sp>
        <p:nvSpPr>
          <p:cNvPr id="10" name="Text 7"/>
          <p:cNvSpPr txBox="1"/>
          <p:nvPr/>
        </p:nvSpPr>
        <p:spPr>
          <a:xfrm>
            <a:off x="548640" y="4503420"/>
            <a:ext cx="1752448" cy="365760"/>
          </a:xfrm>
          <a:prstGeom prst="rect">
            <a:avLst/>
          </a:prstGeom>
          <a:noFill/>
          <a:ln/>
        </p:spPr>
        <p:txBody>
          <a:bodyPr wrap="square" lIns="0" tIns="0" rIns="0" bIns="0" rtlCol="0" anchor="ctr"/>
          <a:lstStyle/>
          <a:p>
            <a:pPr marL="0" indent="0" algn="r">
              <a:buNone/>
            </a:pPr>
            <a:r>
              <a:rPr lang="en-US" sz="1600" b="1" dirty="0">
                <a:solidFill>
                  <a:srgbClr val="2D2926"/>
                </a:solidFill>
                <a:latin typeface="Arial" pitchFamily="34" charset="0"/>
                <a:ea typeface="Arial" pitchFamily="34" charset="-122"/>
                <a:cs typeface="Arial" pitchFamily="34" charset="-120"/>
              </a:rPr>
              <a:t>Read-only key</a:t>
            </a:r>
            <a:endParaRPr lang="en-US" sz="1600" dirty="0"/>
          </a:p>
        </p:txBody>
      </p:sp>
      <p:sp>
        <p:nvSpPr>
          <p:cNvPr id="11" name="Text 8"/>
          <p:cNvSpPr txBox="1"/>
          <p:nvPr/>
        </p:nvSpPr>
        <p:spPr>
          <a:xfrm>
            <a:off x="9890608" y="2503170"/>
            <a:ext cx="1752448" cy="36576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Production data</a:t>
            </a:r>
            <a:endParaRPr lang="en-US" sz="1600" dirty="0"/>
          </a:p>
        </p:txBody>
      </p:sp>
      <p:sp>
        <p:nvSpPr>
          <p:cNvPr id="12" name="Text 9"/>
          <p:cNvSpPr txBox="1"/>
          <p:nvPr/>
        </p:nvSpPr>
        <p:spPr>
          <a:xfrm>
            <a:off x="9890608" y="3455670"/>
            <a:ext cx="1752448" cy="36576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Payments</a:t>
            </a:r>
            <a:endParaRPr lang="en-US" sz="1600" dirty="0"/>
          </a:p>
        </p:txBody>
      </p:sp>
      <p:sp>
        <p:nvSpPr>
          <p:cNvPr id="13" name="Text 10"/>
          <p:cNvSpPr txBox="1"/>
          <p:nvPr/>
        </p:nvSpPr>
        <p:spPr>
          <a:xfrm>
            <a:off x="9890608" y="4384357"/>
            <a:ext cx="1752448" cy="36576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Member records</a:t>
            </a:r>
            <a:endParaRPr lang="en-US" sz="1600" dirty="0"/>
          </a:p>
        </p:txBody>
      </p:sp>
      <p:sp>
        <p:nvSpPr>
          <p:cNvPr id="14" name="Text 11"/>
          <p:cNvSpPr txBox="1"/>
          <p:nvPr/>
        </p:nvSpPr>
        <p:spPr>
          <a:xfrm>
            <a:off x="5048098" y="4424362"/>
            <a:ext cx="1828800" cy="32004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Claude Code</a:t>
            </a:r>
            <a:endParaRPr lang="en-US" sz="1400" dirty="0"/>
          </a:p>
        </p:txBody>
      </p:sp>
      <p:sp>
        <p:nvSpPr>
          <p:cNvPr id="15" name="Text 12"/>
          <p:cNvSpPr txBox="1"/>
          <p:nvPr/>
        </p:nvSpPr>
        <p:spPr>
          <a:xfrm>
            <a:off x="548640" y="5852160"/>
            <a:ext cx="11094415" cy="365760"/>
          </a:xfrm>
          <a:prstGeom prst="rect">
            <a:avLst/>
          </a:prstGeom>
          <a:noFill/>
          <a:ln/>
        </p:spPr>
        <p:txBody>
          <a:bodyPr wrap="square" lIns="0" tIns="0" rIns="0" bIns="0" rtlCol="0" anchor="t"/>
          <a:lstStyle/>
          <a:p>
            <a:pPr marL="0" indent="0" algn="ctr">
              <a:buNone/>
            </a:pPr>
            <a:r>
              <a:rPr lang="en-US" sz="1600" b="1" i="1" dirty="0">
                <a:solidFill>
                  <a:srgbClr val="2D2926"/>
                </a:solidFill>
                <a:latin typeface="Arial" pitchFamily="34" charset="0"/>
                <a:ea typeface="Arial" pitchFamily="34" charset="-122"/>
                <a:cs typeface="Arial" pitchFamily="34" charset="-120"/>
              </a:rPr>
              <a:t>Stay in the safe zone until you trust both the tool and the code it wrote.</a:t>
            </a:r>
            <a:endParaRPr lang="en-US" sz="1600" dirty="0"/>
          </a:p>
        </p:txBody>
      </p:sp>
      <p:sp>
        <p:nvSpPr>
          <p:cNvPr id="16" name="Text 13"/>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17" name="Text 14"/>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237744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BIG PICTURE</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AI-SDLC for a team of one (or three)</a:t>
            </a:r>
            <a:endParaRPr lang="en-US" sz="3400" dirty="0"/>
          </a:p>
        </p:txBody>
      </p:sp>
      <p:pic>
        <p:nvPicPr>
          <p:cNvPr id="5" name="Image 0" descr="Lifecycle ring with six stations around a developer and a robot sharing a laptop: intent, plan, build, verify, ship, learn"/>
          <p:cNvPicPr>
            <a:picLocks noChangeAspect="1"/>
          </p:cNvPicPr>
          <p:nvPr/>
        </p:nvPicPr>
        <p:blipFill>
          <a:blip r:embed="rId3"/>
          <a:stretch>
            <a:fillRect/>
          </a:stretch>
        </p:blipFill>
        <p:spPr>
          <a:xfrm>
            <a:off x="457200" y="1783080"/>
            <a:ext cx="4115729" cy="4709160"/>
          </a:xfrm>
          <a:prstGeom prst="rect">
            <a:avLst/>
          </a:prstGeom>
        </p:spPr>
      </p:pic>
      <p:sp>
        <p:nvSpPr>
          <p:cNvPr id="6" name="Shape 3"/>
          <p:cNvSpPr/>
          <p:nvPr/>
        </p:nvSpPr>
        <p:spPr>
          <a:xfrm>
            <a:off x="2656332" y="1761632"/>
            <a:ext cx="310896" cy="310896"/>
          </a:xfrm>
          <a:prstGeom prst="ellipse">
            <a:avLst/>
          </a:prstGeom>
          <a:solidFill>
            <a:srgbClr val="2D2926"/>
          </a:solidFill>
          <a:ln/>
        </p:spPr>
        <p:txBody>
          <a:bodyPr/>
          <a:lstStyle/>
          <a:p>
            <a:endParaRPr lang="en-US"/>
          </a:p>
        </p:txBody>
      </p:sp>
      <p:sp>
        <p:nvSpPr>
          <p:cNvPr id="7" name="Text 4"/>
          <p:cNvSpPr txBox="1"/>
          <p:nvPr/>
        </p:nvSpPr>
        <p:spPr>
          <a:xfrm>
            <a:off x="2656332" y="1761632"/>
            <a:ext cx="310896" cy="310896"/>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1</a:t>
            </a:r>
            <a:endParaRPr lang="en-US" sz="1020" dirty="0"/>
          </a:p>
        </p:txBody>
      </p:sp>
      <p:sp>
        <p:nvSpPr>
          <p:cNvPr id="8" name="Shape 5"/>
          <p:cNvSpPr/>
          <p:nvPr/>
        </p:nvSpPr>
        <p:spPr>
          <a:xfrm>
            <a:off x="4125552" y="2623064"/>
            <a:ext cx="310896" cy="310896"/>
          </a:xfrm>
          <a:prstGeom prst="ellipse">
            <a:avLst/>
          </a:prstGeom>
          <a:solidFill>
            <a:srgbClr val="2D2926"/>
          </a:solidFill>
          <a:ln/>
        </p:spPr>
        <p:txBody>
          <a:bodyPr/>
          <a:lstStyle/>
          <a:p>
            <a:endParaRPr lang="en-US"/>
          </a:p>
        </p:txBody>
      </p:sp>
      <p:sp>
        <p:nvSpPr>
          <p:cNvPr id="9" name="Text 6"/>
          <p:cNvSpPr txBox="1"/>
          <p:nvPr/>
        </p:nvSpPr>
        <p:spPr>
          <a:xfrm>
            <a:off x="4125552" y="2623064"/>
            <a:ext cx="310896" cy="310896"/>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2</a:t>
            </a:r>
            <a:endParaRPr lang="en-US" sz="1020" dirty="0"/>
          </a:p>
        </p:txBody>
      </p:sp>
      <p:sp>
        <p:nvSpPr>
          <p:cNvPr id="10" name="Shape 7"/>
          <p:cNvSpPr/>
          <p:nvPr/>
        </p:nvSpPr>
        <p:spPr>
          <a:xfrm>
            <a:off x="4163837" y="4369856"/>
            <a:ext cx="310896" cy="310896"/>
          </a:xfrm>
          <a:prstGeom prst="ellipse">
            <a:avLst/>
          </a:prstGeom>
          <a:solidFill>
            <a:srgbClr val="2D2926"/>
          </a:solidFill>
          <a:ln/>
        </p:spPr>
        <p:txBody>
          <a:bodyPr/>
          <a:lstStyle/>
          <a:p>
            <a:endParaRPr lang="en-US"/>
          </a:p>
        </p:txBody>
      </p:sp>
      <p:sp>
        <p:nvSpPr>
          <p:cNvPr id="11" name="Text 8"/>
          <p:cNvSpPr txBox="1"/>
          <p:nvPr/>
        </p:nvSpPr>
        <p:spPr>
          <a:xfrm>
            <a:off x="4163837" y="4369856"/>
            <a:ext cx="310896" cy="310896"/>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3</a:t>
            </a:r>
            <a:endParaRPr lang="en-US" sz="1020" dirty="0"/>
          </a:p>
        </p:txBody>
      </p:sp>
      <p:sp>
        <p:nvSpPr>
          <p:cNvPr id="12" name="Shape 9"/>
          <p:cNvSpPr/>
          <p:nvPr/>
        </p:nvSpPr>
        <p:spPr>
          <a:xfrm>
            <a:off x="2656332" y="5255217"/>
            <a:ext cx="310896" cy="310896"/>
          </a:xfrm>
          <a:prstGeom prst="ellipse">
            <a:avLst/>
          </a:prstGeom>
          <a:solidFill>
            <a:srgbClr val="2D2926"/>
          </a:solidFill>
          <a:ln/>
        </p:spPr>
        <p:txBody>
          <a:bodyPr/>
          <a:lstStyle/>
          <a:p>
            <a:endParaRPr lang="en-US"/>
          </a:p>
        </p:txBody>
      </p:sp>
      <p:sp>
        <p:nvSpPr>
          <p:cNvPr id="13" name="Text 10"/>
          <p:cNvSpPr txBox="1"/>
          <p:nvPr/>
        </p:nvSpPr>
        <p:spPr>
          <a:xfrm>
            <a:off x="2656332" y="5255217"/>
            <a:ext cx="310896" cy="310896"/>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4</a:t>
            </a:r>
            <a:endParaRPr lang="en-US" sz="1020" dirty="0"/>
          </a:p>
        </p:txBody>
      </p:sp>
      <p:sp>
        <p:nvSpPr>
          <p:cNvPr id="14" name="Shape 11"/>
          <p:cNvSpPr/>
          <p:nvPr/>
        </p:nvSpPr>
        <p:spPr>
          <a:xfrm>
            <a:off x="1148827" y="4369856"/>
            <a:ext cx="310896" cy="310896"/>
          </a:xfrm>
          <a:prstGeom prst="ellipse">
            <a:avLst/>
          </a:prstGeom>
          <a:solidFill>
            <a:srgbClr val="2D2926"/>
          </a:solidFill>
          <a:ln/>
        </p:spPr>
        <p:txBody>
          <a:bodyPr/>
          <a:lstStyle/>
          <a:p>
            <a:endParaRPr lang="en-US"/>
          </a:p>
        </p:txBody>
      </p:sp>
      <p:sp>
        <p:nvSpPr>
          <p:cNvPr id="15" name="Text 12"/>
          <p:cNvSpPr txBox="1"/>
          <p:nvPr/>
        </p:nvSpPr>
        <p:spPr>
          <a:xfrm>
            <a:off x="1148827" y="4369856"/>
            <a:ext cx="310896" cy="310896"/>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5</a:t>
            </a:r>
            <a:endParaRPr lang="en-US" sz="1020" dirty="0"/>
          </a:p>
        </p:txBody>
      </p:sp>
      <p:sp>
        <p:nvSpPr>
          <p:cNvPr id="16" name="Shape 13"/>
          <p:cNvSpPr/>
          <p:nvPr/>
        </p:nvSpPr>
        <p:spPr>
          <a:xfrm>
            <a:off x="1172755" y="2623064"/>
            <a:ext cx="310896" cy="310896"/>
          </a:xfrm>
          <a:prstGeom prst="ellipse">
            <a:avLst/>
          </a:prstGeom>
          <a:solidFill>
            <a:srgbClr val="2D2926"/>
          </a:solidFill>
          <a:ln/>
        </p:spPr>
        <p:txBody>
          <a:bodyPr/>
          <a:lstStyle/>
          <a:p>
            <a:endParaRPr lang="en-US"/>
          </a:p>
        </p:txBody>
      </p:sp>
      <p:sp>
        <p:nvSpPr>
          <p:cNvPr id="17" name="Text 14"/>
          <p:cNvSpPr txBox="1"/>
          <p:nvPr/>
        </p:nvSpPr>
        <p:spPr>
          <a:xfrm>
            <a:off x="1172755" y="2623064"/>
            <a:ext cx="310896" cy="310896"/>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6</a:t>
            </a:r>
            <a:endParaRPr lang="en-US" sz="1020" dirty="0"/>
          </a:p>
        </p:txBody>
      </p:sp>
      <p:sp>
        <p:nvSpPr>
          <p:cNvPr id="18" name="Shape 15"/>
          <p:cNvSpPr/>
          <p:nvPr/>
        </p:nvSpPr>
        <p:spPr>
          <a:xfrm>
            <a:off x="5806440" y="1901952"/>
            <a:ext cx="402336" cy="402336"/>
          </a:xfrm>
          <a:prstGeom prst="ellipse">
            <a:avLst/>
          </a:prstGeom>
          <a:solidFill>
            <a:srgbClr val="F6921E"/>
          </a:solidFill>
          <a:ln/>
        </p:spPr>
        <p:txBody>
          <a:bodyPr/>
          <a:lstStyle/>
          <a:p>
            <a:endParaRPr lang="en-US"/>
          </a:p>
        </p:txBody>
      </p:sp>
      <p:sp>
        <p:nvSpPr>
          <p:cNvPr id="19" name="Text 16"/>
          <p:cNvSpPr txBox="1"/>
          <p:nvPr/>
        </p:nvSpPr>
        <p:spPr>
          <a:xfrm>
            <a:off x="5806440" y="1901952"/>
            <a:ext cx="402336" cy="402336"/>
          </a:xfrm>
          <a:prstGeom prst="rect">
            <a:avLst/>
          </a:prstGeom>
          <a:noFill/>
          <a:ln/>
        </p:spPr>
        <p:txBody>
          <a:bodyPr wrap="square" lIns="0" tIns="0" rIns="0" bIns="0" rtlCol="0" anchor="ctr"/>
          <a:lstStyle/>
          <a:p>
            <a:pPr marL="0" indent="0" algn="ctr">
              <a:buNone/>
            </a:pPr>
            <a:r>
              <a:rPr lang="en-US" sz="1320" b="1" dirty="0">
                <a:solidFill>
                  <a:srgbClr val="2D2926"/>
                </a:solidFill>
                <a:latin typeface="Arial" pitchFamily="34" charset="0"/>
                <a:ea typeface="Arial" pitchFamily="34" charset="-122"/>
                <a:cs typeface="Arial" pitchFamily="34" charset="-120"/>
              </a:rPr>
              <a:t>1</a:t>
            </a:r>
            <a:endParaRPr lang="en-US" sz="1320" dirty="0"/>
          </a:p>
        </p:txBody>
      </p:sp>
      <p:sp>
        <p:nvSpPr>
          <p:cNvPr id="20" name="Text 17"/>
          <p:cNvSpPr txBox="1"/>
          <p:nvPr/>
        </p:nvSpPr>
        <p:spPr>
          <a:xfrm>
            <a:off x="6373368" y="1847088"/>
            <a:ext cx="1371600" cy="292608"/>
          </a:xfrm>
          <a:prstGeom prst="rect">
            <a:avLst/>
          </a:prstGeom>
          <a:noFill/>
          <a:ln/>
        </p:spPr>
        <p:txBody>
          <a:bodyPr wrap="square" lIns="0" tIns="0" rIns="0" bIns="0" rtlCol="0" anchor="t"/>
          <a:lstStyle/>
          <a:p>
            <a:pPr marL="0" indent="0">
              <a:buNone/>
            </a:pPr>
            <a:r>
              <a:rPr lang="en-US" sz="1700" b="1" dirty="0">
                <a:solidFill>
                  <a:srgbClr val="2D2926"/>
                </a:solidFill>
                <a:latin typeface="Arial" pitchFamily="34" charset="0"/>
                <a:ea typeface="Arial" pitchFamily="34" charset="-122"/>
                <a:cs typeface="Arial" pitchFamily="34" charset="-120"/>
              </a:rPr>
              <a:t>Intent</a:t>
            </a:r>
            <a:endParaRPr lang="en-US" sz="1700" dirty="0"/>
          </a:p>
        </p:txBody>
      </p:sp>
      <p:sp>
        <p:nvSpPr>
          <p:cNvPr id="21" name="Shape 18"/>
          <p:cNvSpPr/>
          <p:nvPr/>
        </p:nvSpPr>
        <p:spPr>
          <a:xfrm>
            <a:off x="7726680" y="1874520"/>
            <a:ext cx="868680" cy="246888"/>
          </a:xfrm>
          <a:prstGeom prst="roundRect">
            <a:avLst>
              <a:gd name="adj" fmla="val 50000"/>
            </a:avLst>
          </a:prstGeom>
          <a:solidFill>
            <a:srgbClr val="F7F5F3"/>
          </a:solidFill>
          <a:ln w="9525">
            <a:solidFill>
              <a:srgbClr val="E4DED8"/>
            </a:solidFill>
            <a:prstDash val="solid"/>
          </a:ln>
        </p:spPr>
        <p:txBody>
          <a:bodyPr/>
          <a:lstStyle/>
          <a:p>
            <a:endParaRPr lang="en-US"/>
          </a:p>
        </p:txBody>
      </p:sp>
      <p:sp>
        <p:nvSpPr>
          <p:cNvPr id="22" name="Text 19"/>
          <p:cNvSpPr txBox="1"/>
          <p:nvPr/>
        </p:nvSpPr>
        <p:spPr>
          <a:xfrm>
            <a:off x="7726680" y="1874520"/>
            <a:ext cx="868680" cy="246888"/>
          </a:xfrm>
          <a:prstGeom prst="rect">
            <a:avLst/>
          </a:prstGeom>
          <a:noFill/>
          <a:ln/>
        </p:spPr>
        <p:txBody>
          <a:bodyPr wrap="square" lIns="0" tIns="0" rIns="0" bIns="0" rtlCol="0" anchor="ctr"/>
          <a:lstStyle/>
          <a:p>
            <a:pPr marL="0" indent="0" algn="ctr">
              <a:buNone/>
            </a:pPr>
            <a:r>
              <a:rPr lang="en-US" sz="950" b="1" kern="0" spc="150" dirty="0">
                <a:solidFill>
                  <a:srgbClr val="2D2926"/>
                </a:solidFill>
                <a:latin typeface="Arial" pitchFamily="34" charset="0"/>
                <a:ea typeface="Arial" pitchFamily="34" charset="-122"/>
                <a:cs typeface="Arial" pitchFamily="34" charset="-120"/>
              </a:rPr>
              <a:t>YOU</a:t>
            </a:r>
            <a:endParaRPr lang="en-US" sz="950" dirty="0"/>
          </a:p>
        </p:txBody>
      </p:sp>
      <p:sp>
        <p:nvSpPr>
          <p:cNvPr id="23" name="Text 20"/>
          <p:cNvSpPr txBox="1"/>
          <p:nvPr/>
        </p:nvSpPr>
        <p:spPr>
          <a:xfrm>
            <a:off x="6373368" y="2157984"/>
            <a:ext cx="5269687" cy="292608"/>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Write the problem and "done" in a few sentences.</a:t>
            </a:r>
            <a:endParaRPr lang="en-US" sz="1300" dirty="0"/>
          </a:p>
        </p:txBody>
      </p:sp>
      <p:sp>
        <p:nvSpPr>
          <p:cNvPr id="24" name="Shape 21"/>
          <p:cNvSpPr/>
          <p:nvPr/>
        </p:nvSpPr>
        <p:spPr>
          <a:xfrm>
            <a:off x="5806440" y="2578608"/>
            <a:ext cx="402336" cy="402336"/>
          </a:xfrm>
          <a:prstGeom prst="ellipse">
            <a:avLst/>
          </a:prstGeom>
          <a:solidFill>
            <a:srgbClr val="F6921E"/>
          </a:solidFill>
          <a:ln/>
        </p:spPr>
        <p:txBody>
          <a:bodyPr/>
          <a:lstStyle/>
          <a:p>
            <a:endParaRPr lang="en-US"/>
          </a:p>
        </p:txBody>
      </p:sp>
      <p:sp>
        <p:nvSpPr>
          <p:cNvPr id="25" name="Text 22"/>
          <p:cNvSpPr txBox="1"/>
          <p:nvPr/>
        </p:nvSpPr>
        <p:spPr>
          <a:xfrm>
            <a:off x="5806440" y="2578608"/>
            <a:ext cx="402336" cy="402336"/>
          </a:xfrm>
          <a:prstGeom prst="rect">
            <a:avLst/>
          </a:prstGeom>
          <a:noFill/>
          <a:ln/>
        </p:spPr>
        <p:txBody>
          <a:bodyPr wrap="square" lIns="0" tIns="0" rIns="0" bIns="0" rtlCol="0" anchor="ctr"/>
          <a:lstStyle/>
          <a:p>
            <a:pPr marL="0" indent="0" algn="ctr">
              <a:buNone/>
            </a:pPr>
            <a:r>
              <a:rPr lang="en-US" sz="1320" b="1" dirty="0">
                <a:solidFill>
                  <a:srgbClr val="2D2926"/>
                </a:solidFill>
                <a:latin typeface="Arial" pitchFamily="34" charset="0"/>
                <a:ea typeface="Arial" pitchFamily="34" charset="-122"/>
                <a:cs typeface="Arial" pitchFamily="34" charset="-120"/>
              </a:rPr>
              <a:t>2</a:t>
            </a:r>
            <a:endParaRPr lang="en-US" sz="1320" dirty="0"/>
          </a:p>
        </p:txBody>
      </p:sp>
      <p:sp>
        <p:nvSpPr>
          <p:cNvPr id="26" name="Text 23"/>
          <p:cNvSpPr txBox="1"/>
          <p:nvPr/>
        </p:nvSpPr>
        <p:spPr>
          <a:xfrm>
            <a:off x="6373368" y="2523744"/>
            <a:ext cx="1371600" cy="292608"/>
          </a:xfrm>
          <a:prstGeom prst="rect">
            <a:avLst/>
          </a:prstGeom>
          <a:noFill/>
          <a:ln/>
        </p:spPr>
        <p:txBody>
          <a:bodyPr wrap="square" lIns="0" tIns="0" rIns="0" bIns="0" rtlCol="0" anchor="t"/>
          <a:lstStyle/>
          <a:p>
            <a:pPr marL="0" indent="0">
              <a:buNone/>
            </a:pPr>
            <a:r>
              <a:rPr lang="en-US" sz="1700" b="1" dirty="0">
                <a:solidFill>
                  <a:srgbClr val="2D2926"/>
                </a:solidFill>
                <a:latin typeface="Arial" pitchFamily="34" charset="0"/>
                <a:ea typeface="Arial" pitchFamily="34" charset="-122"/>
                <a:cs typeface="Arial" pitchFamily="34" charset="-120"/>
              </a:rPr>
              <a:t>Plan</a:t>
            </a:r>
            <a:endParaRPr lang="en-US" sz="1700" dirty="0"/>
          </a:p>
        </p:txBody>
      </p:sp>
      <p:sp>
        <p:nvSpPr>
          <p:cNvPr id="27" name="Shape 24"/>
          <p:cNvSpPr/>
          <p:nvPr/>
        </p:nvSpPr>
        <p:spPr>
          <a:xfrm>
            <a:off x="7726680" y="2551176"/>
            <a:ext cx="868680" cy="246888"/>
          </a:xfrm>
          <a:prstGeom prst="roundRect">
            <a:avLst>
              <a:gd name="adj" fmla="val 50000"/>
            </a:avLst>
          </a:prstGeom>
          <a:solidFill>
            <a:srgbClr val="F7F5F3"/>
          </a:solidFill>
          <a:ln w="9525">
            <a:solidFill>
              <a:srgbClr val="E4DED8"/>
            </a:solidFill>
            <a:prstDash val="solid"/>
          </a:ln>
        </p:spPr>
        <p:txBody>
          <a:bodyPr/>
          <a:lstStyle/>
          <a:p>
            <a:endParaRPr lang="en-US"/>
          </a:p>
        </p:txBody>
      </p:sp>
      <p:sp>
        <p:nvSpPr>
          <p:cNvPr id="28" name="Text 25"/>
          <p:cNvSpPr txBox="1"/>
          <p:nvPr/>
        </p:nvSpPr>
        <p:spPr>
          <a:xfrm>
            <a:off x="7726680" y="2551176"/>
            <a:ext cx="868680" cy="246888"/>
          </a:xfrm>
          <a:prstGeom prst="rect">
            <a:avLst/>
          </a:prstGeom>
          <a:noFill/>
          <a:ln/>
        </p:spPr>
        <p:txBody>
          <a:bodyPr wrap="square" lIns="0" tIns="0" rIns="0" bIns="0" rtlCol="0" anchor="ctr"/>
          <a:lstStyle/>
          <a:p>
            <a:pPr marL="0" indent="0" algn="ctr">
              <a:buNone/>
            </a:pPr>
            <a:r>
              <a:rPr lang="en-US" sz="950" b="1" kern="0" spc="150" dirty="0">
                <a:solidFill>
                  <a:srgbClr val="2D2926"/>
                </a:solidFill>
                <a:latin typeface="Arial" pitchFamily="34" charset="0"/>
                <a:ea typeface="Arial" pitchFamily="34" charset="-122"/>
                <a:cs typeface="Arial" pitchFamily="34" charset="-120"/>
              </a:rPr>
              <a:t>BOTH</a:t>
            </a:r>
            <a:endParaRPr lang="en-US" sz="950" dirty="0"/>
          </a:p>
        </p:txBody>
      </p:sp>
      <p:sp>
        <p:nvSpPr>
          <p:cNvPr id="29" name="Text 26"/>
          <p:cNvSpPr txBox="1"/>
          <p:nvPr/>
        </p:nvSpPr>
        <p:spPr>
          <a:xfrm>
            <a:off x="6373368" y="2834640"/>
            <a:ext cx="5269687" cy="292608"/>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Claude drafts the plan; you cut scope and approve.</a:t>
            </a:r>
            <a:endParaRPr lang="en-US" sz="1300" dirty="0"/>
          </a:p>
        </p:txBody>
      </p:sp>
      <p:sp>
        <p:nvSpPr>
          <p:cNvPr id="30" name="Shape 27"/>
          <p:cNvSpPr/>
          <p:nvPr/>
        </p:nvSpPr>
        <p:spPr>
          <a:xfrm>
            <a:off x="5806440" y="3255264"/>
            <a:ext cx="402336" cy="402336"/>
          </a:xfrm>
          <a:prstGeom prst="ellipse">
            <a:avLst/>
          </a:prstGeom>
          <a:solidFill>
            <a:srgbClr val="F6921E"/>
          </a:solidFill>
          <a:ln/>
        </p:spPr>
        <p:txBody>
          <a:bodyPr/>
          <a:lstStyle/>
          <a:p>
            <a:endParaRPr lang="en-US"/>
          </a:p>
        </p:txBody>
      </p:sp>
      <p:sp>
        <p:nvSpPr>
          <p:cNvPr id="31" name="Text 28"/>
          <p:cNvSpPr txBox="1"/>
          <p:nvPr/>
        </p:nvSpPr>
        <p:spPr>
          <a:xfrm>
            <a:off x="5806440" y="3255264"/>
            <a:ext cx="402336" cy="402336"/>
          </a:xfrm>
          <a:prstGeom prst="rect">
            <a:avLst/>
          </a:prstGeom>
          <a:noFill/>
          <a:ln/>
        </p:spPr>
        <p:txBody>
          <a:bodyPr wrap="square" lIns="0" tIns="0" rIns="0" bIns="0" rtlCol="0" anchor="ctr"/>
          <a:lstStyle/>
          <a:p>
            <a:pPr marL="0" indent="0" algn="ctr">
              <a:buNone/>
            </a:pPr>
            <a:r>
              <a:rPr lang="en-US" sz="1320" b="1" dirty="0">
                <a:solidFill>
                  <a:srgbClr val="2D2926"/>
                </a:solidFill>
                <a:latin typeface="Arial" pitchFamily="34" charset="0"/>
                <a:ea typeface="Arial" pitchFamily="34" charset="-122"/>
                <a:cs typeface="Arial" pitchFamily="34" charset="-120"/>
              </a:rPr>
              <a:t>3</a:t>
            </a:r>
            <a:endParaRPr lang="en-US" sz="1320" dirty="0"/>
          </a:p>
        </p:txBody>
      </p:sp>
      <p:sp>
        <p:nvSpPr>
          <p:cNvPr id="32" name="Text 29"/>
          <p:cNvSpPr txBox="1"/>
          <p:nvPr/>
        </p:nvSpPr>
        <p:spPr>
          <a:xfrm>
            <a:off x="6373368" y="3200400"/>
            <a:ext cx="1371600" cy="292608"/>
          </a:xfrm>
          <a:prstGeom prst="rect">
            <a:avLst/>
          </a:prstGeom>
          <a:noFill/>
          <a:ln/>
        </p:spPr>
        <p:txBody>
          <a:bodyPr wrap="square" lIns="0" tIns="0" rIns="0" bIns="0" rtlCol="0" anchor="t"/>
          <a:lstStyle/>
          <a:p>
            <a:pPr marL="0" indent="0">
              <a:buNone/>
            </a:pPr>
            <a:r>
              <a:rPr lang="en-US" sz="1700" b="1" dirty="0">
                <a:solidFill>
                  <a:srgbClr val="2D2926"/>
                </a:solidFill>
                <a:latin typeface="Arial" pitchFamily="34" charset="0"/>
                <a:ea typeface="Arial" pitchFamily="34" charset="-122"/>
                <a:cs typeface="Arial" pitchFamily="34" charset="-120"/>
              </a:rPr>
              <a:t>Build</a:t>
            </a:r>
            <a:endParaRPr lang="en-US" sz="1700" dirty="0"/>
          </a:p>
        </p:txBody>
      </p:sp>
      <p:sp>
        <p:nvSpPr>
          <p:cNvPr id="33" name="Shape 30"/>
          <p:cNvSpPr/>
          <p:nvPr/>
        </p:nvSpPr>
        <p:spPr>
          <a:xfrm>
            <a:off x="7726680" y="3227832"/>
            <a:ext cx="868680" cy="246888"/>
          </a:xfrm>
          <a:prstGeom prst="roundRect">
            <a:avLst>
              <a:gd name="adj" fmla="val 50000"/>
            </a:avLst>
          </a:prstGeom>
          <a:solidFill>
            <a:srgbClr val="2D2926"/>
          </a:solidFill>
          <a:ln w="9525">
            <a:solidFill>
              <a:srgbClr val="2D2926"/>
            </a:solidFill>
            <a:prstDash val="solid"/>
          </a:ln>
        </p:spPr>
        <p:txBody>
          <a:bodyPr/>
          <a:lstStyle/>
          <a:p>
            <a:endParaRPr lang="en-US"/>
          </a:p>
        </p:txBody>
      </p:sp>
      <p:sp>
        <p:nvSpPr>
          <p:cNvPr id="34" name="Text 31"/>
          <p:cNvSpPr txBox="1"/>
          <p:nvPr/>
        </p:nvSpPr>
        <p:spPr>
          <a:xfrm>
            <a:off x="7726680" y="3227832"/>
            <a:ext cx="868680" cy="246888"/>
          </a:xfrm>
          <a:prstGeom prst="rect">
            <a:avLst/>
          </a:prstGeom>
          <a:noFill/>
          <a:ln/>
        </p:spPr>
        <p:txBody>
          <a:bodyPr wrap="square" lIns="0" tIns="0" rIns="0" bIns="0" rtlCol="0" anchor="ctr"/>
          <a:lstStyle/>
          <a:p>
            <a:pPr marL="0" indent="0" algn="ctr">
              <a:buNone/>
            </a:pPr>
            <a:r>
              <a:rPr lang="en-US" sz="950" b="1" kern="0" spc="150" dirty="0">
                <a:solidFill>
                  <a:srgbClr val="FFFFFF"/>
                </a:solidFill>
                <a:latin typeface="Arial" pitchFamily="34" charset="0"/>
                <a:ea typeface="Arial" pitchFamily="34" charset="-122"/>
                <a:cs typeface="Arial" pitchFamily="34" charset="-120"/>
              </a:rPr>
              <a:t>CLAUDE</a:t>
            </a:r>
            <a:endParaRPr lang="en-US" sz="950" dirty="0"/>
          </a:p>
        </p:txBody>
      </p:sp>
      <p:sp>
        <p:nvSpPr>
          <p:cNvPr id="35" name="Text 32"/>
          <p:cNvSpPr txBox="1"/>
          <p:nvPr/>
        </p:nvSpPr>
        <p:spPr>
          <a:xfrm>
            <a:off x="6373368" y="3511296"/>
            <a:ext cx="5269687" cy="292608"/>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Small steps on a branch; you approve actions.</a:t>
            </a:r>
            <a:endParaRPr lang="en-US" sz="1300" dirty="0"/>
          </a:p>
        </p:txBody>
      </p:sp>
      <p:sp>
        <p:nvSpPr>
          <p:cNvPr id="36" name="Shape 33"/>
          <p:cNvSpPr/>
          <p:nvPr/>
        </p:nvSpPr>
        <p:spPr>
          <a:xfrm>
            <a:off x="5806440" y="3931920"/>
            <a:ext cx="402336" cy="402336"/>
          </a:xfrm>
          <a:prstGeom prst="ellipse">
            <a:avLst/>
          </a:prstGeom>
          <a:solidFill>
            <a:srgbClr val="F6921E"/>
          </a:solidFill>
          <a:ln/>
        </p:spPr>
        <p:txBody>
          <a:bodyPr/>
          <a:lstStyle/>
          <a:p>
            <a:endParaRPr lang="en-US"/>
          </a:p>
        </p:txBody>
      </p:sp>
      <p:sp>
        <p:nvSpPr>
          <p:cNvPr id="37" name="Text 34"/>
          <p:cNvSpPr txBox="1"/>
          <p:nvPr/>
        </p:nvSpPr>
        <p:spPr>
          <a:xfrm>
            <a:off x="5806440" y="3931920"/>
            <a:ext cx="402336" cy="402336"/>
          </a:xfrm>
          <a:prstGeom prst="rect">
            <a:avLst/>
          </a:prstGeom>
          <a:noFill/>
          <a:ln/>
        </p:spPr>
        <p:txBody>
          <a:bodyPr wrap="square" lIns="0" tIns="0" rIns="0" bIns="0" rtlCol="0" anchor="ctr"/>
          <a:lstStyle/>
          <a:p>
            <a:pPr marL="0" indent="0" algn="ctr">
              <a:buNone/>
            </a:pPr>
            <a:r>
              <a:rPr lang="en-US" sz="1320" b="1" dirty="0">
                <a:solidFill>
                  <a:srgbClr val="2D2926"/>
                </a:solidFill>
                <a:latin typeface="Arial" pitchFamily="34" charset="0"/>
                <a:ea typeface="Arial" pitchFamily="34" charset="-122"/>
                <a:cs typeface="Arial" pitchFamily="34" charset="-120"/>
              </a:rPr>
              <a:t>4</a:t>
            </a:r>
            <a:endParaRPr lang="en-US" sz="1320" dirty="0"/>
          </a:p>
        </p:txBody>
      </p:sp>
      <p:sp>
        <p:nvSpPr>
          <p:cNvPr id="38" name="Text 35"/>
          <p:cNvSpPr txBox="1"/>
          <p:nvPr/>
        </p:nvSpPr>
        <p:spPr>
          <a:xfrm>
            <a:off x="6373368" y="3877056"/>
            <a:ext cx="1371600" cy="292608"/>
          </a:xfrm>
          <a:prstGeom prst="rect">
            <a:avLst/>
          </a:prstGeom>
          <a:noFill/>
          <a:ln/>
        </p:spPr>
        <p:txBody>
          <a:bodyPr wrap="square" lIns="0" tIns="0" rIns="0" bIns="0" rtlCol="0" anchor="t"/>
          <a:lstStyle/>
          <a:p>
            <a:pPr marL="0" indent="0">
              <a:buNone/>
            </a:pPr>
            <a:r>
              <a:rPr lang="en-US" sz="1700" b="1" dirty="0">
                <a:solidFill>
                  <a:srgbClr val="2D2926"/>
                </a:solidFill>
                <a:latin typeface="Arial" pitchFamily="34" charset="0"/>
                <a:ea typeface="Arial" pitchFamily="34" charset="-122"/>
                <a:cs typeface="Arial" pitchFamily="34" charset="-120"/>
              </a:rPr>
              <a:t>Verify</a:t>
            </a:r>
            <a:endParaRPr lang="en-US" sz="1700" dirty="0"/>
          </a:p>
        </p:txBody>
      </p:sp>
      <p:sp>
        <p:nvSpPr>
          <p:cNvPr id="39" name="Shape 36"/>
          <p:cNvSpPr/>
          <p:nvPr/>
        </p:nvSpPr>
        <p:spPr>
          <a:xfrm>
            <a:off x="7726680" y="3904488"/>
            <a:ext cx="868680" cy="246888"/>
          </a:xfrm>
          <a:prstGeom prst="roundRect">
            <a:avLst>
              <a:gd name="adj" fmla="val 50000"/>
            </a:avLst>
          </a:prstGeom>
          <a:solidFill>
            <a:srgbClr val="F7F5F3"/>
          </a:solidFill>
          <a:ln w="9525">
            <a:solidFill>
              <a:srgbClr val="E4DED8"/>
            </a:solidFill>
            <a:prstDash val="solid"/>
          </a:ln>
        </p:spPr>
        <p:txBody>
          <a:bodyPr/>
          <a:lstStyle/>
          <a:p>
            <a:endParaRPr lang="en-US"/>
          </a:p>
        </p:txBody>
      </p:sp>
      <p:sp>
        <p:nvSpPr>
          <p:cNvPr id="40" name="Text 37"/>
          <p:cNvSpPr txBox="1"/>
          <p:nvPr/>
        </p:nvSpPr>
        <p:spPr>
          <a:xfrm>
            <a:off x="7726680" y="3904488"/>
            <a:ext cx="868680" cy="246888"/>
          </a:xfrm>
          <a:prstGeom prst="rect">
            <a:avLst/>
          </a:prstGeom>
          <a:noFill/>
          <a:ln/>
        </p:spPr>
        <p:txBody>
          <a:bodyPr wrap="square" lIns="0" tIns="0" rIns="0" bIns="0" rtlCol="0" anchor="ctr"/>
          <a:lstStyle/>
          <a:p>
            <a:pPr marL="0" indent="0" algn="ctr">
              <a:buNone/>
            </a:pPr>
            <a:r>
              <a:rPr lang="en-US" sz="950" b="1" kern="0" spc="150" dirty="0">
                <a:solidFill>
                  <a:srgbClr val="2D2926"/>
                </a:solidFill>
                <a:latin typeface="Arial" pitchFamily="34" charset="0"/>
                <a:ea typeface="Arial" pitchFamily="34" charset="-122"/>
                <a:cs typeface="Arial" pitchFamily="34" charset="-120"/>
              </a:rPr>
              <a:t>BOTH</a:t>
            </a:r>
            <a:endParaRPr lang="en-US" sz="950" dirty="0"/>
          </a:p>
        </p:txBody>
      </p:sp>
      <p:sp>
        <p:nvSpPr>
          <p:cNvPr id="41" name="Text 38"/>
          <p:cNvSpPr txBox="1"/>
          <p:nvPr/>
        </p:nvSpPr>
        <p:spPr>
          <a:xfrm>
            <a:off x="6373368" y="4187952"/>
            <a:ext cx="5269687" cy="292608"/>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Tests, a sample run, and you read the diff.</a:t>
            </a:r>
            <a:endParaRPr lang="en-US" sz="1300" dirty="0"/>
          </a:p>
        </p:txBody>
      </p:sp>
      <p:sp>
        <p:nvSpPr>
          <p:cNvPr id="42" name="Shape 39"/>
          <p:cNvSpPr/>
          <p:nvPr/>
        </p:nvSpPr>
        <p:spPr>
          <a:xfrm>
            <a:off x="5806440" y="4608576"/>
            <a:ext cx="402336" cy="402336"/>
          </a:xfrm>
          <a:prstGeom prst="ellipse">
            <a:avLst/>
          </a:prstGeom>
          <a:solidFill>
            <a:srgbClr val="F6921E"/>
          </a:solidFill>
          <a:ln/>
        </p:spPr>
        <p:txBody>
          <a:bodyPr/>
          <a:lstStyle/>
          <a:p>
            <a:endParaRPr lang="en-US"/>
          </a:p>
        </p:txBody>
      </p:sp>
      <p:sp>
        <p:nvSpPr>
          <p:cNvPr id="43" name="Text 40"/>
          <p:cNvSpPr txBox="1"/>
          <p:nvPr/>
        </p:nvSpPr>
        <p:spPr>
          <a:xfrm>
            <a:off x="5806440" y="4608576"/>
            <a:ext cx="402336" cy="402336"/>
          </a:xfrm>
          <a:prstGeom prst="rect">
            <a:avLst/>
          </a:prstGeom>
          <a:noFill/>
          <a:ln/>
        </p:spPr>
        <p:txBody>
          <a:bodyPr wrap="square" lIns="0" tIns="0" rIns="0" bIns="0" rtlCol="0" anchor="ctr"/>
          <a:lstStyle/>
          <a:p>
            <a:pPr marL="0" indent="0" algn="ctr">
              <a:buNone/>
            </a:pPr>
            <a:r>
              <a:rPr lang="en-US" sz="1320" b="1" dirty="0">
                <a:solidFill>
                  <a:srgbClr val="2D2926"/>
                </a:solidFill>
                <a:latin typeface="Arial" pitchFamily="34" charset="0"/>
                <a:ea typeface="Arial" pitchFamily="34" charset="-122"/>
                <a:cs typeface="Arial" pitchFamily="34" charset="-120"/>
              </a:rPr>
              <a:t>5</a:t>
            </a:r>
            <a:endParaRPr lang="en-US" sz="1320" dirty="0"/>
          </a:p>
        </p:txBody>
      </p:sp>
      <p:sp>
        <p:nvSpPr>
          <p:cNvPr id="44" name="Text 41"/>
          <p:cNvSpPr txBox="1"/>
          <p:nvPr/>
        </p:nvSpPr>
        <p:spPr>
          <a:xfrm>
            <a:off x="6373368" y="4553712"/>
            <a:ext cx="1371600" cy="292608"/>
          </a:xfrm>
          <a:prstGeom prst="rect">
            <a:avLst/>
          </a:prstGeom>
          <a:noFill/>
          <a:ln/>
        </p:spPr>
        <p:txBody>
          <a:bodyPr wrap="square" lIns="0" tIns="0" rIns="0" bIns="0" rtlCol="0" anchor="t"/>
          <a:lstStyle/>
          <a:p>
            <a:pPr marL="0" indent="0">
              <a:buNone/>
            </a:pPr>
            <a:r>
              <a:rPr lang="en-US" sz="1700" b="1" dirty="0">
                <a:solidFill>
                  <a:srgbClr val="2D2926"/>
                </a:solidFill>
                <a:latin typeface="Arial" pitchFamily="34" charset="0"/>
                <a:ea typeface="Arial" pitchFamily="34" charset="-122"/>
                <a:cs typeface="Arial" pitchFamily="34" charset="-120"/>
              </a:rPr>
              <a:t>Ship</a:t>
            </a:r>
            <a:endParaRPr lang="en-US" sz="1700" dirty="0"/>
          </a:p>
        </p:txBody>
      </p:sp>
      <p:sp>
        <p:nvSpPr>
          <p:cNvPr id="45" name="Shape 42"/>
          <p:cNvSpPr/>
          <p:nvPr/>
        </p:nvSpPr>
        <p:spPr>
          <a:xfrm>
            <a:off x="7726680" y="4581144"/>
            <a:ext cx="868680" cy="246888"/>
          </a:xfrm>
          <a:prstGeom prst="roundRect">
            <a:avLst>
              <a:gd name="adj" fmla="val 50000"/>
            </a:avLst>
          </a:prstGeom>
          <a:solidFill>
            <a:srgbClr val="F7F5F3"/>
          </a:solidFill>
          <a:ln w="9525">
            <a:solidFill>
              <a:srgbClr val="E4DED8"/>
            </a:solidFill>
            <a:prstDash val="solid"/>
          </a:ln>
        </p:spPr>
        <p:txBody>
          <a:bodyPr/>
          <a:lstStyle/>
          <a:p>
            <a:endParaRPr lang="en-US"/>
          </a:p>
        </p:txBody>
      </p:sp>
      <p:sp>
        <p:nvSpPr>
          <p:cNvPr id="46" name="Text 43"/>
          <p:cNvSpPr txBox="1"/>
          <p:nvPr/>
        </p:nvSpPr>
        <p:spPr>
          <a:xfrm>
            <a:off x="7726680" y="4581144"/>
            <a:ext cx="868680" cy="246888"/>
          </a:xfrm>
          <a:prstGeom prst="rect">
            <a:avLst/>
          </a:prstGeom>
          <a:noFill/>
          <a:ln/>
        </p:spPr>
        <p:txBody>
          <a:bodyPr wrap="square" lIns="0" tIns="0" rIns="0" bIns="0" rtlCol="0" anchor="ctr"/>
          <a:lstStyle/>
          <a:p>
            <a:pPr marL="0" indent="0" algn="ctr">
              <a:buNone/>
            </a:pPr>
            <a:r>
              <a:rPr lang="en-US" sz="950" b="1" kern="0" spc="150" dirty="0">
                <a:solidFill>
                  <a:srgbClr val="2D2926"/>
                </a:solidFill>
                <a:latin typeface="Arial" pitchFamily="34" charset="0"/>
                <a:ea typeface="Arial" pitchFamily="34" charset="-122"/>
                <a:cs typeface="Arial" pitchFamily="34" charset="-120"/>
              </a:rPr>
              <a:t>YOU</a:t>
            </a:r>
            <a:endParaRPr lang="en-US" sz="950" dirty="0"/>
          </a:p>
        </p:txBody>
      </p:sp>
      <p:sp>
        <p:nvSpPr>
          <p:cNvPr id="47" name="Text 44"/>
          <p:cNvSpPr txBox="1"/>
          <p:nvPr/>
        </p:nvSpPr>
        <p:spPr>
          <a:xfrm>
            <a:off x="6373368" y="4864608"/>
            <a:ext cx="5269687" cy="292608"/>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Commit, open a PR even solo, deploy to real users.</a:t>
            </a:r>
            <a:endParaRPr lang="en-US" sz="1300" dirty="0"/>
          </a:p>
        </p:txBody>
      </p:sp>
      <p:sp>
        <p:nvSpPr>
          <p:cNvPr id="48" name="Shape 45"/>
          <p:cNvSpPr/>
          <p:nvPr/>
        </p:nvSpPr>
        <p:spPr>
          <a:xfrm>
            <a:off x="5806440" y="5285232"/>
            <a:ext cx="402336" cy="402336"/>
          </a:xfrm>
          <a:prstGeom prst="ellipse">
            <a:avLst/>
          </a:prstGeom>
          <a:solidFill>
            <a:srgbClr val="F6921E"/>
          </a:solidFill>
          <a:ln/>
        </p:spPr>
        <p:txBody>
          <a:bodyPr/>
          <a:lstStyle/>
          <a:p>
            <a:endParaRPr lang="en-US"/>
          </a:p>
        </p:txBody>
      </p:sp>
      <p:sp>
        <p:nvSpPr>
          <p:cNvPr id="49" name="Text 46"/>
          <p:cNvSpPr txBox="1"/>
          <p:nvPr/>
        </p:nvSpPr>
        <p:spPr>
          <a:xfrm>
            <a:off x="5806440" y="5285232"/>
            <a:ext cx="402336" cy="402336"/>
          </a:xfrm>
          <a:prstGeom prst="rect">
            <a:avLst/>
          </a:prstGeom>
          <a:noFill/>
          <a:ln/>
        </p:spPr>
        <p:txBody>
          <a:bodyPr wrap="square" lIns="0" tIns="0" rIns="0" bIns="0" rtlCol="0" anchor="ctr"/>
          <a:lstStyle/>
          <a:p>
            <a:pPr marL="0" indent="0" algn="ctr">
              <a:buNone/>
            </a:pPr>
            <a:r>
              <a:rPr lang="en-US" sz="1320" b="1" dirty="0">
                <a:solidFill>
                  <a:srgbClr val="2D2926"/>
                </a:solidFill>
                <a:latin typeface="Arial" pitchFamily="34" charset="0"/>
                <a:ea typeface="Arial" pitchFamily="34" charset="-122"/>
                <a:cs typeface="Arial" pitchFamily="34" charset="-120"/>
              </a:rPr>
              <a:t>6</a:t>
            </a:r>
            <a:endParaRPr lang="en-US" sz="1320" dirty="0"/>
          </a:p>
        </p:txBody>
      </p:sp>
      <p:sp>
        <p:nvSpPr>
          <p:cNvPr id="50" name="Text 47"/>
          <p:cNvSpPr txBox="1"/>
          <p:nvPr/>
        </p:nvSpPr>
        <p:spPr>
          <a:xfrm>
            <a:off x="6373368" y="5230368"/>
            <a:ext cx="1371600" cy="292608"/>
          </a:xfrm>
          <a:prstGeom prst="rect">
            <a:avLst/>
          </a:prstGeom>
          <a:noFill/>
          <a:ln/>
        </p:spPr>
        <p:txBody>
          <a:bodyPr wrap="square" lIns="0" tIns="0" rIns="0" bIns="0" rtlCol="0" anchor="t"/>
          <a:lstStyle/>
          <a:p>
            <a:pPr marL="0" indent="0">
              <a:buNone/>
            </a:pPr>
            <a:r>
              <a:rPr lang="en-US" sz="1700" b="1" dirty="0">
                <a:solidFill>
                  <a:srgbClr val="2D2926"/>
                </a:solidFill>
                <a:latin typeface="Arial" pitchFamily="34" charset="0"/>
                <a:ea typeface="Arial" pitchFamily="34" charset="-122"/>
                <a:cs typeface="Arial" pitchFamily="34" charset="-120"/>
              </a:rPr>
              <a:t>Learn</a:t>
            </a:r>
            <a:endParaRPr lang="en-US" sz="1700" dirty="0"/>
          </a:p>
        </p:txBody>
      </p:sp>
      <p:sp>
        <p:nvSpPr>
          <p:cNvPr id="51" name="Shape 48"/>
          <p:cNvSpPr/>
          <p:nvPr/>
        </p:nvSpPr>
        <p:spPr>
          <a:xfrm>
            <a:off x="7726680" y="5257800"/>
            <a:ext cx="868680" cy="246888"/>
          </a:xfrm>
          <a:prstGeom prst="roundRect">
            <a:avLst>
              <a:gd name="adj" fmla="val 50000"/>
            </a:avLst>
          </a:prstGeom>
          <a:solidFill>
            <a:srgbClr val="F7F5F3"/>
          </a:solidFill>
          <a:ln w="9525">
            <a:solidFill>
              <a:srgbClr val="E4DED8"/>
            </a:solidFill>
            <a:prstDash val="solid"/>
          </a:ln>
        </p:spPr>
        <p:txBody>
          <a:bodyPr/>
          <a:lstStyle/>
          <a:p>
            <a:endParaRPr lang="en-US"/>
          </a:p>
        </p:txBody>
      </p:sp>
      <p:sp>
        <p:nvSpPr>
          <p:cNvPr id="52" name="Text 49"/>
          <p:cNvSpPr txBox="1"/>
          <p:nvPr/>
        </p:nvSpPr>
        <p:spPr>
          <a:xfrm>
            <a:off x="7726680" y="5257800"/>
            <a:ext cx="868680" cy="246888"/>
          </a:xfrm>
          <a:prstGeom prst="rect">
            <a:avLst/>
          </a:prstGeom>
          <a:noFill/>
          <a:ln/>
        </p:spPr>
        <p:txBody>
          <a:bodyPr wrap="square" lIns="0" tIns="0" rIns="0" bIns="0" rtlCol="0" anchor="ctr"/>
          <a:lstStyle/>
          <a:p>
            <a:pPr marL="0" indent="0" algn="ctr">
              <a:buNone/>
            </a:pPr>
            <a:r>
              <a:rPr lang="en-US" sz="950" b="1" kern="0" spc="150" dirty="0">
                <a:solidFill>
                  <a:srgbClr val="2D2926"/>
                </a:solidFill>
                <a:latin typeface="Arial" pitchFamily="34" charset="0"/>
                <a:ea typeface="Arial" pitchFamily="34" charset="-122"/>
                <a:cs typeface="Arial" pitchFamily="34" charset="-120"/>
              </a:rPr>
              <a:t>YOU</a:t>
            </a:r>
            <a:endParaRPr lang="en-US" sz="950" dirty="0"/>
          </a:p>
        </p:txBody>
      </p:sp>
      <p:sp>
        <p:nvSpPr>
          <p:cNvPr id="53" name="Text 50"/>
          <p:cNvSpPr txBox="1"/>
          <p:nvPr/>
        </p:nvSpPr>
        <p:spPr>
          <a:xfrm>
            <a:off x="6373368" y="5541264"/>
            <a:ext cx="5269687" cy="292608"/>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Feed lessons back into CLAUDE.md and the backlog.</a:t>
            </a:r>
            <a:endParaRPr lang="en-US" sz="1300" dirty="0"/>
          </a:p>
        </p:txBody>
      </p:sp>
      <p:sp>
        <p:nvSpPr>
          <p:cNvPr id="54" name="Text 51"/>
          <p:cNvSpPr txBox="1"/>
          <p:nvPr/>
        </p:nvSpPr>
        <p:spPr>
          <a:xfrm>
            <a:off x="5806440" y="5943600"/>
            <a:ext cx="5836615" cy="411480"/>
          </a:xfrm>
          <a:prstGeom prst="rect">
            <a:avLst/>
          </a:prstGeom>
          <a:noFill/>
          <a:ln/>
        </p:spPr>
        <p:txBody>
          <a:bodyPr wrap="square" lIns="0" tIns="0" rIns="0" bIns="0" rtlCol="0" anchor="t"/>
          <a:lstStyle/>
          <a:p>
            <a:pPr marL="0" indent="0">
              <a:buNone/>
            </a:pPr>
            <a:r>
              <a:rPr lang="en-US" sz="1400" b="1" i="1" dirty="0">
                <a:solidFill>
                  <a:srgbClr val="2D2926"/>
                </a:solidFill>
                <a:latin typeface="Arial" pitchFamily="34" charset="0"/>
                <a:ea typeface="Arial" pitchFamily="34" charset="-122"/>
                <a:cs typeface="Arial" pitchFamily="34" charset="-120"/>
              </a:rPr>
              <a:t>The lifecycle you already know. The agent speeds up the middle; you own both ends.</a:t>
            </a:r>
            <a:endParaRPr lang="en-US" sz="1400" dirty="0"/>
          </a:p>
        </p:txBody>
      </p:sp>
      <p:sp>
        <p:nvSpPr>
          <p:cNvPr id="55" name="Text 5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56" name="Text 53"/>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4942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224942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FIRST PROJECTS</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Small, internal, low-risk, checkable by dinner</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3803904"/>
        </p:xfrm>
        <a:graphic>
          <a:graphicData uri="http://schemas.openxmlformats.org/drawingml/2006/table">
            <a:tbl>
              <a:tblPr/>
              <a:tblGrid>
                <a:gridCol w="7315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041855">
                  <a:extLst>
                    <a:ext uri="{9D8B030D-6E8A-4147-A177-3AD203B41FA5}">
                      <a16:colId xmlns:a16="http://schemas.microsoft.com/office/drawing/2014/main" val="20002"/>
                    </a:ext>
                  </a:extLst>
                </a:gridCol>
              </a:tblGrid>
              <a:tr h="475488">
                <a:tc>
                  <a:txBody>
                    <a:bodyPr/>
                    <a:lstStyle/>
                    <a:p>
                      <a:pPr marL="0" indent="0">
                        <a:buNone/>
                      </a:pPr>
                      <a:r>
                        <a:rPr lang="en-US" sz="1300" b="1" kern="0" spc="100" dirty="0">
                          <a:solidFill>
                            <a:srgbClr val="FFFFFF"/>
                          </a:solidFill>
                          <a:latin typeface="Arial" pitchFamily="34" charset="0"/>
                          <a:ea typeface="Arial" pitchFamily="34" charset="-122"/>
                          <a:cs typeface="Arial" pitchFamily="34" charset="-120"/>
                        </a:rPr>
                        <a:t>PROJECT</a:t>
                      </a:r>
                      <a:endParaRPr lang="en-US" sz="13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2D2926"/>
                    </a:solidFill>
                  </a:tcPr>
                </a:tc>
                <a:tc>
                  <a:txBody>
                    <a:bodyPr/>
                    <a:lstStyle/>
                    <a:p>
                      <a:pPr marL="0" indent="0">
                        <a:buNone/>
                      </a:pPr>
                      <a:r>
                        <a:rPr lang="en-US" sz="1300" b="1" kern="0" spc="100" dirty="0">
                          <a:solidFill>
                            <a:srgbClr val="FFFFFF"/>
                          </a:solidFill>
                          <a:latin typeface="Arial" pitchFamily="34" charset="0"/>
                          <a:ea typeface="Arial" pitchFamily="34" charset="-122"/>
                          <a:cs typeface="Arial" pitchFamily="34" charset="-120"/>
                        </a:rPr>
                        <a:t>RISK</a:t>
                      </a:r>
                      <a:endParaRPr lang="en-US" sz="13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2D2926"/>
                    </a:solidFill>
                  </a:tcPr>
                </a:tc>
                <a:tc>
                  <a:txBody>
                    <a:bodyPr/>
                    <a:lstStyle/>
                    <a:p>
                      <a:pPr marL="0" indent="0">
                        <a:buNone/>
                      </a:pPr>
                      <a:r>
                        <a:rPr lang="en-US" sz="1300" b="1" kern="0" spc="100" dirty="0">
                          <a:solidFill>
                            <a:srgbClr val="FFFFFF"/>
                          </a:solidFill>
                          <a:latin typeface="Arial" pitchFamily="34" charset="0"/>
                          <a:ea typeface="Arial" pitchFamily="34" charset="-122"/>
                          <a:cs typeface="Arial" pitchFamily="34" charset="-120"/>
                        </a:rPr>
                        <a:t>FIRST WIN</a:t>
                      </a:r>
                      <a:endParaRPr lang="en-US" sz="13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2D2926"/>
                    </a:solidFill>
                  </a:tcPr>
                </a:tc>
                <a:extLst>
                  <a:ext uri="{0D108BD9-81ED-4DB2-BD59-A6C34878D82A}">
                    <a16:rowId xmlns:a16="http://schemas.microsoft.com/office/drawing/2014/main" val="10000"/>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Weekly CSV cleanup (dedupe, reformat, merge)</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Low</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1-2 hrs</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extLst>
                  <a:ext uri="{0D108BD9-81ED-4DB2-BD59-A6C34878D82A}">
                    <a16:rowId xmlns:a16="http://schemas.microsoft.com/office/drawing/2014/main" val="10001"/>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First-time guest follow-up list from a ChMS export</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Low</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1-2 hrs</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Explain and document a legacy script or stored proc</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Very low</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&lt; 1 hr</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extLst>
                  <a:ext uri="{0D108BD9-81ED-4DB2-BD59-A6C34878D82A}">
                    <a16:rowId xmlns:a16="http://schemas.microsoft.com/office/drawing/2014/main" val="10003"/>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Scheduled staff report (attendance, giving summary)</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Low-med</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Half day</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Device or license inventory tracker</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Low</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Half day</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extLst>
                  <a:ext uri="{0D108BD9-81ED-4DB2-BD59-A6C34878D82A}">
                    <a16:rowId xmlns:a16="http://schemas.microsoft.com/office/drawing/2014/main" val="10005"/>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Sunday AV / streaming checklist for volunteers</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Low</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Half day</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500" b="1" dirty="0">
                          <a:solidFill>
                            <a:srgbClr val="2D2926"/>
                          </a:solidFill>
                          <a:latin typeface="Arial" pitchFamily="34" charset="0"/>
                          <a:ea typeface="Arial" pitchFamily="34" charset="-122"/>
                          <a:cs typeface="Arial" pitchFamily="34" charset="-120"/>
                        </a:rPr>
                        <a:t>Read-only ChMS API dashboard (sandbox key)</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Medium</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tc>
                  <a:txBody>
                    <a:bodyPr/>
                    <a:lstStyle/>
                    <a:p>
                      <a:pPr marL="0" indent="0">
                        <a:buNone/>
                      </a:pPr>
                      <a:r>
                        <a:rPr lang="en-US" sz="1500" dirty="0">
                          <a:solidFill>
                            <a:srgbClr val="5A544F"/>
                          </a:solidFill>
                          <a:latin typeface="Arial" pitchFamily="34" charset="0"/>
                          <a:ea typeface="Arial" pitchFamily="34" charset="-122"/>
                          <a:cs typeface="Arial" pitchFamily="34" charset="-120"/>
                        </a:rPr>
                        <a:t>1 day</a:t>
                      </a:r>
                      <a:endParaRPr lang="en-US" sz="1500" dirty="0">
                        <a:latin typeface="Arial" charset="0"/>
                        <a:ea typeface="Arial" charset="0"/>
                        <a:cs typeface="Arial" charset="0"/>
                      </a:endParaRPr>
                    </a:p>
                  </a:txBody>
                  <a:tcPr marL="137160" marR="137160" marT="0" marB="0" anchor="ctr">
                    <a:lnL w="9525" cap="flat" cmpd="sng" algn="ctr">
                      <a:solidFill>
                        <a:srgbClr val="E4DED8"/>
                      </a:solidFill>
                      <a:prstDash val="solid"/>
                      <a:round/>
                      <a:headEnd type="none" w="med" len="med"/>
                      <a:tailEnd type="none" w="med" len="med"/>
                    </a:lnL>
                    <a:lnR w="9525" cap="flat" cmpd="sng" algn="ctr">
                      <a:solidFill>
                        <a:srgbClr val="E4DED8"/>
                      </a:solidFill>
                      <a:prstDash val="solid"/>
                      <a:round/>
                      <a:headEnd type="none" w="med" len="med"/>
                      <a:tailEnd type="none" w="med" len="med"/>
                    </a:lnR>
                    <a:lnT w="9525" cap="flat" cmpd="sng" algn="ctr">
                      <a:solidFill>
                        <a:srgbClr val="E4DED8"/>
                      </a:solidFill>
                      <a:prstDash val="solid"/>
                      <a:round/>
                      <a:headEnd type="none" w="med" len="med"/>
                      <a:tailEnd type="none" w="med" len="med"/>
                    </a:lnT>
                    <a:lnB w="9525" cap="flat" cmpd="sng" algn="ctr">
                      <a:solidFill>
                        <a:srgbClr val="E4DED8"/>
                      </a:solidFill>
                      <a:prstDash val="solid"/>
                      <a:round/>
                      <a:headEnd type="none" w="med" len="med"/>
                      <a:tailEnd type="none" w="med" len="med"/>
                    </a:lnB>
                    <a:solidFill>
                      <a:srgbClr val="F7F5F3"/>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7" name="Text 4"/>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0934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60934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YOUR TURN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Pick one. Define done. Shrink it.</a:t>
            </a:r>
            <a:endParaRPr lang="en-US" sz="3400" dirty="0"/>
          </a:p>
        </p:txBody>
      </p:sp>
      <p:sp>
        <p:nvSpPr>
          <p:cNvPr id="5" name="Shape 3"/>
          <p:cNvSpPr/>
          <p:nvPr/>
        </p:nvSpPr>
        <p:spPr>
          <a:xfrm>
            <a:off x="548640" y="1920240"/>
            <a:ext cx="5120640" cy="3840480"/>
          </a:xfrm>
          <a:prstGeom prst="roundRect">
            <a:avLst>
              <a:gd name="adj" fmla="val 3810"/>
            </a:avLst>
          </a:prstGeom>
          <a:solidFill>
            <a:srgbClr val="2D2926"/>
          </a:solidFill>
          <a:ln w="9525">
            <a:solidFill>
              <a:srgbClr val="2D2926"/>
            </a:solidFill>
            <a:prstDash val="solid"/>
          </a:ln>
        </p:spPr>
        <p:txBody>
          <a:bodyPr/>
          <a:lstStyle/>
          <a:p>
            <a:endParaRPr lang="en-US"/>
          </a:p>
        </p:txBody>
      </p:sp>
      <p:sp>
        <p:nvSpPr>
          <p:cNvPr id="6" name="Text 4"/>
          <p:cNvSpPr txBox="1"/>
          <p:nvPr/>
        </p:nvSpPr>
        <p:spPr>
          <a:xfrm>
            <a:off x="914400" y="2194560"/>
            <a:ext cx="4389120" cy="457200"/>
          </a:xfrm>
          <a:prstGeom prst="rect">
            <a:avLst/>
          </a:prstGeom>
          <a:noFill/>
          <a:ln/>
        </p:spPr>
        <p:txBody>
          <a:bodyPr wrap="square" lIns="0" tIns="0" rIns="0" bIns="0" rtlCol="0" anchor="t"/>
          <a:lstStyle/>
          <a:p>
            <a:pPr marL="0" indent="0">
              <a:buNone/>
            </a:pPr>
            <a:r>
              <a:rPr lang="en-US" sz="2000" b="1" dirty="0">
                <a:solidFill>
                  <a:srgbClr val="F6921E"/>
                </a:solidFill>
                <a:latin typeface="Arial" pitchFamily="34" charset="0"/>
                <a:ea typeface="Arial" pitchFamily="34" charset="-122"/>
                <a:cs typeface="Arial" pitchFamily="34" charset="-120"/>
              </a:rPr>
              <a:t>Not for a first project</a:t>
            </a:r>
            <a:endParaRPr lang="en-US" sz="2000" dirty="0"/>
          </a:p>
        </p:txBody>
      </p:sp>
      <p:sp>
        <p:nvSpPr>
          <p:cNvPr id="7" name="Text 5"/>
          <p:cNvSpPr txBox="1"/>
          <p:nvPr/>
        </p:nvSpPr>
        <p:spPr>
          <a:xfrm>
            <a:off x="914400" y="2834640"/>
            <a:ext cx="438912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Anything that writes to live ChMS or giving data</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Public sites, logins or payment flows</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"Replace our [product]" rewrites</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Anything you can't personally verify</a:t>
            </a:r>
            <a:endParaRPr lang="en-US" sz="1600" dirty="0"/>
          </a:p>
        </p:txBody>
      </p:sp>
      <p:sp>
        <p:nvSpPr>
          <p:cNvPr id="8" name="Text 6"/>
          <p:cNvSpPr txBox="1"/>
          <p:nvPr/>
        </p:nvSpPr>
        <p:spPr>
          <a:xfrm>
            <a:off x="6035040" y="1965960"/>
            <a:ext cx="5608015" cy="365760"/>
          </a:xfrm>
          <a:prstGeom prst="rect">
            <a:avLst/>
          </a:prstGeom>
          <a:noFill/>
          <a:ln/>
        </p:spPr>
        <p:txBody>
          <a:bodyPr wrap="square" lIns="0" tIns="0" rIns="0" bIns="0" rtlCol="0" anchor="t"/>
          <a:lstStyle/>
          <a:p>
            <a:pPr marL="0" indent="0">
              <a:buNone/>
            </a:pPr>
            <a:r>
              <a:rPr lang="en-US" sz="1400" b="1" kern="0" spc="100" dirty="0">
                <a:solidFill>
                  <a:srgbClr val="5A544F"/>
                </a:solidFill>
                <a:latin typeface="Arial" pitchFamily="34" charset="0"/>
                <a:ea typeface="Arial" pitchFamily="34" charset="-122"/>
                <a:cs typeface="Arial" pitchFamily="34" charset="-120"/>
              </a:rPr>
              <a:t>Pair exercise  ·  3 minutes</a:t>
            </a:r>
            <a:endParaRPr lang="en-US" sz="1400" dirty="0"/>
          </a:p>
        </p:txBody>
      </p:sp>
      <p:sp>
        <p:nvSpPr>
          <p:cNvPr id="9" name="Shape 7"/>
          <p:cNvSpPr/>
          <p:nvPr/>
        </p:nvSpPr>
        <p:spPr>
          <a:xfrm>
            <a:off x="6035040" y="2514600"/>
            <a:ext cx="548640" cy="548640"/>
          </a:xfrm>
          <a:prstGeom prst="ellipse">
            <a:avLst/>
          </a:prstGeom>
          <a:solidFill>
            <a:srgbClr val="F6921E"/>
          </a:solidFill>
          <a:ln/>
        </p:spPr>
        <p:txBody>
          <a:bodyPr/>
          <a:lstStyle/>
          <a:p>
            <a:endParaRPr lang="en-US"/>
          </a:p>
        </p:txBody>
      </p:sp>
      <p:sp>
        <p:nvSpPr>
          <p:cNvPr id="10" name="Text 8"/>
          <p:cNvSpPr txBox="1"/>
          <p:nvPr/>
        </p:nvSpPr>
        <p:spPr>
          <a:xfrm>
            <a:off x="6035040" y="2514600"/>
            <a:ext cx="548640" cy="54864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1</a:t>
            </a:r>
            <a:endParaRPr lang="en-US" sz="1800" dirty="0"/>
          </a:p>
        </p:txBody>
      </p:sp>
      <p:sp>
        <p:nvSpPr>
          <p:cNvPr id="11" name="Text 9"/>
          <p:cNvSpPr txBox="1"/>
          <p:nvPr/>
        </p:nvSpPr>
        <p:spPr>
          <a:xfrm>
            <a:off x="6812280" y="2514600"/>
            <a:ext cx="4830775" cy="548640"/>
          </a:xfrm>
          <a:prstGeom prst="rect">
            <a:avLst/>
          </a:prstGeom>
          <a:noFill/>
          <a:ln/>
        </p:spPr>
        <p:txBody>
          <a:bodyPr wrap="square" lIns="0" tIns="0" rIns="0" bIns="0" rtlCol="0" anchor="ctr"/>
          <a:lstStyle/>
          <a:p>
            <a:pPr marL="0" indent="0">
              <a:buNone/>
            </a:pPr>
            <a:r>
              <a:rPr lang="en-US" sz="1800" dirty="0">
                <a:solidFill>
                  <a:srgbClr val="2D2926"/>
                </a:solidFill>
                <a:latin typeface="Arial" pitchFamily="34" charset="0"/>
                <a:ea typeface="Arial" pitchFamily="34" charset="-122"/>
                <a:cs typeface="Arial" pitchFamily="34" charset="-120"/>
              </a:rPr>
              <a:t>Pick one project from the shortlist.</a:t>
            </a:r>
            <a:endParaRPr lang="en-US" sz="1800" dirty="0"/>
          </a:p>
        </p:txBody>
      </p:sp>
      <p:sp>
        <p:nvSpPr>
          <p:cNvPr id="12" name="Shape 10"/>
          <p:cNvSpPr/>
          <p:nvPr/>
        </p:nvSpPr>
        <p:spPr>
          <a:xfrm>
            <a:off x="6035040" y="3383280"/>
            <a:ext cx="548640" cy="548640"/>
          </a:xfrm>
          <a:prstGeom prst="ellipse">
            <a:avLst/>
          </a:prstGeom>
          <a:solidFill>
            <a:srgbClr val="F6921E"/>
          </a:solidFill>
          <a:ln/>
        </p:spPr>
        <p:txBody>
          <a:bodyPr/>
          <a:lstStyle/>
          <a:p>
            <a:endParaRPr lang="en-US"/>
          </a:p>
        </p:txBody>
      </p:sp>
      <p:sp>
        <p:nvSpPr>
          <p:cNvPr id="13" name="Text 11"/>
          <p:cNvSpPr txBox="1"/>
          <p:nvPr/>
        </p:nvSpPr>
        <p:spPr>
          <a:xfrm>
            <a:off x="6035040" y="3383280"/>
            <a:ext cx="548640" cy="54864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6812280" y="3383280"/>
            <a:ext cx="4830775" cy="548640"/>
          </a:xfrm>
          <a:prstGeom prst="rect">
            <a:avLst/>
          </a:prstGeom>
          <a:noFill/>
          <a:ln/>
        </p:spPr>
        <p:txBody>
          <a:bodyPr wrap="square" lIns="0" tIns="0" rIns="0" bIns="0" rtlCol="0" anchor="ctr"/>
          <a:lstStyle/>
          <a:p>
            <a:pPr marL="0" indent="0">
              <a:buNone/>
            </a:pPr>
            <a:r>
              <a:rPr lang="en-US" sz="1800" dirty="0">
                <a:solidFill>
                  <a:srgbClr val="2D2926"/>
                </a:solidFill>
                <a:latin typeface="Arial" pitchFamily="34" charset="0"/>
                <a:ea typeface="Arial" pitchFamily="34" charset="-122"/>
                <a:cs typeface="Arial" pitchFamily="34" charset="-120"/>
              </a:rPr>
              <a:t>Write what "done" means in three sentences.</a:t>
            </a:r>
            <a:endParaRPr lang="en-US" sz="1800" dirty="0"/>
          </a:p>
        </p:txBody>
      </p:sp>
      <p:sp>
        <p:nvSpPr>
          <p:cNvPr id="15" name="Shape 13"/>
          <p:cNvSpPr/>
          <p:nvPr/>
        </p:nvSpPr>
        <p:spPr>
          <a:xfrm>
            <a:off x="6035040" y="4251960"/>
            <a:ext cx="548640" cy="548640"/>
          </a:xfrm>
          <a:prstGeom prst="ellipse">
            <a:avLst/>
          </a:prstGeom>
          <a:solidFill>
            <a:srgbClr val="F6921E"/>
          </a:solidFill>
          <a:ln/>
        </p:spPr>
        <p:txBody>
          <a:bodyPr/>
          <a:lstStyle/>
          <a:p>
            <a:endParaRPr lang="en-US"/>
          </a:p>
        </p:txBody>
      </p:sp>
      <p:sp>
        <p:nvSpPr>
          <p:cNvPr id="16" name="Text 14"/>
          <p:cNvSpPr txBox="1"/>
          <p:nvPr/>
        </p:nvSpPr>
        <p:spPr>
          <a:xfrm>
            <a:off x="6035040" y="4251960"/>
            <a:ext cx="548640" cy="54864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3</a:t>
            </a:r>
            <a:endParaRPr lang="en-US" sz="1800" dirty="0"/>
          </a:p>
        </p:txBody>
      </p:sp>
      <p:sp>
        <p:nvSpPr>
          <p:cNvPr id="17" name="Text 15"/>
          <p:cNvSpPr txBox="1"/>
          <p:nvPr/>
        </p:nvSpPr>
        <p:spPr>
          <a:xfrm>
            <a:off x="6812280" y="4251960"/>
            <a:ext cx="4830775" cy="548640"/>
          </a:xfrm>
          <a:prstGeom prst="rect">
            <a:avLst/>
          </a:prstGeom>
          <a:noFill/>
          <a:ln/>
        </p:spPr>
        <p:txBody>
          <a:bodyPr wrap="square" lIns="0" tIns="0" rIns="0" bIns="0" rtlCol="0" anchor="ctr"/>
          <a:lstStyle/>
          <a:p>
            <a:pPr marL="0" indent="0">
              <a:buNone/>
            </a:pPr>
            <a:r>
              <a:rPr lang="en-US" sz="1800" dirty="0">
                <a:solidFill>
                  <a:srgbClr val="2D2926"/>
                </a:solidFill>
                <a:latin typeface="Arial" pitchFamily="34" charset="0"/>
                <a:ea typeface="Arial" pitchFamily="34" charset="-122"/>
                <a:cs typeface="Arial" pitchFamily="34" charset="-120"/>
              </a:rPr>
              <a:t>Trade with your partner. Cut it in half.</a:t>
            </a:r>
            <a:endParaRPr lang="en-US" sz="1800" dirty="0"/>
          </a:p>
        </p:txBody>
      </p:sp>
      <p:sp>
        <p:nvSpPr>
          <p:cNvPr id="18" name="Shape 16"/>
          <p:cNvSpPr/>
          <p:nvPr/>
        </p:nvSpPr>
        <p:spPr>
          <a:xfrm>
            <a:off x="6035040" y="5166360"/>
            <a:ext cx="5608015" cy="502920"/>
          </a:xfrm>
          <a:prstGeom prst="roundRect">
            <a:avLst>
              <a:gd name="adj" fmla="val 18182"/>
            </a:avLst>
          </a:prstGeom>
          <a:solidFill>
            <a:srgbClr val="F7F5F3"/>
          </a:solidFill>
          <a:ln w="9525">
            <a:solidFill>
              <a:srgbClr val="E4DED8"/>
            </a:solidFill>
            <a:prstDash val="dash"/>
          </a:ln>
        </p:spPr>
        <p:txBody>
          <a:bodyPr/>
          <a:lstStyle/>
          <a:p>
            <a:endParaRPr lang="en-US"/>
          </a:p>
        </p:txBody>
      </p:sp>
      <p:sp>
        <p:nvSpPr>
          <p:cNvPr id="19" name="Text 17"/>
          <p:cNvSpPr txBox="1"/>
          <p:nvPr/>
        </p:nvSpPr>
        <p:spPr>
          <a:xfrm>
            <a:off x="6263640" y="5166360"/>
            <a:ext cx="5150815" cy="502920"/>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My project's done means: ______________________</a:t>
            </a:r>
            <a:endParaRPr lang="en-US" sz="1400" dirty="0"/>
          </a:p>
        </p:txBody>
      </p:sp>
      <p:sp>
        <p:nvSpPr>
          <p:cNvPr id="20" name="Text 18"/>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21" name="Text 19"/>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92420"/>
        </a:solidFill>
        <a:effectLst/>
      </p:bgPr>
    </p:bg>
    <p:spTree>
      <p:nvGrpSpPr>
        <p:cNvPr id="1" name=""/>
        <p:cNvGrpSpPr/>
        <p:nvPr/>
      </p:nvGrpSpPr>
      <p:grpSpPr>
        <a:xfrm>
          <a:off x="0" y="0"/>
          <a:ext cx="0" cy="0"/>
          <a:chOff x="0" y="0"/>
          <a:chExt cx="0" cy="0"/>
        </a:xfrm>
      </p:grpSpPr>
      <p:sp>
        <p:nvSpPr>
          <p:cNvPr id="2" name="Shape 0"/>
          <p:cNvSpPr/>
          <p:nvPr/>
        </p:nvSpPr>
        <p:spPr>
          <a:xfrm>
            <a:off x="548640" y="457200"/>
            <a:ext cx="301752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301752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  4 OF 4</a:t>
            </a:r>
            <a:endParaRPr lang="en-US" sz="1100" dirty="0"/>
          </a:p>
        </p:txBody>
      </p:sp>
      <p:sp>
        <p:nvSpPr>
          <p:cNvPr id="4" name="Shape 2"/>
          <p:cNvSpPr/>
          <p:nvPr/>
        </p:nvSpPr>
        <p:spPr>
          <a:xfrm>
            <a:off x="8570671" y="457200"/>
            <a:ext cx="3072384" cy="329184"/>
          </a:xfrm>
          <a:prstGeom prst="roundRect">
            <a:avLst>
              <a:gd name="adj" fmla="val 50000"/>
            </a:avLst>
          </a:prstGeom>
          <a:ln w="12700">
            <a:solidFill>
              <a:srgbClr val="BFB8B1"/>
            </a:solidFill>
            <a:prstDash val="solid"/>
          </a:ln>
        </p:spPr>
        <p:txBody>
          <a:bodyPr/>
          <a:lstStyle/>
          <a:p>
            <a:endParaRPr lang="en-US"/>
          </a:p>
        </p:txBody>
      </p:sp>
      <p:sp>
        <p:nvSpPr>
          <p:cNvPr id="5" name="Text 3"/>
          <p:cNvSpPr txBox="1"/>
          <p:nvPr/>
        </p:nvSpPr>
        <p:spPr>
          <a:xfrm>
            <a:off x="8570671" y="457200"/>
            <a:ext cx="307238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~2 MIN  ·  38:00-40:00</a:t>
            </a:r>
            <a:endParaRPr lang="en-US" sz="1100" dirty="0"/>
          </a:p>
        </p:txBody>
      </p:sp>
      <p:sp>
        <p:nvSpPr>
          <p:cNvPr id="6" name="Text 4"/>
          <p:cNvSpPr txBox="1"/>
          <p:nvPr/>
        </p:nvSpPr>
        <p:spPr>
          <a:xfrm>
            <a:off x="548640" y="9144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Shrink it live</a:t>
            </a:r>
            <a:endParaRPr lang="en-US" sz="3600" dirty="0"/>
          </a:p>
        </p:txBody>
      </p:sp>
      <p:sp>
        <p:nvSpPr>
          <p:cNvPr id="7" name="Text 5"/>
          <p:cNvSpPr txBox="1"/>
          <p:nvPr/>
        </p:nvSpPr>
        <p:spPr>
          <a:xfrm>
            <a:off x="548640" y="1645920"/>
            <a:ext cx="7315200" cy="365760"/>
          </a:xfrm>
          <a:prstGeom prst="rect">
            <a:avLst/>
          </a:prstGeom>
          <a:noFill/>
          <a:ln/>
        </p:spPr>
        <p:txBody>
          <a:bodyPr wrap="square" lIns="0" tIns="0" rIns="0" bIns="0" rtlCol="0" anchor="t"/>
          <a:lstStyle/>
          <a:p>
            <a:pPr marL="0" indent="0">
              <a:buNone/>
            </a:pPr>
            <a:r>
              <a:rPr lang="en-US" sz="1800" b="1" dirty="0">
                <a:solidFill>
                  <a:srgbClr val="F6921E"/>
                </a:solidFill>
                <a:latin typeface="Arial" pitchFamily="34" charset="0"/>
                <a:ea typeface="Arial" pitchFamily="34" charset="-122"/>
                <a:cs typeface="Arial" pitchFamily="34" charset="-120"/>
              </a:rPr>
              <a:t>A volunteer's project, cut down to one afternoon</a:t>
            </a:r>
            <a:endParaRPr lang="en-US" sz="1800" dirty="0"/>
          </a:p>
        </p:txBody>
      </p:sp>
      <p:sp>
        <p:nvSpPr>
          <p:cNvPr id="8" name="Text 6"/>
          <p:cNvSpPr txBox="1"/>
          <p:nvPr/>
        </p:nvSpPr>
        <p:spPr>
          <a:xfrm>
            <a:off x="548640" y="242316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SWITCH TO</a:t>
            </a:r>
            <a:endParaRPr lang="en-US" sz="1100" dirty="0"/>
          </a:p>
        </p:txBody>
      </p:sp>
      <p:sp>
        <p:nvSpPr>
          <p:cNvPr id="9" name="Text 7"/>
          <p:cNvSpPr txBox="1"/>
          <p:nvPr/>
        </p:nvSpPr>
        <p:spPr>
          <a:xfrm>
            <a:off x="548640" y="2715768"/>
            <a:ext cx="4754880" cy="54864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Terminal, plan mode, in any empty folder. Type the volunteer's idea into the prompt.</a:t>
            </a:r>
            <a:endParaRPr lang="en-US" sz="1600" dirty="0"/>
          </a:p>
        </p:txBody>
      </p:sp>
      <p:sp>
        <p:nvSpPr>
          <p:cNvPr id="10" name="Text 8"/>
          <p:cNvSpPr txBox="1"/>
          <p:nvPr/>
        </p:nvSpPr>
        <p:spPr>
          <a:xfrm>
            <a:off x="548640" y="3429000"/>
            <a:ext cx="4754880" cy="274320"/>
          </a:xfrm>
          <a:prstGeom prst="rect">
            <a:avLst/>
          </a:prstGeom>
          <a:noFill/>
          <a:ln/>
        </p:spPr>
        <p:txBody>
          <a:bodyPr wrap="square" lIns="0" tIns="0" rIns="0" bIns="0" rtlCol="0" anchor="t"/>
          <a:lstStyle/>
          <a:p>
            <a:pPr marL="0" indent="0">
              <a:buNone/>
            </a:pPr>
            <a:r>
              <a:rPr lang="en-US" sz="1100" b="1" kern="0" spc="200" dirty="0">
                <a:solidFill>
                  <a:srgbClr val="BFB8B1"/>
                </a:solidFill>
                <a:latin typeface="Arial" pitchFamily="34" charset="0"/>
                <a:ea typeface="Arial" pitchFamily="34" charset="-122"/>
                <a:cs typeface="Arial" pitchFamily="34" charset="-120"/>
              </a:rPr>
              <a:t>WATCH FOR</a:t>
            </a:r>
            <a:endParaRPr lang="en-US" sz="1100" dirty="0"/>
          </a:p>
        </p:txBody>
      </p:sp>
      <p:sp>
        <p:nvSpPr>
          <p:cNvPr id="11" name="Text 9"/>
          <p:cNvSpPr txBox="1"/>
          <p:nvPr/>
        </p:nvSpPr>
        <p:spPr>
          <a:xfrm>
            <a:off x="548640" y="3749040"/>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It asks questions before it writes anything</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A smallest version you can build and check in an afternoon</a:t>
            </a:r>
            <a:endParaRPr lang="en-US" sz="1500" dirty="0"/>
          </a:p>
          <a:p>
            <a:pPr marL="342900" indent="-342900">
              <a:spcAft>
                <a:spcPts val="800"/>
              </a:spcAft>
              <a:buSzPct val="100000"/>
              <a:buChar char="•"/>
            </a:pPr>
            <a:r>
              <a:rPr lang="en-US" sz="1500" dirty="0">
                <a:solidFill>
                  <a:srgbClr val="E4DED8"/>
                </a:solidFill>
                <a:latin typeface="Arial" pitchFamily="34" charset="0"/>
                <a:ea typeface="Arial" pitchFamily="34" charset="-122"/>
                <a:cs typeface="Arial" pitchFamily="34" charset="-120"/>
              </a:rPr>
              <a:t>A short list of what to leave for later</a:t>
            </a:r>
            <a:endParaRPr lang="en-US" sz="1500" dirty="0"/>
          </a:p>
        </p:txBody>
      </p:sp>
      <p:sp>
        <p:nvSpPr>
          <p:cNvPr id="12" name="Shape 10"/>
          <p:cNvSpPr/>
          <p:nvPr/>
        </p:nvSpPr>
        <p:spPr>
          <a:xfrm>
            <a:off x="5715000" y="2377440"/>
            <a:ext cx="5928055" cy="2194560"/>
          </a:xfrm>
          <a:prstGeom prst="roundRect">
            <a:avLst>
              <a:gd name="adj" fmla="val 6667"/>
            </a:avLst>
          </a:prstGeom>
          <a:solidFill>
            <a:srgbClr val="F7F5F3"/>
          </a:solidFill>
          <a:ln w="9525">
            <a:solidFill>
              <a:srgbClr val="E4DED8"/>
            </a:solidFill>
            <a:prstDash val="solid"/>
          </a:ln>
        </p:spPr>
        <p:txBody>
          <a:bodyPr/>
          <a:lstStyle/>
          <a:p>
            <a:endParaRPr lang="en-US"/>
          </a:p>
        </p:txBody>
      </p:sp>
      <p:sp>
        <p:nvSpPr>
          <p:cNvPr id="13" name="Text 11"/>
          <p:cNvSpPr txBox="1"/>
          <p:nvPr/>
        </p:nvSpPr>
        <p:spPr>
          <a:xfrm>
            <a:off x="6035040" y="2651760"/>
            <a:ext cx="5287975" cy="274320"/>
          </a:xfrm>
          <a:prstGeom prst="rect">
            <a:avLst/>
          </a:prstGeom>
          <a:noFill/>
          <a:ln/>
        </p:spPr>
        <p:txBody>
          <a:bodyPr wrap="square" lIns="0" tIns="0" rIns="0" bIns="0" rtlCol="0" anchor="t"/>
          <a:lstStyle/>
          <a:p>
            <a:pPr marL="0" indent="0">
              <a:buNone/>
            </a:pPr>
            <a:r>
              <a:rPr lang="en-US" sz="1100" b="1" kern="0" spc="200" dirty="0">
                <a:solidFill>
                  <a:srgbClr val="DC8F2E"/>
                </a:solidFill>
                <a:latin typeface="Arial" pitchFamily="34" charset="0"/>
                <a:ea typeface="Arial" pitchFamily="34" charset="-122"/>
                <a:cs typeface="Arial" pitchFamily="34" charset="-120"/>
              </a:rPr>
              <a:t>TYPE THIS</a:t>
            </a:r>
            <a:endParaRPr lang="en-US" sz="1100" dirty="0"/>
          </a:p>
        </p:txBody>
      </p:sp>
      <p:sp>
        <p:nvSpPr>
          <p:cNvPr id="14" name="Text 12"/>
          <p:cNvSpPr txBox="1"/>
          <p:nvPr/>
        </p:nvSpPr>
        <p:spPr>
          <a:xfrm>
            <a:off x="6035040" y="3017520"/>
            <a:ext cx="5287975" cy="1325880"/>
          </a:xfrm>
          <a:prstGeom prst="rect">
            <a:avLst/>
          </a:prstGeom>
          <a:noFill/>
          <a:ln/>
        </p:spPr>
        <p:txBody>
          <a:bodyPr wrap="square" lIns="0" tIns="0" rIns="0" bIns="0" rtlCol="0" anchor="t"/>
          <a:lstStyle/>
          <a:p>
            <a:pPr marL="0" indent="0">
              <a:buNone/>
            </a:pPr>
            <a:r>
              <a:rPr lang="en-US" sz="1300" dirty="0">
                <a:solidFill>
                  <a:srgbClr val="2D2926"/>
                </a:solidFill>
                <a:latin typeface="Courier New" pitchFamily="34" charset="0"/>
                <a:ea typeface="Courier New" pitchFamily="34" charset="-122"/>
                <a:cs typeface="Courier New" pitchFamily="34" charset="-120"/>
              </a:rPr>
              <a:t>A church IT person wants to build: [volunteer's idea]. Ask me up to three questions, then propose the smallest version that could be built and checked in one afternoon, and list what to leave for later. Don't write any code.</a:t>
            </a:r>
            <a:endParaRPr lang="en-US" sz="1300" dirty="0"/>
          </a:p>
        </p:txBody>
      </p:sp>
      <p:sp>
        <p:nvSpPr>
          <p:cNvPr id="15" name="Text 13"/>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BFB8B1"/>
                </a:solidFill>
                <a:latin typeface="Arial" pitchFamily="34" charset="0"/>
                <a:ea typeface="Arial" pitchFamily="34" charset="-122"/>
                <a:cs typeface="Arial" pitchFamily="34" charset="-120"/>
              </a:rPr>
              <a:t>You Can Build That  ·  CITN26</a:t>
            </a:r>
            <a:endParaRPr lang="en-US" sz="1000" dirty="0"/>
          </a:p>
        </p:txBody>
      </p:sp>
      <p:sp>
        <p:nvSpPr>
          <p:cNvPr id="16" name="Text 14"/>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BFB8B1"/>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22529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22529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MONDAY</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400" b="1" dirty="0">
                <a:solidFill>
                  <a:srgbClr val="2D2926"/>
                </a:solidFill>
                <a:latin typeface="Arial" pitchFamily="34" charset="0"/>
                <a:ea typeface="Arial" pitchFamily="34" charset="-122"/>
                <a:cs typeface="Arial" pitchFamily="34" charset="-120"/>
              </a:rPr>
              <a:t>Four steps to your first win</a:t>
            </a:r>
            <a:endParaRPr lang="en-US" sz="3400" dirty="0"/>
          </a:p>
        </p:txBody>
      </p:sp>
      <p:sp>
        <p:nvSpPr>
          <p:cNvPr id="5" name="Shape 3"/>
          <p:cNvSpPr/>
          <p:nvPr/>
        </p:nvSpPr>
        <p:spPr>
          <a:xfrm>
            <a:off x="548640" y="2194560"/>
            <a:ext cx="2499284" cy="2926080"/>
          </a:xfrm>
          <a:prstGeom prst="roundRect">
            <a:avLst>
              <a:gd name="adj" fmla="val 5854"/>
            </a:avLst>
          </a:prstGeom>
          <a:solidFill>
            <a:srgbClr val="F7F5F3"/>
          </a:solidFill>
          <a:ln w="9525">
            <a:solidFill>
              <a:srgbClr val="E4DED8"/>
            </a:solidFill>
            <a:prstDash val="solid"/>
          </a:ln>
        </p:spPr>
        <p:txBody>
          <a:bodyPr/>
          <a:lstStyle/>
          <a:p>
            <a:endParaRPr lang="en-US"/>
          </a:p>
        </p:txBody>
      </p:sp>
      <p:sp>
        <p:nvSpPr>
          <p:cNvPr id="6" name="Shape 4"/>
          <p:cNvSpPr/>
          <p:nvPr/>
        </p:nvSpPr>
        <p:spPr>
          <a:xfrm>
            <a:off x="868680" y="2560320"/>
            <a:ext cx="822960" cy="822960"/>
          </a:xfrm>
          <a:prstGeom prst="ellipse">
            <a:avLst/>
          </a:prstGeom>
          <a:solidFill>
            <a:srgbClr val="F6921E"/>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69848" y="2761488"/>
            <a:ext cx="420624" cy="420624"/>
          </a:xfrm>
          <a:prstGeom prst="rect">
            <a:avLst/>
          </a:prstGeom>
        </p:spPr>
      </p:pic>
      <p:sp>
        <p:nvSpPr>
          <p:cNvPr id="8" name="Text 5"/>
          <p:cNvSpPr txBox="1"/>
          <p:nvPr/>
        </p:nvSpPr>
        <p:spPr>
          <a:xfrm>
            <a:off x="868680" y="3566160"/>
            <a:ext cx="1859204"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STEP 1</a:t>
            </a:r>
            <a:endParaRPr lang="en-US" sz="1100" dirty="0"/>
          </a:p>
        </p:txBody>
      </p:sp>
      <p:sp>
        <p:nvSpPr>
          <p:cNvPr id="9" name="Text 6"/>
          <p:cNvSpPr txBox="1"/>
          <p:nvPr/>
        </p:nvSpPr>
        <p:spPr>
          <a:xfrm>
            <a:off x="868680" y="3886200"/>
            <a:ext cx="1859204" cy="457200"/>
          </a:xfrm>
          <a:prstGeom prst="rect">
            <a:avLst/>
          </a:prstGeom>
          <a:noFill/>
          <a:ln/>
        </p:spPr>
        <p:txBody>
          <a:bodyPr wrap="square" lIns="0" tIns="0" rIns="0" bIns="0" rtlCol="0" anchor="t"/>
          <a:lstStyle/>
          <a:p>
            <a:pPr marL="0" indent="0">
              <a:buNone/>
            </a:pPr>
            <a:r>
              <a:rPr lang="en-US" sz="2000" b="1" dirty="0">
                <a:solidFill>
                  <a:srgbClr val="2D2926"/>
                </a:solidFill>
                <a:latin typeface="Arial" pitchFamily="34" charset="0"/>
                <a:ea typeface="Arial" pitchFamily="34" charset="-122"/>
                <a:cs typeface="Arial" pitchFamily="34" charset="-120"/>
              </a:rPr>
              <a:t>Install</a:t>
            </a:r>
            <a:endParaRPr lang="en-US" sz="2000" dirty="0"/>
          </a:p>
        </p:txBody>
      </p:sp>
      <p:sp>
        <p:nvSpPr>
          <p:cNvPr id="10" name="Text 7"/>
          <p:cNvSpPr txBox="1"/>
          <p:nvPr/>
        </p:nvSpPr>
        <p:spPr>
          <a:xfrm>
            <a:off x="868680" y="4389120"/>
            <a:ext cx="1859204" cy="640080"/>
          </a:xfrm>
          <a:prstGeom prst="rect">
            <a:avLst/>
          </a:prstGeom>
          <a:noFill/>
          <a:ln/>
        </p:spPr>
        <p:txBody>
          <a:bodyPr wrap="square" lIns="0" tIns="0" rIns="0" bIns="0" rtlCol="0" anchor="t"/>
          <a:lstStyle/>
          <a:p>
            <a:pPr marL="0" indent="0">
              <a:buNone/>
            </a:pPr>
            <a:r>
              <a:rPr lang="en-US" sz="1400" dirty="0">
                <a:solidFill>
                  <a:srgbClr val="5A544F"/>
                </a:solidFill>
                <a:latin typeface="Arial" pitchFamily="34" charset="0"/>
                <a:ea typeface="Arial" pitchFamily="34" charset="-122"/>
                <a:cs typeface="Arial" pitchFamily="34" charset="-120"/>
              </a:rPr>
              <a:t>Claude Code in your terminal or editor</a:t>
            </a:r>
            <a:endParaRPr lang="en-US" sz="1400" dirty="0"/>
          </a:p>
        </p:txBody>
      </p:sp>
      <p:sp>
        <p:nvSpPr>
          <p:cNvPr id="11" name="Shape 8"/>
          <p:cNvSpPr/>
          <p:nvPr/>
        </p:nvSpPr>
        <p:spPr>
          <a:xfrm>
            <a:off x="3413684" y="2194560"/>
            <a:ext cx="2499284" cy="2926080"/>
          </a:xfrm>
          <a:prstGeom prst="roundRect">
            <a:avLst>
              <a:gd name="adj" fmla="val 5854"/>
            </a:avLst>
          </a:prstGeom>
          <a:solidFill>
            <a:srgbClr val="F7F5F3"/>
          </a:solidFill>
          <a:ln w="9525">
            <a:solidFill>
              <a:srgbClr val="E4DED8"/>
            </a:solidFill>
            <a:prstDash val="solid"/>
          </a:ln>
        </p:spPr>
        <p:txBody>
          <a:bodyPr/>
          <a:lstStyle/>
          <a:p>
            <a:endParaRPr lang="en-US"/>
          </a:p>
        </p:txBody>
      </p:sp>
      <p:sp>
        <p:nvSpPr>
          <p:cNvPr id="12" name="Shape 9"/>
          <p:cNvSpPr/>
          <p:nvPr/>
        </p:nvSpPr>
        <p:spPr>
          <a:xfrm>
            <a:off x="3733724" y="2560320"/>
            <a:ext cx="822960" cy="822960"/>
          </a:xfrm>
          <a:prstGeom prst="ellipse">
            <a:avLst/>
          </a:prstGeom>
          <a:solidFill>
            <a:srgbClr val="F6921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934892" y="2761488"/>
            <a:ext cx="420624" cy="420624"/>
          </a:xfrm>
          <a:prstGeom prst="rect">
            <a:avLst/>
          </a:prstGeom>
        </p:spPr>
      </p:pic>
      <p:sp>
        <p:nvSpPr>
          <p:cNvPr id="14" name="Text 10"/>
          <p:cNvSpPr txBox="1"/>
          <p:nvPr/>
        </p:nvSpPr>
        <p:spPr>
          <a:xfrm>
            <a:off x="3733724" y="3566160"/>
            <a:ext cx="1859204"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STEP 2</a:t>
            </a:r>
            <a:endParaRPr lang="en-US" sz="1100" dirty="0"/>
          </a:p>
        </p:txBody>
      </p:sp>
      <p:sp>
        <p:nvSpPr>
          <p:cNvPr id="15" name="Text 11"/>
          <p:cNvSpPr txBox="1"/>
          <p:nvPr/>
        </p:nvSpPr>
        <p:spPr>
          <a:xfrm>
            <a:off x="3733724" y="3886200"/>
            <a:ext cx="1859204" cy="457200"/>
          </a:xfrm>
          <a:prstGeom prst="rect">
            <a:avLst/>
          </a:prstGeom>
          <a:noFill/>
          <a:ln/>
        </p:spPr>
        <p:txBody>
          <a:bodyPr wrap="square" lIns="0" tIns="0" rIns="0" bIns="0" rtlCol="0" anchor="t"/>
          <a:lstStyle/>
          <a:p>
            <a:pPr marL="0" indent="0">
              <a:buNone/>
            </a:pPr>
            <a:r>
              <a:rPr lang="en-US" sz="2000" b="1" dirty="0">
                <a:solidFill>
                  <a:srgbClr val="2D2926"/>
                </a:solidFill>
                <a:latin typeface="Arial" pitchFamily="34" charset="0"/>
                <a:ea typeface="Arial" pitchFamily="34" charset="-122"/>
                <a:cs typeface="Arial" pitchFamily="34" charset="-120"/>
              </a:rPr>
              <a:t>New git repo</a:t>
            </a:r>
            <a:endParaRPr lang="en-US" sz="2000" dirty="0"/>
          </a:p>
        </p:txBody>
      </p:sp>
      <p:sp>
        <p:nvSpPr>
          <p:cNvPr id="16" name="Text 12"/>
          <p:cNvSpPr txBox="1"/>
          <p:nvPr/>
        </p:nvSpPr>
        <p:spPr>
          <a:xfrm>
            <a:off x="3733724" y="4389120"/>
            <a:ext cx="1859204" cy="640080"/>
          </a:xfrm>
          <a:prstGeom prst="rect">
            <a:avLst/>
          </a:prstGeom>
          <a:noFill/>
          <a:ln/>
        </p:spPr>
        <p:txBody>
          <a:bodyPr wrap="square" lIns="0" tIns="0" rIns="0" bIns="0" rtlCol="0" anchor="t"/>
          <a:lstStyle/>
          <a:p>
            <a:pPr marL="0" indent="0">
              <a:buNone/>
            </a:pPr>
            <a:r>
              <a:rPr lang="en-US" sz="1400" dirty="0">
                <a:solidFill>
                  <a:srgbClr val="5A544F"/>
                </a:solidFill>
                <a:latin typeface="Arial" pitchFamily="34" charset="0"/>
                <a:ea typeface="Arial" pitchFamily="34" charset="-122"/>
                <a:cs typeface="Arial" pitchFamily="34" charset="-120"/>
              </a:rPr>
              <a:t>Commit early, commit often</a:t>
            </a:r>
            <a:endParaRPr lang="en-US" sz="1400" dirty="0"/>
          </a:p>
        </p:txBody>
      </p:sp>
      <p:sp>
        <p:nvSpPr>
          <p:cNvPr id="17" name="Shape 13"/>
          <p:cNvSpPr/>
          <p:nvPr/>
        </p:nvSpPr>
        <p:spPr>
          <a:xfrm>
            <a:off x="6278728" y="2194560"/>
            <a:ext cx="2499284" cy="2926080"/>
          </a:xfrm>
          <a:prstGeom prst="roundRect">
            <a:avLst>
              <a:gd name="adj" fmla="val 5854"/>
            </a:avLst>
          </a:prstGeom>
          <a:solidFill>
            <a:srgbClr val="F7F5F3"/>
          </a:solidFill>
          <a:ln w="9525">
            <a:solidFill>
              <a:srgbClr val="E4DED8"/>
            </a:solidFill>
            <a:prstDash val="solid"/>
          </a:ln>
        </p:spPr>
        <p:txBody>
          <a:bodyPr/>
          <a:lstStyle/>
          <a:p>
            <a:endParaRPr lang="en-US"/>
          </a:p>
        </p:txBody>
      </p:sp>
      <p:sp>
        <p:nvSpPr>
          <p:cNvPr id="18" name="Shape 14"/>
          <p:cNvSpPr/>
          <p:nvPr/>
        </p:nvSpPr>
        <p:spPr>
          <a:xfrm>
            <a:off x="6598768" y="2560320"/>
            <a:ext cx="822960" cy="822960"/>
          </a:xfrm>
          <a:prstGeom prst="ellipse">
            <a:avLst/>
          </a:prstGeom>
          <a:solidFill>
            <a:srgbClr val="F6921E"/>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6799936" y="2761488"/>
            <a:ext cx="420624" cy="420624"/>
          </a:xfrm>
          <a:prstGeom prst="rect">
            <a:avLst/>
          </a:prstGeom>
        </p:spPr>
      </p:pic>
      <p:sp>
        <p:nvSpPr>
          <p:cNvPr id="20" name="Text 15"/>
          <p:cNvSpPr txBox="1"/>
          <p:nvPr/>
        </p:nvSpPr>
        <p:spPr>
          <a:xfrm>
            <a:off x="6598768" y="3566160"/>
            <a:ext cx="1859204"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STEP 3</a:t>
            </a:r>
            <a:endParaRPr lang="en-US" sz="1100" dirty="0"/>
          </a:p>
        </p:txBody>
      </p:sp>
      <p:sp>
        <p:nvSpPr>
          <p:cNvPr id="21" name="Text 16"/>
          <p:cNvSpPr txBox="1"/>
          <p:nvPr/>
        </p:nvSpPr>
        <p:spPr>
          <a:xfrm>
            <a:off x="6598768" y="3886200"/>
            <a:ext cx="1859204" cy="457200"/>
          </a:xfrm>
          <a:prstGeom prst="rect">
            <a:avLst/>
          </a:prstGeom>
          <a:noFill/>
          <a:ln/>
        </p:spPr>
        <p:txBody>
          <a:bodyPr wrap="square" lIns="0" tIns="0" rIns="0" bIns="0" rtlCol="0" anchor="t"/>
          <a:lstStyle/>
          <a:p>
            <a:pPr marL="0" indent="0">
              <a:buNone/>
            </a:pPr>
            <a:r>
              <a:rPr lang="en-US" sz="2000" b="1" dirty="0">
                <a:solidFill>
                  <a:srgbClr val="2D2926"/>
                </a:solidFill>
                <a:latin typeface="Arial" pitchFamily="34" charset="0"/>
                <a:ea typeface="Arial" pitchFamily="34" charset="-122"/>
                <a:cs typeface="Arial" pitchFamily="34" charset="-120"/>
              </a:rPr>
              <a:t>Add context</a:t>
            </a:r>
            <a:endParaRPr lang="en-US" sz="2000" dirty="0"/>
          </a:p>
        </p:txBody>
      </p:sp>
      <p:sp>
        <p:nvSpPr>
          <p:cNvPr id="22" name="Text 17"/>
          <p:cNvSpPr txBox="1"/>
          <p:nvPr/>
        </p:nvSpPr>
        <p:spPr>
          <a:xfrm>
            <a:off x="6598768" y="4389120"/>
            <a:ext cx="1859204" cy="640080"/>
          </a:xfrm>
          <a:prstGeom prst="rect">
            <a:avLst/>
          </a:prstGeom>
          <a:noFill/>
          <a:ln/>
        </p:spPr>
        <p:txBody>
          <a:bodyPr wrap="square" lIns="0" tIns="0" rIns="0" bIns="0" rtlCol="0" anchor="t"/>
          <a:lstStyle/>
          <a:p>
            <a:pPr marL="0" indent="0">
              <a:buNone/>
            </a:pPr>
            <a:r>
              <a:rPr lang="en-US" sz="1400" dirty="0">
                <a:solidFill>
                  <a:srgbClr val="5A544F"/>
                </a:solidFill>
                <a:latin typeface="Arial" pitchFamily="34" charset="0"/>
                <a:ea typeface="Arial" pitchFamily="34" charset="-122"/>
                <a:cs typeface="Arial" pitchFamily="34" charset="-120"/>
              </a:rPr>
              <a:t>A five-line CLAUDE.md file is enough</a:t>
            </a:r>
            <a:endParaRPr lang="en-US" sz="1400" dirty="0"/>
          </a:p>
        </p:txBody>
      </p:sp>
      <p:sp>
        <p:nvSpPr>
          <p:cNvPr id="23" name="Shape 18"/>
          <p:cNvSpPr/>
          <p:nvPr/>
        </p:nvSpPr>
        <p:spPr>
          <a:xfrm>
            <a:off x="9143771" y="2194560"/>
            <a:ext cx="2499284" cy="2926080"/>
          </a:xfrm>
          <a:prstGeom prst="roundRect">
            <a:avLst>
              <a:gd name="adj" fmla="val 5854"/>
            </a:avLst>
          </a:prstGeom>
          <a:solidFill>
            <a:srgbClr val="F7F5F3"/>
          </a:solidFill>
          <a:ln w="9525">
            <a:solidFill>
              <a:srgbClr val="E4DED8"/>
            </a:solidFill>
            <a:prstDash val="solid"/>
          </a:ln>
        </p:spPr>
        <p:txBody>
          <a:bodyPr/>
          <a:lstStyle/>
          <a:p>
            <a:endParaRPr lang="en-US"/>
          </a:p>
        </p:txBody>
      </p:sp>
      <p:sp>
        <p:nvSpPr>
          <p:cNvPr id="24" name="Shape 19"/>
          <p:cNvSpPr/>
          <p:nvPr/>
        </p:nvSpPr>
        <p:spPr>
          <a:xfrm>
            <a:off x="9463811" y="2560320"/>
            <a:ext cx="822960" cy="822960"/>
          </a:xfrm>
          <a:prstGeom prst="ellipse">
            <a:avLst/>
          </a:prstGeom>
          <a:solidFill>
            <a:srgbClr val="F6921E"/>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9664979" y="2761488"/>
            <a:ext cx="420624" cy="420624"/>
          </a:xfrm>
          <a:prstGeom prst="rect">
            <a:avLst/>
          </a:prstGeom>
        </p:spPr>
      </p:pic>
      <p:sp>
        <p:nvSpPr>
          <p:cNvPr id="26" name="Text 20"/>
          <p:cNvSpPr txBox="1"/>
          <p:nvPr/>
        </p:nvSpPr>
        <p:spPr>
          <a:xfrm>
            <a:off x="9463811" y="3566160"/>
            <a:ext cx="1859204" cy="274320"/>
          </a:xfrm>
          <a:prstGeom prst="rect">
            <a:avLst/>
          </a:prstGeom>
          <a:noFill/>
          <a:ln/>
        </p:spPr>
        <p:txBody>
          <a:bodyPr wrap="square" lIns="0" tIns="0" rIns="0" bIns="0" rtlCol="0" anchor="t"/>
          <a:lstStyle/>
          <a:p>
            <a:pPr marL="0" indent="0">
              <a:buNone/>
            </a:pPr>
            <a:r>
              <a:rPr lang="en-US" sz="1100" b="1" kern="0" spc="200" dirty="0">
                <a:solidFill>
                  <a:srgbClr val="5A544F"/>
                </a:solidFill>
                <a:latin typeface="Arial" pitchFamily="34" charset="0"/>
                <a:ea typeface="Arial" pitchFamily="34" charset="-122"/>
                <a:cs typeface="Arial" pitchFamily="34" charset="-120"/>
              </a:rPr>
              <a:t>STEP 4</a:t>
            </a:r>
            <a:endParaRPr lang="en-US" sz="1100" dirty="0"/>
          </a:p>
        </p:txBody>
      </p:sp>
      <p:sp>
        <p:nvSpPr>
          <p:cNvPr id="27" name="Text 21"/>
          <p:cNvSpPr txBox="1"/>
          <p:nvPr/>
        </p:nvSpPr>
        <p:spPr>
          <a:xfrm>
            <a:off x="9463811" y="3886200"/>
            <a:ext cx="1859204" cy="457200"/>
          </a:xfrm>
          <a:prstGeom prst="rect">
            <a:avLst/>
          </a:prstGeom>
          <a:noFill/>
          <a:ln/>
        </p:spPr>
        <p:txBody>
          <a:bodyPr wrap="square" lIns="0" tIns="0" rIns="0" bIns="0" rtlCol="0" anchor="t"/>
          <a:lstStyle/>
          <a:p>
            <a:pPr marL="0" indent="0">
              <a:buNone/>
            </a:pPr>
            <a:r>
              <a:rPr lang="en-US" sz="2000" b="1" dirty="0">
                <a:solidFill>
                  <a:srgbClr val="2D2926"/>
                </a:solidFill>
                <a:latin typeface="Arial" pitchFamily="34" charset="0"/>
                <a:ea typeface="Arial" pitchFamily="34" charset="-122"/>
                <a:cs typeface="Arial" pitchFamily="34" charset="-120"/>
              </a:rPr>
              <a:t>Build small</a:t>
            </a:r>
            <a:endParaRPr lang="en-US" sz="2000" dirty="0"/>
          </a:p>
        </p:txBody>
      </p:sp>
      <p:sp>
        <p:nvSpPr>
          <p:cNvPr id="28" name="Text 22"/>
          <p:cNvSpPr txBox="1"/>
          <p:nvPr/>
        </p:nvSpPr>
        <p:spPr>
          <a:xfrm>
            <a:off x="9463811" y="4389120"/>
            <a:ext cx="1859204" cy="640080"/>
          </a:xfrm>
          <a:prstGeom prst="rect">
            <a:avLst/>
          </a:prstGeom>
          <a:noFill/>
          <a:ln/>
        </p:spPr>
        <p:txBody>
          <a:bodyPr wrap="square" lIns="0" tIns="0" rIns="0" bIns="0" rtlCol="0" anchor="t"/>
          <a:lstStyle/>
          <a:p>
            <a:pPr marL="0" indent="0">
              <a:buNone/>
            </a:pPr>
            <a:r>
              <a:rPr lang="en-US" sz="1400" dirty="0">
                <a:solidFill>
                  <a:srgbClr val="5A544F"/>
                </a:solidFill>
                <a:latin typeface="Arial" pitchFamily="34" charset="0"/>
                <a:ea typeface="Arial" pitchFamily="34" charset="-122"/>
                <a:cs typeface="Arial" pitchFamily="34" charset="-120"/>
              </a:rPr>
              <a:t>The smallest thing on your list</a:t>
            </a:r>
            <a:endParaRPr lang="en-US" sz="1400" dirty="0"/>
          </a:p>
        </p:txBody>
      </p:sp>
      <p:sp>
        <p:nvSpPr>
          <p:cNvPr id="29" name="Text 23"/>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5A544F"/>
                </a:solidFill>
                <a:latin typeface="Arial" pitchFamily="34" charset="0"/>
                <a:ea typeface="Arial" pitchFamily="34" charset="-122"/>
                <a:cs typeface="Arial" pitchFamily="34" charset="-120"/>
              </a:rPr>
              <a:t>You Can Build That  ·  CITN26</a:t>
            </a:r>
            <a:endParaRPr lang="en-US" sz="1000" dirty="0"/>
          </a:p>
        </p:txBody>
      </p:sp>
      <p:sp>
        <p:nvSpPr>
          <p:cNvPr id="30" name="Text 24"/>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1000" dirty="0">
                <a:solidFill>
                  <a:srgbClr val="5A544F"/>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Sunrise over hills between a small church and a desk with a laptop showing a checkmark"/>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548640" y="502920"/>
            <a:ext cx="1609344" cy="329184"/>
          </a:xfrm>
          <a:prstGeom prst="roundRect">
            <a:avLst>
              <a:gd name="adj" fmla="val 50000"/>
            </a:avLst>
          </a:prstGeom>
          <a:solidFill>
            <a:srgbClr val="F6921E"/>
          </a:solidFill>
          <a:ln/>
        </p:spPr>
        <p:txBody>
          <a:bodyPr/>
          <a:lstStyle/>
          <a:p>
            <a:endParaRPr lang="en-US"/>
          </a:p>
        </p:txBody>
      </p:sp>
      <p:sp>
        <p:nvSpPr>
          <p:cNvPr id="4" name="Text 1"/>
          <p:cNvSpPr txBox="1"/>
          <p:nvPr/>
        </p:nvSpPr>
        <p:spPr>
          <a:xfrm>
            <a:off x="548640" y="502920"/>
            <a:ext cx="160934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QUESTIONS</a:t>
            </a:r>
            <a:endParaRPr lang="en-US" sz="1100" dirty="0"/>
          </a:p>
        </p:txBody>
      </p:sp>
      <p:sp>
        <p:nvSpPr>
          <p:cNvPr id="5" name="Text 2"/>
          <p:cNvSpPr txBox="1"/>
          <p:nvPr/>
        </p:nvSpPr>
        <p:spPr>
          <a:xfrm>
            <a:off x="548640" y="960120"/>
            <a:ext cx="7772400" cy="822960"/>
          </a:xfrm>
          <a:prstGeom prst="rect">
            <a:avLst/>
          </a:prstGeom>
          <a:noFill/>
          <a:ln/>
        </p:spPr>
        <p:txBody>
          <a:bodyPr wrap="square" lIns="0" tIns="0" rIns="0" bIns="0" rtlCol="0" anchor="t"/>
          <a:lstStyle/>
          <a:p>
            <a:pPr marL="0" indent="0">
              <a:buNone/>
            </a:pPr>
            <a:r>
              <a:rPr lang="en-US" sz="5000" b="1" dirty="0">
                <a:solidFill>
                  <a:srgbClr val="2D2926"/>
                </a:solidFill>
                <a:latin typeface="Arial" pitchFamily="34" charset="0"/>
                <a:ea typeface="Arial" pitchFamily="34" charset="-122"/>
                <a:cs typeface="Arial" pitchFamily="34" charset="-120"/>
              </a:rPr>
              <a:t>You can build that.</a:t>
            </a:r>
            <a:endParaRPr lang="en-US" sz="5000" dirty="0"/>
          </a:p>
        </p:txBody>
      </p:sp>
      <p:sp>
        <p:nvSpPr>
          <p:cNvPr id="6" name="Text 3"/>
          <p:cNvSpPr txBox="1"/>
          <p:nvPr/>
        </p:nvSpPr>
        <p:spPr>
          <a:xfrm>
            <a:off x="548640" y="1691640"/>
            <a:ext cx="7772400" cy="640080"/>
          </a:xfrm>
          <a:prstGeom prst="rect">
            <a:avLst/>
          </a:prstGeom>
          <a:noFill/>
          <a:ln/>
        </p:spPr>
        <p:txBody>
          <a:bodyPr wrap="square" lIns="0" tIns="0" rIns="0" bIns="0" rtlCol="0" anchor="t"/>
          <a:lstStyle/>
          <a:p>
            <a:pPr marL="0" indent="0">
              <a:buNone/>
            </a:pPr>
            <a:r>
              <a:rPr lang="en-US" sz="3200" b="1" dirty="0">
                <a:solidFill>
                  <a:srgbClr val="DC8F2E"/>
                </a:solidFill>
                <a:latin typeface="Arial" pitchFamily="34" charset="0"/>
                <a:ea typeface="Arial" pitchFamily="34" charset="-122"/>
                <a:cs typeface="Arial" pitchFamily="34" charset="-120"/>
              </a:rPr>
              <a:t>Build the small version first.</a:t>
            </a:r>
            <a:endParaRPr lang="en-US" sz="3200" dirty="0"/>
          </a:p>
        </p:txBody>
      </p:sp>
      <p:sp>
        <p:nvSpPr>
          <p:cNvPr id="7" name="Text 4"/>
          <p:cNvSpPr txBox="1"/>
          <p:nvPr/>
        </p:nvSpPr>
        <p:spPr>
          <a:xfrm>
            <a:off x="548640" y="2286000"/>
            <a:ext cx="8229600" cy="274320"/>
          </a:xfrm>
          <a:prstGeom prst="rect">
            <a:avLst/>
          </a:prstGeom>
          <a:noFill/>
          <a:ln/>
        </p:spPr>
        <p:txBody>
          <a:bodyPr wrap="square" lIns="0" tIns="0" rIns="0" bIns="0" rtlCol="0" anchor="t"/>
          <a:lstStyle/>
          <a:p>
            <a:pPr marL="0" indent="0">
              <a:buNone/>
            </a:pPr>
            <a:r>
              <a:rPr lang="en-US" sz="1400" dirty="0">
                <a:solidFill>
                  <a:srgbClr val="5A544F"/>
                </a:solidFill>
                <a:latin typeface="Arial" pitchFamily="34" charset="0"/>
                <a:ea typeface="Arial" pitchFamily="34" charset="-122"/>
                <a:cs typeface="Arial" pitchFamily="34" charset="-120"/>
              </a:rPr>
              <a:t>Chris Kehayias  ·  ACS Technologies  ·  Peer Learning · Community · Inspiration</a:t>
            </a:r>
            <a:endParaRPr lang="en-US" sz="1400" dirty="0"/>
          </a:p>
        </p:txBody>
      </p:sp>
      <p:sp>
        <p:nvSpPr>
          <p:cNvPr id="8" name="Text 5"/>
          <p:cNvSpPr txBox="1"/>
          <p:nvPr/>
        </p:nvSpPr>
        <p:spPr>
          <a:xfrm>
            <a:off x="548640" y="2606040"/>
            <a:ext cx="8229600" cy="27432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Next session: we take the Guest Follow-Up Board live on Vercel.</a:t>
            </a:r>
            <a:endParaRPr lang="en-US" sz="1400" dirty="0"/>
          </a:p>
        </p:txBody>
      </p:sp>
      <p:pic>
        <p:nvPicPr>
          <p:cNvPr id="9" name="Image 1" descr="CITN26 20th anniversary mark"/>
          <p:cNvPicPr>
            <a:picLocks noChangeAspect="1"/>
          </p:cNvPicPr>
          <p:nvPr/>
        </p:nvPicPr>
        <p:blipFill>
          <a:blip r:embed="rId4"/>
          <a:stretch>
            <a:fillRect/>
          </a:stretch>
        </p:blipFill>
        <p:spPr>
          <a:xfrm>
            <a:off x="9600024" y="411480"/>
            <a:ext cx="2043031" cy="2103120"/>
          </a:xfrm>
          <a:prstGeom prst="rect">
            <a:avLst/>
          </a:prstGeom>
        </p:spPr>
      </p:pic>
      <p:pic>
        <p:nvPicPr>
          <p:cNvPr id="10" name="Picture 9">
            <a:extLst>
              <a:ext uri="{FF2B5EF4-FFF2-40B4-BE49-F238E27FC236}">
                <a16:creationId xmlns:a16="http://schemas.microsoft.com/office/drawing/2014/main" id="{92FC7BBC-9B26-2542-EDE8-FFFDE4A9DF38}"/>
              </a:ext>
            </a:extLst>
          </p:cNvPr>
          <p:cNvPicPr>
            <a:picLocks noChangeAspect="1"/>
          </p:cNvPicPr>
          <p:nvPr/>
        </p:nvPicPr>
        <p:blipFill>
          <a:blip r:embed="rId5"/>
          <a:stretch>
            <a:fillRect/>
          </a:stretch>
        </p:blipFill>
        <p:spPr>
          <a:xfrm>
            <a:off x="9296247" y="139700"/>
            <a:ext cx="2740660" cy="27406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2713</Words>
  <Application>Microsoft Macintosh PowerPoint</Application>
  <PresentationFormat>Widescreen</PresentationFormat>
  <Paragraphs>380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 Can Build That: Getting Started with Claude Code</dc:title>
  <dc:subject>PptxGenJS Presentation</dc:subject>
  <dc:creator>Chris Kehayias</dc:creator>
  <cp:lastModifiedBy>Chris Kehayias</cp:lastModifiedBy>
  <cp:revision>4</cp:revision>
  <dcterms:created xsi:type="dcterms:W3CDTF">2026-10-04T17:44:31Z</dcterms:created>
  <dcterms:modified xsi:type="dcterms:W3CDTF">2026-10-04T18:24:18Z</dcterms:modified>
</cp:coreProperties>
</file>