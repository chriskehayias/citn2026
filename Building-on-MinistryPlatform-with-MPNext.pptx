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DEMO. Switch to the terminal. Walk the loop from the previous slide on a real MPNext feature: read the schema doc, scaffold the service call and DTO, validate with Zod, run the tests, open the PR with /pr. Budget about 8 minutes; if running long, trim to 5 and skip the PR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nistryPlatform-Community/MPNext" TargetMode="External"/><Relationship Id="rId4" Type="http://schemas.openxmlformats.org/officeDocument/2006/relationships/hyperlink" Target="https://github.com/MinistryPlatform-Community/MPNext-Widgets" TargetMode="External"/><Relationship Id="rId6" Type="http://schemas.openxmlformats.org/officeDocument/2006/relationships/hyperlink" Target="https://github.com/MinistryPlatform-Community/MPNext-Tools" TargetMode="External"/><Relationship Id="rId1" Type="http://schemas.openxmlformats.org/officeDocument/2006/relationships/image" Target="../media/image-14-1.png"/><Relationship Id="rId3" Type="http://schemas.openxmlformats.org/officeDocument/2006/relationships/image" Target="../media/image-14-1.png"/><Relationship Id="rId5" Type="http://schemas.openxmlformats.org/officeDocument/2006/relationships/image" Target="../media/image-1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/hero-title-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4572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MINISTRYPLATFORM · MPNEXT</a:t>
            </a:r>
            <a:endParaRPr lang="en-US" sz="1100" dirty="0"/>
          </a:p>
        </p:txBody>
      </p:sp>
      <p:pic>
        <p:nvPicPr>
          <p:cNvPr id="5" name="Image 1" descr="citn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11480"/>
            <a:ext cx="1417320" cy="1463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965960"/>
            <a:ext cx="8961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opinionated tour of building on it with Claude Code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framework decides for you, why those calls hold up, and where to deviate. MP shops get a head start; everyone else gets a case study.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Kehayias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SVP Innovation &amp; AI, ACS Technologies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plumbing every MP app rebuilds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074920" cy="2834640"/>
          </a:xfrm>
          <a:prstGeom prst="roundRect">
            <a:avLst>
              <a:gd name="adj" fmla="val 2581"/>
            </a:avLst>
          </a:prstGeom>
          <a:solidFill>
            <a:srgbClr val="E4DE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945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STARTER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OAuth from scratch. Hand-type interfaces for whichever of 300+ tables the app touches. Write a fetch wrapper. Only then start the feature someone asked for.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97880" y="1920240"/>
            <a:ext cx="5074920" cy="2834640"/>
          </a:xfrm>
          <a:prstGeom prst="roundRect">
            <a:avLst>
              <a:gd name="adj" fmla="val 2581"/>
            </a:avLst>
          </a:prstGeom>
          <a:solidFill>
            <a:srgbClr val="2D29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21945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9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MPNEXT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65176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the repo. Run the setup wizard. Generate 301 typed models and Zod schemas from the live schema. Start the feature someone asked for.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0749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OAuth logout trap alone costs most teams a day: users silently log back in because nobody configured OIDC RP-initiated logout with a post-logout redirect URI.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minutes, seven segments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473882" cy="1005840"/>
          </a:xfrm>
          <a:prstGeom prst="roundRect">
            <a:avLst>
              <a:gd name="adj" fmla="val 5455"/>
            </a:avLst>
          </a:prstGeom>
          <a:solidFill>
            <a:srgbClr val="E4DE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212848"/>
            <a:ext cx="14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70048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1565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68242" y="1600200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68242" y="2103120"/>
            <a:ext cx="1473882" cy="1005840"/>
          </a:xfrm>
          <a:prstGeom prst="roundRect">
            <a:avLst>
              <a:gd name="adj" fmla="val 5455"/>
            </a:avLst>
          </a:prstGeom>
          <a:solidFill>
            <a:srgbClr val="E4DE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68242" y="2212848"/>
            <a:ext cx="14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068242" y="2670048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068242" y="3246120"/>
            <a:ext cx="1565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decides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79284" y="1600200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79284" y="2103120"/>
            <a:ext cx="1473882" cy="1005840"/>
          </a:xfrm>
          <a:prstGeom prst="roundRect">
            <a:avLst>
              <a:gd name="adj" fmla="val 5455"/>
            </a:avLst>
          </a:prstGeom>
          <a:solidFill>
            <a:srgbClr val="E4DE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79284" y="2212848"/>
            <a:ext cx="14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679284" y="2670048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79284" y="3246120"/>
            <a:ext cx="1565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holds up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90327" y="1600200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0:23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90327" y="2103120"/>
            <a:ext cx="1473882" cy="1005840"/>
          </a:xfrm>
          <a:prstGeom prst="roundRect">
            <a:avLst>
              <a:gd name="adj" fmla="val 5455"/>
            </a:avLst>
          </a:prstGeom>
          <a:solidFill>
            <a:srgbClr val="F692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90327" y="2212848"/>
            <a:ext cx="14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5290327" y="2670048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290327" y="3246120"/>
            <a:ext cx="1565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901369" y="1600200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1369" y="2103120"/>
            <a:ext cx="1473882" cy="1005840"/>
          </a:xfrm>
          <a:prstGeom prst="roundRect">
            <a:avLst>
              <a:gd name="adj" fmla="val 5455"/>
            </a:avLst>
          </a:prstGeom>
          <a:solidFill>
            <a:srgbClr val="E4DED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01369" y="2212848"/>
            <a:ext cx="14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6901369" y="2670048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901369" y="3246120"/>
            <a:ext cx="1565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deviate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512411" y="1600200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12411" y="2103120"/>
            <a:ext cx="1473882" cy="1005840"/>
          </a:xfrm>
          <a:prstGeom prst="roundRect">
            <a:avLst>
              <a:gd name="adj" fmla="val 5455"/>
            </a:avLst>
          </a:prstGeom>
          <a:solidFill>
            <a:srgbClr val="E4DED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12411" y="2212848"/>
            <a:ext cx="14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8512411" y="2670048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512411" y="3246120"/>
            <a:ext cx="1565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123453" y="1600200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123453" y="2103120"/>
            <a:ext cx="1473882" cy="1005840"/>
          </a:xfrm>
          <a:prstGeom prst="roundRect">
            <a:avLst>
              <a:gd name="adj" fmla="val 5455"/>
            </a:avLst>
          </a:prstGeom>
          <a:solidFill>
            <a:srgbClr val="E4DED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123453" y="2212848"/>
            <a:ext cx="14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10123453" y="2670048"/>
            <a:ext cx="14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123453" y="3246120"/>
            <a:ext cx="15653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long? Trim the demo to five minutes. Never cut where to deviate.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DECIDES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blank app. Not a full CMS. An opinionated starter.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E4DED8"/>
          </a:solidFill>
          <a:ln/>
        </p:spPr>
      </p:sp>
      <p:sp>
        <p:nvSpPr>
          <p:cNvPr id="6" name="Shape 4"/>
          <p:cNvSpPr/>
          <p:nvPr/>
        </p:nvSpPr>
        <p:spPr>
          <a:xfrm>
            <a:off x="1668780" y="2331720"/>
            <a:ext cx="914400" cy="914400"/>
          </a:xfrm>
          <a:prstGeom prst="ellipse">
            <a:avLst/>
          </a:prstGeom>
          <a:solidFill>
            <a:srgbClr val="DC8F2E"/>
          </a:solidFill>
          <a:ln/>
        </p:spPr>
      </p:sp>
      <p:pic>
        <p:nvPicPr>
          <p:cNvPr id="7" name="Image 0" descr="icons/tool-hand-ro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450592"/>
            <a:ext cx="676656" cy="6766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474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Hand-rolled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9319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copy patterns between projects and re-debug OAuth logout every time.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0" y="196596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E4DED8"/>
          </a:solidFill>
          <a:ln/>
        </p:spPr>
      </p:sp>
      <p:sp>
        <p:nvSpPr>
          <p:cNvPr id="11" name="Shape 8"/>
          <p:cNvSpPr/>
          <p:nvPr/>
        </p:nvSpPr>
        <p:spPr>
          <a:xfrm>
            <a:off x="5326380" y="2331720"/>
            <a:ext cx="914400" cy="914400"/>
          </a:xfrm>
          <a:prstGeom prst="ellipse">
            <a:avLst/>
          </a:prstGeom>
          <a:solidFill>
            <a:srgbClr val="DC8F2E"/>
          </a:solidFill>
          <a:ln/>
        </p:spPr>
      </p:sp>
      <p:pic>
        <p:nvPicPr>
          <p:cNvPr id="12" name="Image 1" descr="icons/box-star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2450592"/>
            <a:ext cx="676656" cy="6766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3400" y="3474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starter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389120" y="39319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opinion with no idea MinistryPlatform exists. You still write the provider.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772400" y="196596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2D2926"/>
          </a:solidFill>
          <a:ln/>
        </p:spPr>
      </p:sp>
      <p:sp>
        <p:nvSpPr>
          <p:cNvPr id="16" name="Shape 12"/>
          <p:cNvSpPr/>
          <p:nvPr/>
        </p:nvSpPr>
        <p:spPr>
          <a:xfrm>
            <a:off x="8983980" y="2331720"/>
            <a:ext cx="914400" cy="914400"/>
          </a:xfrm>
          <a:prstGeom prst="ellipse">
            <a:avLst/>
          </a:prstGeom>
          <a:solidFill>
            <a:srgbClr val="F6921E"/>
          </a:solidFill>
          <a:ln/>
        </p:spPr>
      </p:sp>
      <p:pic>
        <p:nvPicPr>
          <p:cNvPr id="17" name="Image 2" descr="icons/zap-mpn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852" y="2450592"/>
            <a:ext cx="676656" cy="6766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01000" y="3474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MPNext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39319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4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OAuth, 301 generated models, and a service layer are already decided. This is Claude Code.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5715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MinistryPlatform REST API. Three very different starting points.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layers, one call away</a:t>
            </a:r>
            <a:endParaRPr lang="en-US" sz="3200" dirty="0"/>
          </a:p>
        </p:txBody>
      </p:sp>
      <p:pic>
        <p:nvPicPr>
          <p:cNvPr id="5" name="Image 0" descr="art/arch-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548640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5486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pPr algn="l" indent="0" marL="0">
              <a:buNone/>
            </a:pPr>
            <a:r>
              <a:rPr lang="en-US" sz="1200" dirty="0">
                <a:solidFill>
                  <a:srgbClr val="BFB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l" indent="0" marL="0">
              <a:buNone/>
            </a:pPr>
            <a:r>
              <a:rPr lang="en-US" sz="12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pPr algn="l" indent="0" marL="0">
              <a:buNone/>
            </a:pPr>
            <a:r>
              <a:rPr lang="en-US" sz="1200" dirty="0">
                <a:solidFill>
                  <a:srgbClr val="BFB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l" indent="0" marL="0">
              <a:buNone/>
            </a:pPr>
            <a:r>
              <a:rPr lang="en-US" sz="12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pPr algn="l" indent="0" marL="0">
              <a:buNone/>
            </a:pPr>
            <a:r>
              <a:rPr lang="en-US" sz="1200" dirty="0">
                <a:solidFill>
                  <a:srgbClr val="BFB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l" indent="0" marL="0">
              <a:buNone/>
            </a:pPr>
            <a:r>
              <a:rPr lang="en-US" sz="12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pPr algn="l" indent="0" marL="0">
              <a:buNone/>
            </a:pPr>
            <a:r>
              <a:rPr lang="en-US" sz="1200" dirty="0">
                <a:solidFill>
                  <a:srgbClr val="BFB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l" indent="0" marL="0">
              <a:buNone/>
            </a:pPr>
            <a:r>
              <a:rPr lang="en-US" sz="12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965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hold together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46888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tables become 301 typed TypeScript models and Zod schemas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MPHelper hides OAuth token refresh, retries, and pagination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is an optional argument, not a wall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models never touch hand-written DTOs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/hero-mental-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2066544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4114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945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Codegen isn't just types.
</a:t>
            </a:r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69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your agent's memory.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891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reads the generated schema doc the same way it reads your source. Keep both current — regenerate after every MP schema change — and the agent’s output stays predictable instead of a coin flip.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B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loop, on a real MPNext feature</a:t>
            </a:r>
            <a:endParaRPr lang="en-US" sz="3200" dirty="0"/>
          </a:p>
        </p:txBody>
      </p:sp>
      <p:pic>
        <p:nvPicPr>
          <p:cNvPr id="5" name="Image 0" descr="art/lifecycle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728" y="1737360"/>
            <a:ext cx="4206240" cy="28054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679989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972597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schema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283493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.claude/references/ministryplatform.schema.md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523744" y="4679989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523744" y="4972597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2523744" y="5283493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drafts the service call + DTO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90288" y="4679989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4972597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90288" y="5283493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Zod schema on the CRUD call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656832" y="4679989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656832" y="4972597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656832" y="5283493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relevant Vitest suite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723376" y="4679989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723376" y="4972597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723376" y="5283493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 opens it with a test checklist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989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8 minutes for what used to take a day of hand-typing interfaces.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/hero-mental-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411480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3736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
</a:t>
            </a:r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69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terminal.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069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it, don’t describe it. Claude Code on a real MPNext feature.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516636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3A3532"/>
          </a:solidFill>
          <a:ln w="9525">
            <a:solidFill>
              <a:srgbClr val="5A54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1663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9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and terminal pre-opened. Font bumped. ~8 minutes.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349240" cy="4160520"/>
          </a:xfrm>
          <a:prstGeom prst="roundRect">
            <a:avLst>
              <a:gd name="adj" fmla="val 3077"/>
            </a:avLst>
          </a:prstGeom>
          <a:solidFill>
            <a:srgbClr val="1B1816"/>
          </a:solidFill>
          <a:ln w="12700">
            <a:solidFill>
              <a:srgbClr val="5A544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929384"/>
            <a:ext cx="146304" cy="146304"/>
          </a:xfrm>
          <a:prstGeom prst="ellipse">
            <a:avLst/>
          </a:prstGeom>
          <a:solidFill>
            <a:srgbClr val="F6921E"/>
          </a:solidFill>
          <a:ln/>
        </p:spPr>
      </p:sp>
      <p:sp>
        <p:nvSpPr>
          <p:cNvPr id="11" name="Shape 8"/>
          <p:cNvSpPr/>
          <p:nvPr/>
        </p:nvSpPr>
        <p:spPr>
          <a:xfrm>
            <a:off x="6867144" y="1929384"/>
            <a:ext cx="146304" cy="146304"/>
          </a:xfrm>
          <a:prstGeom prst="ellipse">
            <a:avLst/>
          </a:prstGeom>
          <a:solidFill>
            <a:srgbClr val="BFB8B1"/>
          </a:solidFill>
          <a:ln/>
        </p:spPr>
      </p:sp>
      <p:sp>
        <p:nvSpPr>
          <p:cNvPr id="12" name="Shape 9"/>
          <p:cNvSpPr/>
          <p:nvPr/>
        </p:nvSpPr>
        <p:spPr>
          <a:xfrm>
            <a:off x="7104888" y="1929384"/>
            <a:ext cx="146304" cy="146304"/>
          </a:xfrm>
          <a:prstGeom prst="ellipse">
            <a:avLst/>
          </a:prstGeom>
          <a:solidFill>
            <a:srgbClr val="5A544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52360" y="184708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~/mpnext  —  claude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55080" y="2313432"/>
            <a:ext cx="5349240" cy="0"/>
          </a:xfrm>
          <a:prstGeom prst="line">
            <a:avLst/>
          </a:prstGeom>
          <a:noFill/>
          <a:ln w="12700">
            <a:solidFill>
              <a:srgbClr val="3A35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2560320"/>
            <a:ext cx="4617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69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mpnext &amp;&amp; claude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Read the schema doc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Scaffold service call + DTO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Validate with Zod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Run the tests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/pr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69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_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B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HOLDS 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holds up, what to watch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E4DED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check-ho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2259940"/>
            <a:ext cx="372161" cy="3721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UP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34640"/>
            <a:ext cx="4434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JWT sessions — no session database to run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Zod validation — adoption without a rewrite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DTOs kept separate from generated models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 services for configuration consistency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~190+ tests across auth, sessions, routes, CRUD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897880" y="192024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2D2926"/>
          </a:solidFill>
          <a:ln/>
        </p:spPr>
      </p:sp>
      <p:sp>
        <p:nvSpPr>
          <p:cNvPr id="11" name="Shape 8"/>
          <p:cNvSpPr/>
          <p:nvPr/>
        </p:nvSpPr>
        <p:spPr>
          <a:xfrm>
            <a:off x="6172200" y="2194560"/>
            <a:ext cx="502920" cy="502920"/>
          </a:xfrm>
          <a:prstGeom prst="ellipse">
            <a:avLst/>
          </a:prstGeom>
          <a:solidFill>
            <a:srgbClr val="F6921E"/>
          </a:solidFill>
          <a:ln/>
        </p:spPr>
      </p:sp>
      <p:pic>
        <p:nvPicPr>
          <p:cNvPr id="12" name="Image 1" descr="icons/alert-w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580" y="225994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2834640"/>
            <a:ext cx="4434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transitive postcss advisory (build-time only)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Singletons can fight per-request test isolation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validation still needs a team-level policy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Hand-editing a generated file breaks the codegen contract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374136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NUMBERS WORTH REMEMBERING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 and 190+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E4DE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37744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37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models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947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interfaces and Zod schemas, generated from your live MP schema in one CLI run.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97880" y="210312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E4DE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237744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190+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3337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7947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6 files: auth, session enrichment, route protection, and full CRUD.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486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between a prototype and a starter is mostly test coverage.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 CLAUDE CODE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 already talks to your agent</a:t>
            </a:r>
            <a:endParaRPr lang="en-US" sz="3200" dirty="0"/>
          </a:p>
        </p:txBody>
      </p:sp>
      <p:pic>
        <p:nvPicPr>
          <p:cNvPr id="5" name="Image 0" descr="icons/github-mark-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86868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965960"/>
            <a:ext cx="10332720" cy="3749040"/>
          </a:xfrm>
          <a:prstGeom prst="roundRect">
            <a:avLst>
              <a:gd name="adj" fmla="val 1951"/>
            </a:avLst>
          </a:prstGeom>
          <a:solidFill>
            <a:srgbClr val="2D292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240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9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9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/audit-deps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283464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audit, CVE search, categorized dependency updates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4930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9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/branch-commit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349300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name + commit message generated from a GitHub issue number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1513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9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4151376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preconditions, opens a PR with a summary and test checklist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9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/newtool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4809744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Scaffolds a new admin tool in MPNext-Tools’ established pattern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5897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CLAUDE.md and .claude/references/ministryplatform.schema.md — the context that keeps generated code on-pattern.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DEVIATE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Opinions aren't universal truths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E4DED8"/>
          </a:solidFill>
          <a:ln/>
        </p:spPr>
      </p:sp>
      <p:sp>
        <p:nvSpPr>
          <p:cNvPr id="6" name="Shape 4"/>
          <p:cNvSpPr/>
          <p:nvPr/>
        </p:nvSpPr>
        <p:spPr>
          <a:xfrm>
            <a:off x="1714500" y="2286000"/>
            <a:ext cx="822960" cy="822960"/>
          </a:xfrm>
          <a:prstGeom prst="ellipse">
            <a:avLst/>
          </a:prstGeom>
          <a:solidFill>
            <a:srgbClr val="2D2926"/>
          </a:solidFill>
          <a:ln/>
        </p:spPr>
      </p:sp>
      <p:pic>
        <p:nvPicPr>
          <p:cNvPr id="7" name="Image 0" descr="icons/refresh-re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1485" y="2392985"/>
            <a:ext cx="608990" cy="6089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291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Regenerate, never hand-edit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862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patched generated file breaks the codegen contract. Extend through DTOs instead.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0" y="196596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E4DED8"/>
          </a:solidFill>
          <a:ln/>
        </p:spPr>
      </p:sp>
      <p:sp>
        <p:nvSpPr>
          <p:cNvPr id="11" name="Shape 8"/>
          <p:cNvSpPr/>
          <p:nvPr/>
        </p:nvSpPr>
        <p:spPr>
          <a:xfrm>
            <a:off x="5372100" y="2286000"/>
            <a:ext cx="822960" cy="822960"/>
          </a:xfrm>
          <a:prstGeom prst="ellipse">
            <a:avLst/>
          </a:prstGeom>
          <a:solidFill>
            <a:srgbClr val="2D2926"/>
          </a:solidFill>
          <a:ln/>
        </p:spPr>
      </p:sp>
      <p:pic>
        <p:nvPicPr>
          <p:cNvPr id="12" name="Image 1" descr="icons/layers-d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085" y="2392985"/>
            <a:ext cx="608990" cy="6089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3400" y="3291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DTOs stay separate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389120" y="38862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logic lives above the generated models — never inside them.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0" y="196596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E4DED8"/>
          </a:solidFill>
          <a:ln/>
        </p:spPr>
      </p:sp>
      <p:sp>
        <p:nvSpPr>
          <p:cNvPr id="16" name="Shape 12"/>
          <p:cNvSpPr/>
          <p:nvPr/>
        </p:nvSpPr>
        <p:spPr>
          <a:xfrm>
            <a:off x="9029700" y="2286000"/>
            <a:ext cx="822960" cy="822960"/>
          </a:xfrm>
          <a:prstGeom prst="ellipse">
            <a:avLst/>
          </a:prstGeom>
          <a:solidFill>
            <a:srgbClr val="2D2926"/>
          </a:solidFill>
          <a:ln/>
        </p:spPr>
      </p:sp>
      <p:pic>
        <p:nvPicPr>
          <p:cNvPr id="17" name="Image 2" descr="icons/shield-valid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685" y="2392985"/>
            <a:ext cx="608990" cy="6089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01000" y="3291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at your boundary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38862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Zod is a sane default, not a mandate. Compliance-heavy teams should require it.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limitation: a transitive postcss advisory through Next.js 16 — build-time only, documented, doesn’t block deployment.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64792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pattern, three repos</a:t>
            </a:r>
            <a:endParaRPr lang="en-US" sz="3200" dirty="0"/>
          </a:p>
        </p:txBody>
      </p:sp>
      <p:pic>
        <p:nvPicPr>
          <p:cNvPr id="5" name="Image 0" descr="icons/github-mark-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868680"/>
            <a:ext cx="457200" cy="457200"/>
          </a:xfrm>
          <a:prstGeom prst="rect">
            <a:avLst/>
          </a:prstGeom>
        </p:spPr>
      </p:pic>
      <p:pic>
        <p:nvPicPr>
          <p:cNvPr id="6" name="Image 1" descr="art/ecosystem-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103120"/>
            <a:ext cx="6583680" cy="439116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90372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MPNext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903720" y="2350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starter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903720" y="26243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OAuth, 301 generated models, MPHelper service layer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90372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MPNext-Widgets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903720" y="35844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Embeddable web components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903720" y="3858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custom elements, Shadow DOM, short-lived JWT bearer auth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4526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MPNext-Tools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903720" y="48188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utilities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903720" y="50932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labels (USPS IMb), field management, GrapesJS template editor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opinionated core gets forked into adjacent problems — nobody re-litigates the architecture.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it, star it, fork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2D2926"/>
          </a:solidFill>
          <a:ln/>
        </p:spPr>
      </p:sp>
      <p:pic>
        <p:nvPicPr>
          <p:cNvPr id="6" name="Image 0" descr="icons/github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545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MPNext</a:t>
            </a:r>
            <a:endParaRPr lang="en-US" sz="1500" dirty="0"/>
          </a:p>
        </p:txBody>
      </p:sp>
      <p:sp>
        <p:nvSpPr>
          <p:cNvPr id="8" name="Text 5">
            <a:hlinkClick r:id="rId2" tooltip=""/>
          </p:cNvPr>
          <p:cNvSpPr txBox="1"/>
          <p:nvPr/>
        </p:nvSpPr>
        <p:spPr>
          <a:xfrm>
            <a:off x="1554480" y="263347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F69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github.com/MinistryPlatform-Community/MPNext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2D2926"/>
          </a:solidFill>
          <a:ln/>
        </p:spPr>
      </p:sp>
      <p:pic>
        <p:nvPicPr>
          <p:cNvPr id="10" name="Image 1" descr="icons/github-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347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MPNext-Widgets</a:t>
            </a:r>
            <a:endParaRPr lang="en-US" sz="1500" dirty="0"/>
          </a:p>
        </p:txBody>
      </p:sp>
      <p:sp>
        <p:nvSpPr>
          <p:cNvPr id="12" name="Text 8">
            <a:hlinkClick r:id="rId4" tooltip=""/>
          </p:cNvPr>
          <p:cNvSpPr txBox="1"/>
          <p:nvPr/>
        </p:nvSpPr>
        <p:spPr>
          <a:xfrm>
            <a:off x="1554480" y="39136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F69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github.com/MinistryPlatform-Community/MPNext-Widgets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466344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2D2926"/>
          </a:solidFill>
          <a:ln/>
        </p:spPr>
      </p:sp>
      <p:pic>
        <p:nvPicPr>
          <p:cNvPr id="14" name="Image 2" descr="icons/github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149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MPNext-Tools</a:t>
            </a:r>
            <a:endParaRPr lang="en-US" sz="1500" dirty="0"/>
          </a:p>
        </p:txBody>
      </p:sp>
      <p:sp>
        <p:nvSpPr>
          <p:cNvPr id="16" name="Text 11">
            <a:hlinkClick r:id="rId6" tooltip=""/>
          </p:cNvPr>
          <p:cNvSpPr txBox="1"/>
          <p:nvPr/>
        </p:nvSpPr>
        <p:spPr>
          <a:xfrm>
            <a:off x="1554480" y="51937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F692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github.com/MinistryPlatform-Community/MPNext-Tools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to your first MPNext feature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E4DE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2651760"/>
            <a:ext cx="731520" cy="731520"/>
          </a:xfrm>
          <a:prstGeom prst="ellipse">
            <a:avLst/>
          </a:prstGeom>
          <a:solidFill>
            <a:srgbClr val="2D2926"/>
          </a:solidFill>
          <a:ln/>
        </p:spPr>
      </p:sp>
      <p:pic>
        <p:nvPicPr>
          <p:cNvPr id="8" name="Image 0" descr="icons/download-ins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978" y="2746858"/>
            <a:ext cx="541325" cy="5413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023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MPNext, run npm run setup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54680" y="210312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E4DE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8328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023360" y="2651760"/>
            <a:ext cx="731520" cy="731520"/>
          </a:xfrm>
          <a:prstGeom prst="ellipse">
            <a:avLst/>
          </a:prstGeom>
          <a:solidFill>
            <a:srgbClr val="2D2926"/>
          </a:solidFill>
          <a:ln/>
        </p:spPr>
      </p:sp>
      <p:pic>
        <p:nvPicPr>
          <p:cNvPr id="14" name="Image 1" descr="icons/gitbranch-re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458" y="2746858"/>
            <a:ext cx="541325" cy="5413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33756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3383280" y="4023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mp:generate:models against your MP instance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852160" y="210312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E4DED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08076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720840" y="2651760"/>
            <a:ext cx="731520" cy="731520"/>
          </a:xfrm>
          <a:prstGeom prst="ellipse">
            <a:avLst/>
          </a:prstGeom>
          <a:solidFill>
            <a:srgbClr val="2D2926"/>
          </a:solidFill>
          <a:ln/>
        </p:spPr>
      </p:sp>
      <p:pic>
        <p:nvPicPr>
          <p:cNvPr id="20" name="Image 2" descr="icons/file-con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938" y="2746858"/>
            <a:ext cx="541325" cy="54132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03504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context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6080760" y="4023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CLAUDE.md, point Claude Code at one real table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549640" y="210312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E4DED8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77824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418320" y="2651760"/>
            <a:ext cx="731520" cy="731520"/>
          </a:xfrm>
          <a:prstGeom prst="ellipse">
            <a:avLst/>
          </a:prstGeom>
          <a:solidFill>
            <a:srgbClr val="2D2926"/>
          </a:solidFill>
          <a:ln/>
        </p:spPr>
      </p:sp>
      <p:pic>
        <p:nvPicPr>
          <p:cNvPr id="26" name="Image 3" descr="icons/package-bui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418" y="2746858"/>
            <a:ext cx="541325" cy="54132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73252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small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778240" y="4023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feature, one service call, through MPHelper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/hero-closing-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F6921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411480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100" dirty="0"/>
          </a:p>
        </p:txBody>
      </p:sp>
      <p:pic>
        <p:nvPicPr>
          <p:cNvPr id="5" name="Image 1" descr="citn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148840"/>
            <a:ext cx="1737360" cy="1783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23317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MinistryPlatform.
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DC8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from scratch.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Kehayias · ACS Technologies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MinistryPlatform Community · MPNext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MinistryPlatform with MPNext   ·   MPNEXT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2026-10-06T14:16:36Z</dcterms:created>
  <dcterms:modified xsi:type="dcterms:W3CDTF">2026-10-06T14:16:36Z</dcterms:modified>
</cp:coreProperties>
</file>